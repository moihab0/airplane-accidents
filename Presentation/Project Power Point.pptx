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9" autoAdjust="0"/>
    <p:restoredTop sz="94610"/>
  </p:normalViewPr>
  <p:slideViewPr>
    <p:cSldViewPr snapToGrid="0" snapToObjects="1">
      <p:cViewPr>
        <p:scale>
          <a:sx n="90" d="100"/>
          <a:sy n="90" d="100"/>
        </p:scale>
        <p:origin x="3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2898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61525"/>
        </a:solidFill>
        <a:effectLst/>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16DFF7"/>
          </a:solidFill>
          <a:ln w="12700">
            <a:solidFill>
              <a:srgbClr val="16DFF7"/>
            </a:solidFill>
            <a:prstDash val="solid"/>
          </a:ln>
        </p:spPr>
      </p:sp>
      <p:sp>
        <p:nvSpPr>
          <p:cNvPr id="3" name="Shape 1"/>
          <p:cNvSpPr/>
          <p:nvPr/>
        </p:nvSpPr>
        <p:spPr>
          <a:xfrm>
            <a:off x="384048" y="6519672"/>
            <a:ext cx="11384280" cy="0"/>
          </a:xfrm>
          <a:prstGeom prst="line">
            <a:avLst/>
          </a:prstGeom>
          <a:noFill/>
          <a:ln w="10160">
            <a:solidFill>
              <a:srgbClr val="15334A"/>
            </a:solidFill>
            <a:prstDash val="solid"/>
          </a:ln>
        </p:spPr>
      </p:sp>
      <p:sp>
        <p:nvSpPr>
          <p:cNvPr id="4" name="Text 2"/>
          <p:cNvSpPr/>
          <p:nvPr/>
        </p:nvSpPr>
        <p:spPr>
          <a:xfrm>
            <a:off x="475488" y="6574536"/>
            <a:ext cx="4754880" cy="146304"/>
          </a:xfrm>
          <a:prstGeom prst="rect">
            <a:avLst/>
          </a:prstGeom>
          <a:noFill/>
          <a:ln/>
        </p:spPr>
        <p:txBody>
          <a:bodyPr wrap="square" lIns="0" tIns="0" rIns="0" bIns="0" rtlCol="0" anchor="ctr"/>
          <a:lstStyle/>
          <a:p>
            <a:pPr marL="0" indent="0">
              <a:buNone/>
            </a:pPr>
            <a:r>
              <a:rPr lang="en-US" sz="560" kern="0" spc="110" dirty="0">
                <a:solidFill>
                  <a:srgbClr val="557589"/>
                </a:solidFill>
                <a:latin typeface="Aptos" pitchFamily="34" charset="0"/>
                <a:ea typeface="Aptos" pitchFamily="34" charset="-122"/>
                <a:cs typeface="Aptos" pitchFamily="34" charset="-120"/>
              </a:rPr>
              <a:t>AVIATION ACCIDENTS &amp; INCIDENTS  •  NTSB  •  FAA</a:t>
            </a:r>
            <a:endParaRPr lang="en-US" sz="560" dirty="0"/>
          </a:p>
        </p:txBody>
      </p:sp>
      <p:sp>
        <p:nvSpPr>
          <p:cNvPr id="25"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slide" Target="slide1.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slide" Target="slide4.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slide" Target="slide3.xml"/><Relationship Id="rId4" Type="http://schemas.openxmlformats.org/officeDocument/2006/relationships/image" Target="../media/image2.gif"/></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6.xml"/><Relationship Id="rId5" Type="http://schemas.openxmlformats.org/officeDocument/2006/relationships/slide" Target="slide4.xml"/><Relationship Id="rId4" Type="http://schemas.openxmlformats.org/officeDocument/2006/relationships/image" Target="../media/image2.gif"/></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image" Target="../media/image2.gif"/></Relationships>
</file>

<file path=ppt/slides/_rels/slide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slide" Target="slide8.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slide" Target="slide9.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slide" Target="slide10.xml"/><Relationship Id="rId4" Type="http://schemas.openxmlformats.org/officeDocument/2006/relationships/slide" Target="slide8.xml"/></Relationships>
</file>

<file path=ppt/slides/_rels/slide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slide" Target="slide11.xml"/><Relationship Id="rId4" Type="http://schemas.openxmlformats.org/officeDocument/2006/relationships/slide" Target="slide9.xml"/></Relationships>
</file>

<file path=ppt/slides/_rels/slide1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slide" Target="slide12.xml"/><Relationship Id="rId4" Type="http://schemas.openxmlformats.org/officeDocument/2006/relationships/slide" Target="slide10.xml"/></Relationships>
</file>

<file path=ppt/slides/_rels/slide1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1.xml"/></Relationships>
</file>

<file path=ppt/slides/_rels/slide1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slide" Target="slide14.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slide" Target="slide15.xml"/><Relationship Id="rId5" Type="http://schemas.openxmlformats.org/officeDocument/2006/relationships/slide" Target="slide14.xml"/><Relationship Id="rId4" Type="http://schemas.openxmlformats.org/officeDocument/2006/relationships/slide" Target="slide1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slide" Target="slide16.xml"/><Relationship Id="rId4" Type="http://schemas.openxmlformats.org/officeDocument/2006/relationships/slide" Target="slide14.xml"/></Relationships>
</file>

<file path=ppt/slides/_rels/slide1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slide" Target="slide17.xml"/><Relationship Id="rId5" Type="http://schemas.openxmlformats.org/officeDocument/2006/relationships/slide" Target="slide14.xml"/><Relationship Id="rId4" Type="http://schemas.openxmlformats.org/officeDocument/2006/relationships/slide" Target="slide15.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slide" Target="slide14.xml"/><Relationship Id="rId4" Type="http://schemas.openxmlformats.org/officeDocument/2006/relationships/slide" Target="slide16.xml"/></Relationships>
</file>

<file path=ppt/slides/_rels/slide1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slide" Target="slide19.xml"/><Relationship Id="rId5" Type="http://schemas.openxmlformats.org/officeDocument/2006/relationships/slide" Target="slide14.xml"/><Relationship Id="rId4" Type="http://schemas.openxmlformats.org/officeDocument/2006/relationships/slide" Target="slide1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slide" Target="slide20.xml"/><Relationship Id="rId5" Type="http://schemas.openxmlformats.org/officeDocument/2006/relationships/slide" Target="slide14.xml"/><Relationship Id="rId4" Type="http://schemas.openxmlformats.org/officeDocument/2006/relationships/slide" Target="slide18.xml"/></Relationships>
</file>

<file path=ppt/slides/_rels/slide2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slide" Target="slide14.xml"/><Relationship Id="rId4" Type="http://schemas.openxmlformats.org/officeDocument/2006/relationships/slide" Target="slide19.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slide" Target="slide22.xml"/><Relationship Id="rId5" Type="http://schemas.openxmlformats.org/officeDocument/2006/relationships/slide" Target="slide14.xml"/><Relationship Id="rId4" Type="http://schemas.openxmlformats.org/officeDocument/2006/relationships/slide" Target="slide20.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slide" Target="slide21.xml"/><Relationship Id="rId4" Type="http://schemas.openxmlformats.org/officeDocument/2006/relationships/image" Target="../media/image2.gif"/></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525"/>
        </a:solidFill>
        <a:effectLst/>
      </p:bgPr>
    </p:bg>
    <p:spTree>
      <p:nvGrpSpPr>
        <p:cNvPr id="1" name=""/>
        <p:cNvGrpSpPr/>
        <p:nvPr/>
      </p:nvGrpSpPr>
      <p:grpSpPr>
        <a:xfrm>
          <a:off x="0" y="0"/>
          <a:ext cx="0" cy="0"/>
          <a:chOff x="0" y="0"/>
          <a:chExt cx="0" cy="0"/>
        </a:xfrm>
      </p:grpSpPr>
      <p:pic>
        <p:nvPicPr>
          <p:cNvPr id="2" name="Image 0" descr="/mnt/data/a_dramatic_high_tech_aviation_air_traffic_control.png"/>
          <p:cNvPicPr>
            <a:picLocks noChangeAspect="1"/>
          </p:cNvPicPr>
          <p:nvPr/>
        </p:nvPicPr>
        <p:blipFill>
          <a:blip r:embed="rId3"/>
          <a:srcRect l="24937" r="24937"/>
          <a:stretch/>
        </p:blipFill>
        <p:spPr>
          <a:xfrm>
            <a:off x="6080760" y="0"/>
            <a:ext cx="6108192" cy="6858000"/>
          </a:xfrm>
          <a:prstGeom prst="rect">
            <a:avLst/>
          </a:prstGeom>
        </p:spPr>
      </p:pic>
      <p:sp>
        <p:nvSpPr>
          <p:cNvPr id="3" name="Shape 0"/>
          <p:cNvSpPr/>
          <p:nvPr/>
        </p:nvSpPr>
        <p:spPr>
          <a:xfrm>
            <a:off x="0" y="0"/>
            <a:ext cx="6858000" cy="6858000"/>
          </a:xfrm>
          <a:prstGeom prst="rect">
            <a:avLst/>
          </a:prstGeom>
          <a:solidFill>
            <a:srgbClr val="061525"/>
          </a:solidFill>
          <a:ln w="12700">
            <a:solidFill>
              <a:srgbClr val="333333">
                <a:alpha val="0"/>
              </a:srgbClr>
            </a:solidFill>
            <a:prstDash val="solid"/>
          </a:ln>
        </p:spPr>
      </p:sp>
      <p:sp>
        <p:nvSpPr>
          <p:cNvPr id="4" name="Shape 1"/>
          <p:cNvSpPr/>
          <p:nvPr/>
        </p:nvSpPr>
        <p:spPr>
          <a:xfrm>
            <a:off x="5577840" y="0"/>
            <a:ext cx="1645920" cy="6858000"/>
          </a:xfrm>
          <a:prstGeom prst="rect">
            <a:avLst/>
          </a:prstGeom>
          <a:solidFill>
            <a:srgbClr val="061525">
              <a:alpha val="85000"/>
            </a:srgbClr>
          </a:solidFill>
          <a:ln w="12700">
            <a:solidFill>
              <a:srgbClr val="333333">
                <a:alpha val="0"/>
              </a:srgbClr>
            </a:solidFill>
            <a:prstDash val="solid"/>
          </a:ln>
        </p:spPr>
      </p:sp>
      <p:sp>
        <p:nvSpPr>
          <p:cNvPr id="5" name="Shape 2"/>
          <p:cNvSpPr/>
          <p:nvPr/>
        </p:nvSpPr>
        <p:spPr>
          <a:xfrm>
            <a:off x="4480560" y="548640"/>
            <a:ext cx="3474720" cy="4937760"/>
          </a:xfrm>
          <a:prstGeom prst="ellipse">
            <a:avLst/>
          </a:prstGeom>
          <a:solidFill>
            <a:srgbClr val="16DFF7">
              <a:alpha val="8000"/>
            </a:srgbClr>
          </a:solidFill>
          <a:ln w="12700">
            <a:solidFill>
              <a:srgbClr val="16DFF7">
                <a:alpha val="0"/>
              </a:srgbClr>
            </a:solidFill>
            <a:prstDash val="solid"/>
          </a:ln>
        </p:spPr>
      </p:sp>
      <p:sp>
        <p:nvSpPr>
          <p:cNvPr id="6" name="Shape 3"/>
          <p:cNvSpPr/>
          <p:nvPr/>
        </p:nvSpPr>
        <p:spPr>
          <a:xfrm>
            <a:off x="658368" y="603504"/>
            <a:ext cx="1371600" cy="256032"/>
          </a:xfrm>
          <a:prstGeom prst="roundRect">
            <a:avLst>
              <a:gd name="adj" fmla="val 17857"/>
            </a:avLst>
          </a:prstGeom>
          <a:solidFill>
            <a:srgbClr val="09273D"/>
          </a:solidFill>
          <a:ln w="10160">
            <a:solidFill>
              <a:srgbClr val="16DFF7">
                <a:alpha val="65000"/>
              </a:srgbClr>
            </a:solidFill>
            <a:prstDash val="solid"/>
          </a:ln>
        </p:spPr>
      </p:sp>
      <p:sp>
        <p:nvSpPr>
          <p:cNvPr id="7" name="Text 4"/>
          <p:cNvSpPr/>
          <p:nvPr/>
        </p:nvSpPr>
        <p:spPr>
          <a:xfrm>
            <a:off x="731520" y="653796"/>
            <a:ext cx="122529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16DFF7"/>
                </a:solidFill>
                <a:latin typeface="Aptos" pitchFamily="34" charset="0"/>
                <a:ea typeface="Aptos" pitchFamily="34" charset="-122"/>
                <a:cs typeface="Aptos" pitchFamily="34" charset="-120"/>
              </a:rPr>
              <a:t>NTSB • FAA</a:t>
            </a:r>
            <a:endParaRPr lang="en-US" sz="560" dirty="0"/>
          </a:p>
        </p:txBody>
      </p:sp>
      <p:sp>
        <p:nvSpPr>
          <p:cNvPr id="8" name="Text 5"/>
          <p:cNvSpPr/>
          <p:nvPr/>
        </p:nvSpPr>
        <p:spPr>
          <a:xfrm>
            <a:off x="658368" y="1143000"/>
            <a:ext cx="5074920" cy="1207008"/>
          </a:xfrm>
          <a:prstGeom prst="rect">
            <a:avLst/>
          </a:prstGeom>
          <a:noFill/>
          <a:ln/>
        </p:spPr>
        <p:txBody>
          <a:bodyPr wrap="square" lIns="0" tIns="0" rIns="0" bIns="0" rtlCol="0" anchor="ctr">
            <a:normAutofit/>
          </a:bodyPr>
          <a:lstStyle/>
          <a:p>
            <a:pPr marL="0" indent="0">
              <a:buNone/>
            </a:pPr>
            <a:r>
              <a:rPr lang="en-US" sz="2850" b="1" dirty="0">
                <a:solidFill>
                  <a:srgbClr val="F5FAFE"/>
                </a:solidFill>
                <a:latin typeface="Aptos Display" pitchFamily="34" charset="0"/>
                <a:ea typeface="Aptos Display" pitchFamily="34" charset="-122"/>
                <a:cs typeface="Aptos Display" pitchFamily="34" charset="-120"/>
              </a:rPr>
              <a:t>Aviation Accidents &amp; incidents</a:t>
            </a:r>
            <a:endParaRPr lang="en-US" sz="2850" dirty="0"/>
          </a:p>
          <a:p>
            <a:pPr marL="0" indent="0">
              <a:buNone/>
            </a:pPr>
            <a:r>
              <a:rPr lang="en-US" sz="2850" b="1" dirty="0">
                <a:solidFill>
                  <a:srgbClr val="F5FAFE"/>
                </a:solidFill>
                <a:latin typeface="Aptos Display" pitchFamily="34" charset="0"/>
                <a:ea typeface="Aptos Display" pitchFamily="34" charset="-122"/>
                <a:cs typeface="Aptos Display" pitchFamily="34" charset="-120"/>
              </a:rPr>
              <a:t>NTSB , FAA</a:t>
            </a:r>
            <a:endParaRPr lang="en-US" sz="2850" dirty="0"/>
          </a:p>
        </p:txBody>
      </p:sp>
      <p:sp>
        <p:nvSpPr>
          <p:cNvPr id="9" name="Shape 6"/>
          <p:cNvSpPr/>
          <p:nvPr/>
        </p:nvSpPr>
        <p:spPr>
          <a:xfrm>
            <a:off x="676656" y="2578608"/>
            <a:ext cx="3566160" cy="0"/>
          </a:xfrm>
          <a:prstGeom prst="line">
            <a:avLst/>
          </a:prstGeom>
          <a:noFill/>
          <a:ln w="16510">
            <a:solidFill>
              <a:srgbClr val="16DFF7"/>
            </a:solidFill>
            <a:prstDash val="solid"/>
          </a:ln>
        </p:spPr>
      </p:sp>
      <p:sp>
        <p:nvSpPr>
          <p:cNvPr id="10" name="Text 7"/>
          <p:cNvSpPr/>
          <p:nvPr/>
        </p:nvSpPr>
        <p:spPr>
          <a:xfrm>
            <a:off x="713232" y="2871216"/>
            <a:ext cx="4251960" cy="1828800"/>
          </a:xfrm>
          <a:prstGeom prst="rect">
            <a:avLst/>
          </a:prstGeom>
          <a:noFill/>
          <a:ln/>
        </p:spPr>
        <p:txBody>
          <a:bodyPr wrap="square" lIns="254" tIns="254" rIns="254" bIns="254" rtlCol="0" anchor="ctr">
            <a:normAutofit/>
          </a:bodyPr>
          <a:lstStyle/>
          <a:p>
            <a:pPr marL="0" indent="0">
              <a:buNone/>
            </a:pPr>
            <a:r>
              <a:rPr lang="en-US" sz="1250" dirty="0">
                <a:solidFill>
                  <a:srgbClr val="DDEAF2"/>
                </a:solidFill>
                <a:latin typeface="Aptos" pitchFamily="34" charset="0"/>
                <a:ea typeface="Aptos" pitchFamily="34" charset="-122"/>
                <a:cs typeface="Aptos" pitchFamily="34" charset="-120"/>
              </a:rPr>
              <a:t>Dr : Dina Mohsen</a:t>
            </a:r>
            <a:endParaRPr lang="en-US" sz="1250" dirty="0"/>
          </a:p>
          <a:p>
            <a:pPr marL="0" indent="0">
              <a:buNone/>
            </a:pPr>
            <a:r>
              <a:rPr lang="en-US" sz="1250" dirty="0">
                <a:solidFill>
                  <a:srgbClr val="DDEAF2"/>
                </a:solidFill>
                <a:latin typeface="Aptos" pitchFamily="34" charset="0"/>
                <a:ea typeface="Aptos" pitchFamily="34" charset="-122"/>
                <a:cs typeface="Aptos" pitchFamily="34" charset="-120"/>
              </a:rPr>
              <a:t>Abdelshakour Adel </a:t>
            </a:r>
            <a:endParaRPr lang="en-US" sz="1250" dirty="0"/>
          </a:p>
          <a:p>
            <a:pPr marL="0" indent="0">
              <a:buNone/>
            </a:pPr>
            <a:r>
              <a:rPr lang="en-US" sz="1250" dirty="0">
                <a:solidFill>
                  <a:srgbClr val="DDEAF2"/>
                </a:solidFill>
                <a:latin typeface="Aptos" pitchFamily="34" charset="0"/>
                <a:ea typeface="Aptos" pitchFamily="34" charset="-122"/>
                <a:cs typeface="Aptos" pitchFamily="34" charset="-120"/>
              </a:rPr>
              <a:t>Osama Ahmed Abdelnazir</a:t>
            </a:r>
            <a:endParaRPr lang="en-US" sz="1250" dirty="0"/>
          </a:p>
          <a:p>
            <a:pPr marL="0" indent="0">
              <a:buNone/>
            </a:pPr>
            <a:r>
              <a:rPr lang="en-US" sz="1250" dirty="0">
                <a:solidFill>
                  <a:srgbClr val="DDEAF2"/>
                </a:solidFill>
                <a:latin typeface="Aptos" pitchFamily="34" charset="0"/>
                <a:ea typeface="Aptos" pitchFamily="34" charset="-122"/>
                <a:cs typeface="Aptos" pitchFamily="34" charset="-120"/>
              </a:rPr>
              <a:t>Mohammed Ihab </a:t>
            </a:r>
            <a:endParaRPr lang="en-US" sz="1250" dirty="0"/>
          </a:p>
          <a:p>
            <a:pPr marL="0" indent="0">
              <a:buNone/>
            </a:pPr>
            <a:r>
              <a:rPr lang="en-US" sz="1250" dirty="0">
                <a:solidFill>
                  <a:srgbClr val="DDEAF2"/>
                </a:solidFill>
                <a:latin typeface="Aptos" pitchFamily="34" charset="0"/>
                <a:ea typeface="Aptos" pitchFamily="34" charset="-122"/>
                <a:cs typeface="Aptos" pitchFamily="34" charset="-120"/>
              </a:rPr>
              <a:t>Basmala Mahmoud </a:t>
            </a:r>
            <a:endParaRPr lang="en-US" sz="1250" dirty="0"/>
          </a:p>
          <a:p>
            <a:pPr marL="0" indent="0">
              <a:buNone/>
            </a:pPr>
            <a:r>
              <a:rPr lang="en-US" sz="1250" dirty="0">
                <a:solidFill>
                  <a:srgbClr val="DDEAF2"/>
                </a:solidFill>
                <a:latin typeface="Aptos" pitchFamily="34" charset="0"/>
                <a:ea typeface="Aptos" pitchFamily="34" charset="-122"/>
                <a:cs typeface="Aptos" pitchFamily="34" charset="-120"/>
              </a:rPr>
              <a:t>Kirollos Godallah </a:t>
            </a:r>
            <a:endParaRPr lang="en-US" sz="1250" dirty="0"/>
          </a:p>
        </p:txBody>
      </p:sp>
      <p:sp>
        <p:nvSpPr>
          <p:cNvPr id="11" name="Shape 8"/>
          <p:cNvSpPr/>
          <p:nvPr/>
        </p:nvSpPr>
        <p:spPr>
          <a:xfrm>
            <a:off x="658368" y="5138928"/>
            <a:ext cx="4315968" cy="502920"/>
          </a:xfrm>
          <a:prstGeom prst="roundRect">
            <a:avLst>
              <a:gd name="adj" fmla="val 10909"/>
            </a:avLst>
          </a:prstGeom>
          <a:solidFill>
            <a:srgbClr val="062940">
              <a:alpha val="88000"/>
            </a:srgbClr>
          </a:solidFill>
          <a:ln w="10160">
            <a:solidFill>
              <a:srgbClr val="0F6F8C">
                <a:alpha val="75000"/>
              </a:srgbClr>
            </a:solidFill>
            <a:prstDash val="solid"/>
          </a:ln>
        </p:spPr>
      </p:sp>
      <p:sp>
        <p:nvSpPr>
          <p:cNvPr id="12" name="Text 9"/>
          <p:cNvSpPr/>
          <p:nvPr/>
        </p:nvSpPr>
        <p:spPr>
          <a:xfrm>
            <a:off x="859536" y="5321808"/>
            <a:ext cx="3931920" cy="100584"/>
          </a:xfrm>
          <a:prstGeom prst="rect">
            <a:avLst/>
          </a:prstGeom>
          <a:noFill/>
          <a:ln/>
        </p:spPr>
        <p:txBody>
          <a:bodyPr wrap="square" lIns="0" tIns="0" rIns="0" bIns="0" rtlCol="0" anchor="ctr"/>
          <a:lstStyle/>
          <a:p>
            <a:pPr marL="0" indent="0" algn="ctr">
              <a:buNone/>
            </a:pPr>
            <a:r>
              <a:rPr lang="en-US" sz="580" b="1" kern="0" spc="115" dirty="0">
                <a:solidFill>
                  <a:srgbClr val="16DFF7"/>
                </a:solidFill>
              </a:rPr>
              <a:t>AVIATION SAFETY • INVESTIGATION • DATA ANALYSIS</a:t>
            </a:r>
            <a:endParaRPr lang="en-US" sz="580" dirty="0"/>
          </a:p>
        </p:txBody>
      </p:sp>
      <p:pic>
        <p:nvPicPr>
          <p:cNvPr id="13" name="Image 1" descr="/mnt/data/radar_sweep.gif"/>
          <p:cNvPicPr>
            <a:picLocks noChangeAspect="1"/>
          </p:cNvPicPr>
          <p:nvPr/>
        </p:nvPicPr>
        <p:blipFill>
          <a:blip r:embed="rId4"/>
          <a:stretch>
            <a:fillRect/>
          </a:stretch>
        </p:blipFill>
        <p:spPr>
          <a:xfrm>
            <a:off x="5047488" y="5148072"/>
            <a:ext cx="502920" cy="502920"/>
          </a:xfrm>
          <a:prstGeom prst="rect">
            <a:avLst/>
          </a:prstGeom>
        </p:spPr>
      </p:pic>
      <p:sp>
        <p:nvSpPr>
          <p:cNvPr id="14" name="Shape 10">
            <a:hlinkClick r:id="rId5"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15" name="Text 11">
            <a:hlinkClick r:id="rId5"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25"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1</a:t>
            </a:fld>
            <a:endParaRPr lang="en-US"/>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12000"/>
              </a:srgbClr>
            </a:solidFill>
            <a:prstDash val="solid"/>
          </a:ln>
        </p:spPr>
      </p:sp>
      <p:sp>
        <p:nvSpPr>
          <p:cNvPr id="3" name="Shape 1"/>
          <p:cNvSpPr/>
          <p:nvPr/>
        </p:nvSpPr>
        <p:spPr>
          <a:xfrm>
            <a:off x="1051560" y="502920"/>
            <a:ext cx="0" cy="5715000"/>
          </a:xfrm>
          <a:prstGeom prst="line">
            <a:avLst/>
          </a:prstGeom>
          <a:noFill/>
          <a:ln w="5080">
            <a:solidFill>
              <a:srgbClr val="0B304B">
                <a:alpha val="12000"/>
              </a:srgbClr>
            </a:solidFill>
            <a:prstDash val="solid"/>
          </a:ln>
        </p:spPr>
      </p:sp>
      <p:sp>
        <p:nvSpPr>
          <p:cNvPr id="4" name="Shape 2"/>
          <p:cNvSpPr/>
          <p:nvPr/>
        </p:nvSpPr>
        <p:spPr>
          <a:xfrm>
            <a:off x="1554480" y="502920"/>
            <a:ext cx="0" cy="5715000"/>
          </a:xfrm>
          <a:prstGeom prst="line">
            <a:avLst/>
          </a:prstGeom>
          <a:noFill/>
          <a:ln w="5080">
            <a:solidFill>
              <a:srgbClr val="0B304B">
                <a:alpha val="12000"/>
              </a:srgbClr>
            </a:solidFill>
            <a:prstDash val="solid"/>
          </a:ln>
        </p:spPr>
      </p:sp>
      <p:sp>
        <p:nvSpPr>
          <p:cNvPr id="5" name="Shape 3"/>
          <p:cNvSpPr/>
          <p:nvPr/>
        </p:nvSpPr>
        <p:spPr>
          <a:xfrm>
            <a:off x="2057400" y="502920"/>
            <a:ext cx="0" cy="5715000"/>
          </a:xfrm>
          <a:prstGeom prst="line">
            <a:avLst/>
          </a:prstGeom>
          <a:noFill/>
          <a:ln w="5080">
            <a:solidFill>
              <a:srgbClr val="0B304B">
                <a:alpha val="12000"/>
              </a:srgbClr>
            </a:solidFill>
            <a:prstDash val="solid"/>
          </a:ln>
        </p:spPr>
      </p:sp>
      <p:sp>
        <p:nvSpPr>
          <p:cNvPr id="6" name="Shape 4"/>
          <p:cNvSpPr/>
          <p:nvPr/>
        </p:nvSpPr>
        <p:spPr>
          <a:xfrm>
            <a:off x="2560320" y="502920"/>
            <a:ext cx="0" cy="5715000"/>
          </a:xfrm>
          <a:prstGeom prst="line">
            <a:avLst/>
          </a:prstGeom>
          <a:noFill/>
          <a:ln w="5080">
            <a:solidFill>
              <a:srgbClr val="0B304B">
                <a:alpha val="12000"/>
              </a:srgbClr>
            </a:solidFill>
            <a:prstDash val="solid"/>
          </a:ln>
        </p:spPr>
      </p:sp>
      <p:sp>
        <p:nvSpPr>
          <p:cNvPr id="7" name="Shape 5"/>
          <p:cNvSpPr/>
          <p:nvPr/>
        </p:nvSpPr>
        <p:spPr>
          <a:xfrm>
            <a:off x="3063240" y="502920"/>
            <a:ext cx="0" cy="5715000"/>
          </a:xfrm>
          <a:prstGeom prst="line">
            <a:avLst/>
          </a:prstGeom>
          <a:noFill/>
          <a:ln w="5080">
            <a:solidFill>
              <a:srgbClr val="0B304B">
                <a:alpha val="12000"/>
              </a:srgbClr>
            </a:solidFill>
            <a:prstDash val="solid"/>
          </a:ln>
        </p:spPr>
      </p:sp>
      <p:sp>
        <p:nvSpPr>
          <p:cNvPr id="8" name="Shape 6"/>
          <p:cNvSpPr/>
          <p:nvPr/>
        </p:nvSpPr>
        <p:spPr>
          <a:xfrm>
            <a:off x="3566160" y="502920"/>
            <a:ext cx="0" cy="5715000"/>
          </a:xfrm>
          <a:prstGeom prst="line">
            <a:avLst/>
          </a:prstGeom>
          <a:noFill/>
          <a:ln w="5080">
            <a:solidFill>
              <a:srgbClr val="0B304B">
                <a:alpha val="12000"/>
              </a:srgbClr>
            </a:solidFill>
            <a:prstDash val="solid"/>
          </a:ln>
        </p:spPr>
      </p:sp>
      <p:sp>
        <p:nvSpPr>
          <p:cNvPr id="9" name="Shape 7"/>
          <p:cNvSpPr/>
          <p:nvPr/>
        </p:nvSpPr>
        <p:spPr>
          <a:xfrm>
            <a:off x="4069080" y="502920"/>
            <a:ext cx="0" cy="5715000"/>
          </a:xfrm>
          <a:prstGeom prst="line">
            <a:avLst/>
          </a:prstGeom>
          <a:noFill/>
          <a:ln w="5080">
            <a:solidFill>
              <a:srgbClr val="0B304B">
                <a:alpha val="12000"/>
              </a:srgbClr>
            </a:solidFill>
            <a:prstDash val="solid"/>
          </a:ln>
        </p:spPr>
      </p:sp>
      <p:sp>
        <p:nvSpPr>
          <p:cNvPr id="10" name="Shape 8"/>
          <p:cNvSpPr/>
          <p:nvPr/>
        </p:nvSpPr>
        <p:spPr>
          <a:xfrm>
            <a:off x="4572000" y="502920"/>
            <a:ext cx="0" cy="5715000"/>
          </a:xfrm>
          <a:prstGeom prst="line">
            <a:avLst/>
          </a:prstGeom>
          <a:noFill/>
          <a:ln w="5080">
            <a:solidFill>
              <a:srgbClr val="0B304B">
                <a:alpha val="12000"/>
              </a:srgbClr>
            </a:solidFill>
            <a:prstDash val="solid"/>
          </a:ln>
        </p:spPr>
      </p:sp>
      <p:sp>
        <p:nvSpPr>
          <p:cNvPr id="11" name="Shape 9"/>
          <p:cNvSpPr/>
          <p:nvPr/>
        </p:nvSpPr>
        <p:spPr>
          <a:xfrm>
            <a:off x="5074920" y="502920"/>
            <a:ext cx="0" cy="5715000"/>
          </a:xfrm>
          <a:prstGeom prst="line">
            <a:avLst/>
          </a:prstGeom>
          <a:noFill/>
          <a:ln w="5080">
            <a:solidFill>
              <a:srgbClr val="0B304B">
                <a:alpha val="12000"/>
              </a:srgbClr>
            </a:solidFill>
            <a:prstDash val="solid"/>
          </a:ln>
        </p:spPr>
      </p:sp>
      <p:sp>
        <p:nvSpPr>
          <p:cNvPr id="12" name="Shape 10"/>
          <p:cNvSpPr/>
          <p:nvPr/>
        </p:nvSpPr>
        <p:spPr>
          <a:xfrm>
            <a:off x="5577840" y="502920"/>
            <a:ext cx="0" cy="5715000"/>
          </a:xfrm>
          <a:prstGeom prst="line">
            <a:avLst/>
          </a:prstGeom>
          <a:noFill/>
          <a:ln w="5080">
            <a:solidFill>
              <a:srgbClr val="0B304B">
                <a:alpha val="12000"/>
              </a:srgbClr>
            </a:solidFill>
            <a:prstDash val="solid"/>
          </a:ln>
        </p:spPr>
      </p:sp>
      <p:sp>
        <p:nvSpPr>
          <p:cNvPr id="13" name="Shape 11"/>
          <p:cNvSpPr/>
          <p:nvPr/>
        </p:nvSpPr>
        <p:spPr>
          <a:xfrm>
            <a:off x="6080760" y="502920"/>
            <a:ext cx="0" cy="5715000"/>
          </a:xfrm>
          <a:prstGeom prst="line">
            <a:avLst/>
          </a:prstGeom>
          <a:noFill/>
          <a:ln w="5080">
            <a:solidFill>
              <a:srgbClr val="0B304B">
                <a:alpha val="12000"/>
              </a:srgbClr>
            </a:solidFill>
            <a:prstDash val="solid"/>
          </a:ln>
        </p:spPr>
      </p:sp>
      <p:sp>
        <p:nvSpPr>
          <p:cNvPr id="14" name="Shape 12"/>
          <p:cNvSpPr/>
          <p:nvPr/>
        </p:nvSpPr>
        <p:spPr>
          <a:xfrm>
            <a:off x="6583680" y="502920"/>
            <a:ext cx="0" cy="5715000"/>
          </a:xfrm>
          <a:prstGeom prst="line">
            <a:avLst/>
          </a:prstGeom>
          <a:noFill/>
          <a:ln w="5080">
            <a:solidFill>
              <a:srgbClr val="0B304B">
                <a:alpha val="12000"/>
              </a:srgbClr>
            </a:solidFill>
            <a:prstDash val="solid"/>
          </a:ln>
        </p:spPr>
      </p:sp>
      <p:sp>
        <p:nvSpPr>
          <p:cNvPr id="15" name="Shape 13"/>
          <p:cNvSpPr/>
          <p:nvPr/>
        </p:nvSpPr>
        <p:spPr>
          <a:xfrm>
            <a:off x="7086600" y="502920"/>
            <a:ext cx="0" cy="5715000"/>
          </a:xfrm>
          <a:prstGeom prst="line">
            <a:avLst/>
          </a:prstGeom>
          <a:noFill/>
          <a:ln w="5080">
            <a:solidFill>
              <a:srgbClr val="0B304B">
                <a:alpha val="12000"/>
              </a:srgbClr>
            </a:solidFill>
            <a:prstDash val="solid"/>
          </a:ln>
        </p:spPr>
      </p:sp>
      <p:sp>
        <p:nvSpPr>
          <p:cNvPr id="16" name="Shape 14"/>
          <p:cNvSpPr/>
          <p:nvPr/>
        </p:nvSpPr>
        <p:spPr>
          <a:xfrm>
            <a:off x="7589520" y="502920"/>
            <a:ext cx="0" cy="5715000"/>
          </a:xfrm>
          <a:prstGeom prst="line">
            <a:avLst/>
          </a:prstGeom>
          <a:noFill/>
          <a:ln w="5080">
            <a:solidFill>
              <a:srgbClr val="0B304B">
                <a:alpha val="12000"/>
              </a:srgbClr>
            </a:solidFill>
            <a:prstDash val="solid"/>
          </a:ln>
        </p:spPr>
      </p:sp>
      <p:sp>
        <p:nvSpPr>
          <p:cNvPr id="17" name="Shape 15"/>
          <p:cNvSpPr/>
          <p:nvPr/>
        </p:nvSpPr>
        <p:spPr>
          <a:xfrm>
            <a:off x="8092440" y="502920"/>
            <a:ext cx="0" cy="5715000"/>
          </a:xfrm>
          <a:prstGeom prst="line">
            <a:avLst/>
          </a:prstGeom>
          <a:noFill/>
          <a:ln w="5080">
            <a:solidFill>
              <a:srgbClr val="0B304B">
                <a:alpha val="12000"/>
              </a:srgbClr>
            </a:solidFill>
            <a:prstDash val="solid"/>
          </a:ln>
        </p:spPr>
      </p:sp>
      <p:sp>
        <p:nvSpPr>
          <p:cNvPr id="18" name="Shape 16"/>
          <p:cNvSpPr/>
          <p:nvPr/>
        </p:nvSpPr>
        <p:spPr>
          <a:xfrm>
            <a:off x="8595360" y="502920"/>
            <a:ext cx="0" cy="5715000"/>
          </a:xfrm>
          <a:prstGeom prst="line">
            <a:avLst/>
          </a:prstGeom>
          <a:noFill/>
          <a:ln w="5080">
            <a:solidFill>
              <a:srgbClr val="0B304B">
                <a:alpha val="12000"/>
              </a:srgbClr>
            </a:solidFill>
            <a:prstDash val="solid"/>
          </a:ln>
        </p:spPr>
      </p:sp>
      <p:sp>
        <p:nvSpPr>
          <p:cNvPr id="19" name="Shape 17"/>
          <p:cNvSpPr/>
          <p:nvPr/>
        </p:nvSpPr>
        <p:spPr>
          <a:xfrm>
            <a:off x="9098280" y="502920"/>
            <a:ext cx="0" cy="5715000"/>
          </a:xfrm>
          <a:prstGeom prst="line">
            <a:avLst/>
          </a:prstGeom>
          <a:noFill/>
          <a:ln w="5080">
            <a:solidFill>
              <a:srgbClr val="0B304B">
                <a:alpha val="12000"/>
              </a:srgbClr>
            </a:solidFill>
            <a:prstDash val="solid"/>
          </a:ln>
        </p:spPr>
      </p:sp>
      <p:sp>
        <p:nvSpPr>
          <p:cNvPr id="20" name="Shape 18"/>
          <p:cNvSpPr/>
          <p:nvPr/>
        </p:nvSpPr>
        <p:spPr>
          <a:xfrm>
            <a:off x="9601200" y="502920"/>
            <a:ext cx="0" cy="5715000"/>
          </a:xfrm>
          <a:prstGeom prst="line">
            <a:avLst/>
          </a:prstGeom>
          <a:noFill/>
          <a:ln w="5080">
            <a:solidFill>
              <a:srgbClr val="0B304B">
                <a:alpha val="12000"/>
              </a:srgbClr>
            </a:solidFill>
            <a:prstDash val="solid"/>
          </a:ln>
        </p:spPr>
      </p:sp>
      <p:sp>
        <p:nvSpPr>
          <p:cNvPr id="21" name="Shape 19"/>
          <p:cNvSpPr/>
          <p:nvPr/>
        </p:nvSpPr>
        <p:spPr>
          <a:xfrm>
            <a:off x="10104120" y="502920"/>
            <a:ext cx="0" cy="5715000"/>
          </a:xfrm>
          <a:prstGeom prst="line">
            <a:avLst/>
          </a:prstGeom>
          <a:noFill/>
          <a:ln w="5080">
            <a:solidFill>
              <a:srgbClr val="0B304B">
                <a:alpha val="12000"/>
              </a:srgbClr>
            </a:solidFill>
            <a:prstDash val="solid"/>
          </a:ln>
        </p:spPr>
      </p:sp>
      <p:sp>
        <p:nvSpPr>
          <p:cNvPr id="22" name="Shape 20"/>
          <p:cNvSpPr/>
          <p:nvPr/>
        </p:nvSpPr>
        <p:spPr>
          <a:xfrm>
            <a:off x="10607040" y="502920"/>
            <a:ext cx="0" cy="5715000"/>
          </a:xfrm>
          <a:prstGeom prst="line">
            <a:avLst/>
          </a:prstGeom>
          <a:noFill/>
          <a:ln w="5080">
            <a:solidFill>
              <a:srgbClr val="0B304B">
                <a:alpha val="12000"/>
              </a:srgbClr>
            </a:solidFill>
            <a:prstDash val="solid"/>
          </a:ln>
        </p:spPr>
      </p:sp>
      <p:sp>
        <p:nvSpPr>
          <p:cNvPr id="23" name="Shape 21"/>
          <p:cNvSpPr/>
          <p:nvPr/>
        </p:nvSpPr>
        <p:spPr>
          <a:xfrm>
            <a:off x="11109960" y="502920"/>
            <a:ext cx="0" cy="5715000"/>
          </a:xfrm>
          <a:prstGeom prst="line">
            <a:avLst/>
          </a:prstGeom>
          <a:noFill/>
          <a:ln w="5080">
            <a:solidFill>
              <a:srgbClr val="0B304B">
                <a:alpha val="12000"/>
              </a:srgbClr>
            </a:solidFill>
            <a:prstDash val="solid"/>
          </a:ln>
        </p:spPr>
      </p:sp>
      <p:sp>
        <p:nvSpPr>
          <p:cNvPr id="24" name="Shape 22"/>
          <p:cNvSpPr/>
          <p:nvPr/>
        </p:nvSpPr>
        <p:spPr>
          <a:xfrm>
            <a:off x="11612880" y="502920"/>
            <a:ext cx="0" cy="5715000"/>
          </a:xfrm>
          <a:prstGeom prst="line">
            <a:avLst/>
          </a:prstGeom>
          <a:noFill/>
          <a:ln w="5080">
            <a:solidFill>
              <a:srgbClr val="0B304B">
                <a:alpha val="12000"/>
              </a:srgbClr>
            </a:solidFill>
            <a:prstDash val="solid"/>
          </a:ln>
        </p:spPr>
      </p:sp>
      <p:sp>
        <p:nvSpPr>
          <p:cNvPr id="25" name="Shape 23"/>
          <p:cNvSpPr/>
          <p:nvPr/>
        </p:nvSpPr>
        <p:spPr>
          <a:xfrm>
            <a:off x="502920" y="566928"/>
            <a:ext cx="11201400" cy="0"/>
          </a:xfrm>
          <a:prstGeom prst="line">
            <a:avLst/>
          </a:prstGeom>
          <a:noFill/>
          <a:ln w="5080">
            <a:solidFill>
              <a:srgbClr val="0B304B">
                <a:alpha val="12000"/>
              </a:srgbClr>
            </a:solidFill>
            <a:prstDash val="solid"/>
          </a:ln>
        </p:spPr>
      </p:sp>
      <p:sp>
        <p:nvSpPr>
          <p:cNvPr id="26" name="Shape 24"/>
          <p:cNvSpPr/>
          <p:nvPr/>
        </p:nvSpPr>
        <p:spPr>
          <a:xfrm>
            <a:off x="502920" y="1069848"/>
            <a:ext cx="11201400" cy="0"/>
          </a:xfrm>
          <a:prstGeom prst="line">
            <a:avLst/>
          </a:prstGeom>
          <a:noFill/>
          <a:ln w="5080">
            <a:solidFill>
              <a:srgbClr val="0B304B">
                <a:alpha val="12000"/>
              </a:srgbClr>
            </a:solidFill>
            <a:prstDash val="solid"/>
          </a:ln>
        </p:spPr>
      </p:sp>
      <p:sp>
        <p:nvSpPr>
          <p:cNvPr id="27" name="Shape 25"/>
          <p:cNvSpPr/>
          <p:nvPr/>
        </p:nvSpPr>
        <p:spPr>
          <a:xfrm>
            <a:off x="502920" y="1572768"/>
            <a:ext cx="11201400" cy="0"/>
          </a:xfrm>
          <a:prstGeom prst="line">
            <a:avLst/>
          </a:prstGeom>
          <a:noFill/>
          <a:ln w="5080">
            <a:solidFill>
              <a:srgbClr val="0B304B">
                <a:alpha val="12000"/>
              </a:srgbClr>
            </a:solidFill>
            <a:prstDash val="solid"/>
          </a:ln>
        </p:spPr>
      </p:sp>
      <p:sp>
        <p:nvSpPr>
          <p:cNvPr id="28" name="Shape 26"/>
          <p:cNvSpPr/>
          <p:nvPr/>
        </p:nvSpPr>
        <p:spPr>
          <a:xfrm>
            <a:off x="502920" y="2075688"/>
            <a:ext cx="11201400" cy="0"/>
          </a:xfrm>
          <a:prstGeom prst="line">
            <a:avLst/>
          </a:prstGeom>
          <a:noFill/>
          <a:ln w="5080">
            <a:solidFill>
              <a:srgbClr val="0B304B">
                <a:alpha val="12000"/>
              </a:srgbClr>
            </a:solidFill>
            <a:prstDash val="solid"/>
          </a:ln>
        </p:spPr>
      </p:sp>
      <p:sp>
        <p:nvSpPr>
          <p:cNvPr id="29" name="Shape 27"/>
          <p:cNvSpPr/>
          <p:nvPr/>
        </p:nvSpPr>
        <p:spPr>
          <a:xfrm>
            <a:off x="502920" y="2578608"/>
            <a:ext cx="11201400" cy="0"/>
          </a:xfrm>
          <a:prstGeom prst="line">
            <a:avLst/>
          </a:prstGeom>
          <a:noFill/>
          <a:ln w="5080">
            <a:solidFill>
              <a:srgbClr val="0B304B">
                <a:alpha val="12000"/>
              </a:srgbClr>
            </a:solidFill>
            <a:prstDash val="solid"/>
          </a:ln>
        </p:spPr>
      </p:sp>
      <p:sp>
        <p:nvSpPr>
          <p:cNvPr id="30" name="Shape 28"/>
          <p:cNvSpPr/>
          <p:nvPr/>
        </p:nvSpPr>
        <p:spPr>
          <a:xfrm>
            <a:off x="502920" y="3081528"/>
            <a:ext cx="11201400" cy="0"/>
          </a:xfrm>
          <a:prstGeom prst="line">
            <a:avLst/>
          </a:prstGeom>
          <a:noFill/>
          <a:ln w="5080">
            <a:solidFill>
              <a:srgbClr val="0B304B">
                <a:alpha val="12000"/>
              </a:srgbClr>
            </a:solidFill>
            <a:prstDash val="solid"/>
          </a:ln>
        </p:spPr>
      </p:sp>
      <p:sp>
        <p:nvSpPr>
          <p:cNvPr id="31" name="Shape 29"/>
          <p:cNvSpPr/>
          <p:nvPr/>
        </p:nvSpPr>
        <p:spPr>
          <a:xfrm>
            <a:off x="502920" y="3584448"/>
            <a:ext cx="11201400" cy="0"/>
          </a:xfrm>
          <a:prstGeom prst="line">
            <a:avLst/>
          </a:prstGeom>
          <a:noFill/>
          <a:ln w="5080">
            <a:solidFill>
              <a:srgbClr val="0B304B">
                <a:alpha val="12000"/>
              </a:srgbClr>
            </a:solidFill>
            <a:prstDash val="solid"/>
          </a:ln>
        </p:spPr>
      </p:sp>
      <p:sp>
        <p:nvSpPr>
          <p:cNvPr id="32" name="Shape 30"/>
          <p:cNvSpPr/>
          <p:nvPr/>
        </p:nvSpPr>
        <p:spPr>
          <a:xfrm>
            <a:off x="502920" y="4087368"/>
            <a:ext cx="11201400" cy="0"/>
          </a:xfrm>
          <a:prstGeom prst="line">
            <a:avLst/>
          </a:prstGeom>
          <a:noFill/>
          <a:ln w="5080">
            <a:solidFill>
              <a:srgbClr val="0B304B">
                <a:alpha val="12000"/>
              </a:srgbClr>
            </a:solidFill>
            <a:prstDash val="solid"/>
          </a:ln>
        </p:spPr>
      </p:sp>
      <p:sp>
        <p:nvSpPr>
          <p:cNvPr id="33" name="Shape 31"/>
          <p:cNvSpPr/>
          <p:nvPr/>
        </p:nvSpPr>
        <p:spPr>
          <a:xfrm>
            <a:off x="502920" y="4590288"/>
            <a:ext cx="11201400" cy="0"/>
          </a:xfrm>
          <a:prstGeom prst="line">
            <a:avLst/>
          </a:prstGeom>
          <a:noFill/>
          <a:ln w="5080">
            <a:solidFill>
              <a:srgbClr val="0B304B">
                <a:alpha val="12000"/>
              </a:srgbClr>
            </a:solidFill>
            <a:prstDash val="solid"/>
          </a:ln>
        </p:spPr>
      </p:sp>
      <p:sp>
        <p:nvSpPr>
          <p:cNvPr id="34" name="Shape 32"/>
          <p:cNvSpPr/>
          <p:nvPr/>
        </p:nvSpPr>
        <p:spPr>
          <a:xfrm>
            <a:off x="502920" y="5093208"/>
            <a:ext cx="11201400" cy="0"/>
          </a:xfrm>
          <a:prstGeom prst="line">
            <a:avLst/>
          </a:prstGeom>
          <a:noFill/>
          <a:ln w="5080">
            <a:solidFill>
              <a:srgbClr val="0B304B">
                <a:alpha val="12000"/>
              </a:srgbClr>
            </a:solidFill>
            <a:prstDash val="solid"/>
          </a:ln>
        </p:spPr>
      </p:sp>
      <p:sp>
        <p:nvSpPr>
          <p:cNvPr id="35" name="Shape 33"/>
          <p:cNvSpPr/>
          <p:nvPr/>
        </p:nvSpPr>
        <p:spPr>
          <a:xfrm>
            <a:off x="502920" y="5596128"/>
            <a:ext cx="11201400" cy="0"/>
          </a:xfrm>
          <a:prstGeom prst="line">
            <a:avLst/>
          </a:prstGeom>
          <a:noFill/>
          <a:ln w="5080">
            <a:solidFill>
              <a:srgbClr val="0B304B">
                <a:alpha val="12000"/>
              </a:srgbClr>
            </a:solidFill>
            <a:prstDash val="solid"/>
          </a:ln>
        </p:spPr>
      </p:sp>
      <p:sp>
        <p:nvSpPr>
          <p:cNvPr id="36" name="Shape 34"/>
          <p:cNvSpPr/>
          <p:nvPr/>
        </p:nvSpPr>
        <p:spPr>
          <a:xfrm>
            <a:off x="502920" y="6099048"/>
            <a:ext cx="11201400" cy="0"/>
          </a:xfrm>
          <a:prstGeom prst="line">
            <a:avLst/>
          </a:prstGeom>
          <a:noFill/>
          <a:ln w="5080">
            <a:solidFill>
              <a:srgbClr val="0B304B">
                <a:alpha val="12000"/>
              </a:srgbClr>
            </a:solidFill>
            <a:prstDash val="solid"/>
          </a:ln>
        </p:spPr>
      </p:sp>
      <p:sp>
        <p:nvSpPr>
          <p:cNvPr id="37" name="Shape 35"/>
          <p:cNvSpPr/>
          <p:nvPr/>
        </p:nvSpPr>
        <p:spPr>
          <a:xfrm>
            <a:off x="502920" y="320040"/>
            <a:ext cx="1417320" cy="256032"/>
          </a:xfrm>
          <a:prstGeom prst="roundRect">
            <a:avLst>
              <a:gd name="adj" fmla="val 17857"/>
            </a:avLst>
          </a:prstGeom>
          <a:solidFill>
            <a:srgbClr val="09273D"/>
          </a:solidFill>
          <a:ln w="10160">
            <a:solidFill>
              <a:srgbClr val="3FE0B5">
                <a:alpha val="65000"/>
              </a:srgbClr>
            </a:solidFill>
            <a:prstDash val="solid"/>
          </a:ln>
        </p:spPr>
      </p:sp>
      <p:sp>
        <p:nvSpPr>
          <p:cNvPr id="38"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3FE0B5"/>
                </a:solidFill>
                <a:latin typeface="Aptos" pitchFamily="34" charset="0"/>
                <a:ea typeface="Aptos" pitchFamily="34" charset="-122"/>
                <a:cs typeface="Aptos" pitchFamily="34" charset="-120"/>
              </a:rPr>
              <a:t>AVIATION SAFETY</a:t>
            </a:r>
            <a:endParaRPr lang="en-US" sz="560" dirty="0"/>
          </a:p>
        </p:txBody>
      </p:sp>
      <p:sp>
        <p:nvSpPr>
          <p:cNvPr id="39"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Aviation Safety Fundamentals</a:t>
            </a:r>
            <a:endParaRPr lang="en-US" sz="2350" dirty="0"/>
          </a:p>
        </p:txBody>
      </p:sp>
      <p:sp>
        <p:nvSpPr>
          <p:cNvPr id="40" name="Text 38"/>
          <p:cNvSpPr/>
          <p:nvPr/>
        </p:nvSpPr>
        <p:spPr>
          <a:xfrm>
            <a:off x="548640" y="1161288"/>
            <a:ext cx="8046720" cy="292608"/>
          </a:xfrm>
          <a:prstGeom prst="rect">
            <a:avLst/>
          </a:prstGeom>
          <a:noFill/>
          <a:ln/>
        </p:spPr>
        <p:txBody>
          <a:bodyPr wrap="square" lIns="0" tIns="0" rIns="0" bIns="0" rtlCol="0" anchor="ctr">
            <a:normAutofit/>
          </a:bodyPr>
          <a:lstStyle/>
          <a:p>
            <a:pPr marL="0" indent="0">
              <a:buNone/>
            </a:pPr>
            <a:r>
              <a:rPr lang="en-US" sz="900" dirty="0">
                <a:solidFill>
                  <a:srgbClr val="8FA9B9"/>
                </a:solidFill>
                <a:latin typeface="Aptos" pitchFamily="34" charset="0"/>
                <a:ea typeface="Aptos" pitchFamily="34" charset="-122"/>
                <a:cs typeface="Aptos" pitchFamily="34" charset="-120"/>
              </a:rPr>
              <a:t>Defining Accidents vs. Incidents</a:t>
            </a:r>
            <a:endParaRPr lang="en-US" sz="900" dirty="0"/>
          </a:p>
        </p:txBody>
      </p:sp>
      <p:pic>
        <p:nvPicPr>
          <p:cNvPr id="41" name="Image 0" descr="/mnt/data/radar_sweep.gif"/>
          <p:cNvPicPr>
            <a:picLocks noChangeAspect="1"/>
          </p:cNvPicPr>
          <p:nvPr/>
        </p:nvPicPr>
        <p:blipFill>
          <a:blip r:embed="rId3"/>
          <a:stretch>
            <a:fillRect/>
          </a:stretch>
        </p:blipFill>
        <p:spPr>
          <a:xfrm>
            <a:off x="10625328" y="621792"/>
            <a:ext cx="713232" cy="713232"/>
          </a:xfrm>
          <a:prstGeom prst="rect">
            <a:avLst/>
          </a:prstGeom>
        </p:spPr>
      </p:pic>
      <p:sp>
        <p:nvSpPr>
          <p:cNvPr id="42" name="Shape 39"/>
          <p:cNvSpPr/>
          <p:nvPr/>
        </p:nvSpPr>
        <p:spPr>
          <a:xfrm>
            <a:off x="603504" y="1673352"/>
            <a:ext cx="3429000" cy="2999232"/>
          </a:xfrm>
          <a:prstGeom prst="roundRect">
            <a:avLst>
              <a:gd name="adj" fmla="val 2439"/>
            </a:avLst>
          </a:prstGeom>
          <a:solidFill>
            <a:srgbClr val="0A2035"/>
          </a:solidFill>
          <a:ln w="11430">
            <a:solidFill>
              <a:srgbClr val="163F5D">
                <a:alpha val="90000"/>
              </a:srgbClr>
            </a:solidFill>
            <a:prstDash val="solid"/>
          </a:ln>
          <a:effectLst>
            <a:outerShdw blurRad="25400" dist="15240" dir="2700000" algn="bl" rotWithShape="0">
              <a:srgbClr val="000000">
                <a:alpha val="22000"/>
              </a:srgbClr>
            </a:outerShdw>
          </a:effectLst>
        </p:spPr>
      </p:sp>
      <p:sp>
        <p:nvSpPr>
          <p:cNvPr id="43" name="Shape 40"/>
          <p:cNvSpPr/>
          <p:nvPr/>
        </p:nvSpPr>
        <p:spPr>
          <a:xfrm>
            <a:off x="603504" y="1673352"/>
            <a:ext cx="41148" cy="2999232"/>
          </a:xfrm>
          <a:prstGeom prst="rect">
            <a:avLst/>
          </a:prstGeom>
          <a:solidFill>
            <a:srgbClr val="16DFF7"/>
          </a:solidFill>
          <a:ln w="12700">
            <a:solidFill>
              <a:srgbClr val="16DFF7"/>
            </a:solidFill>
            <a:prstDash val="solid"/>
          </a:ln>
        </p:spPr>
      </p:sp>
      <p:sp>
        <p:nvSpPr>
          <p:cNvPr id="44" name="Shape 41"/>
          <p:cNvSpPr/>
          <p:nvPr/>
        </p:nvSpPr>
        <p:spPr>
          <a:xfrm>
            <a:off x="822960" y="1901952"/>
            <a:ext cx="347472" cy="347472"/>
          </a:xfrm>
          <a:prstGeom prst="ellipse">
            <a:avLst/>
          </a:prstGeom>
          <a:solidFill>
            <a:srgbClr val="16DFF7"/>
          </a:solidFill>
          <a:ln w="12700">
            <a:solidFill>
              <a:srgbClr val="16DFF7">
                <a:alpha val="0"/>
              </a:srgbClr>
            </a:solidFill>
            <a:prstDash val="solid"/>
          </a:ln>
        </p:spPr>
      </p:sp>
      <p:sp>
        <p:nvSpPr>
          <p:cNvPr id="45" name="Text 42"/>
          <p:cNvSpPr/>
          <p:nvPr/>
        </p:nvSpPr>
        <p:spPr>
          <a:xfrm>
            <a:off x="822960" y="1965960"/>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1</a:t>
            </a:r>
            <a:endParaRPr lang="en-US" sz="800" dirty="0"/>
          </a:p>
        </p:txBody>
      </p:sp>
      <p:sp>
        <p:nvSpPr>
          <p:cNvPr id="46" name="Text 43"/>
          <p:cNvSpPr/>
          <p:nvPr/>
        </p:nvSpPr>
        <p:spPr>
          <a:xfrm>
            <a:off x="1298448" y="1901952"/>
            <a:ext cx="2414016" cy="274320"/>
          </a:xfrm>
          <a:prstGeom prst="rect">
            <a:avLst/>
          </a:prstGeom>
          <a:noFill/>
          <a:ln/>
        </p:spPr>
        <p:txBody>
          <a:bodyPr wrap="square" lIns="0" tIns="0" rIns="0" bIns="0" rtlCol="0" anchor="ctr"/>
          <a:lstStyle/>
          <a:p>
            <a:pPr marL="0" indent="0">
              <a:buNone/>
            </a:pPr>
            <a:r>
              <a:rPr lang="en-US" sz="1400" b="1" dirty="0">
                <a:solidFill>
                  <a:srgbClr val="16DFF7"/>
                </a:solidFill>
              </a:rPr>
              <a:t>Accident</a:t>
            </a:r>
            <a:endParaRPr lang="en-US" sz="1400" dirty="0"/>
          </a:p>
        </p:txBody>
      </p:sp>
      <p:sp>
        <p:nvSpPr>
          <p:cNvPr id="47" name="Text 44"/>
          <p:cNvSpPr/>
          <p:nvPr/>
        </p:nvSpPr>
        <p:spPr>
          <a:xfrm>
            <a:off x="850392" y="2487168"/>
            <a:ext cx="2926080" cy="1572768"/>
          </a:xfrm>
          <a:prstGeom prst="rect">
            <a:avLst/>
          </a:prstGeom>
          <a:noFill/>
          <a:ln/>
        </p:spPr>
        <p:txBody>
          <a:bodyPr wrap="square" lIns="508" tIns="508" rIns="508" bIns="508" rtlCol="0" anchor="ctr">
            <a:normAutofit/>
          </a:bodyPr>
          <a:lstStyle/>
          <a:p>
            <a:pPr marL="0" indent="0">
              <a:buNone/>
            </a:pPr>
            <a:r>
              <a:rPr lang="en-US" sz="1200" dirty="0">
                <a:solidFill>
                  <a:srgbClr val="DDEAF2"/>
                </a:solidFill>
              </a:rPr>
              <a:t>An occurrence associated with the operation of an aircraft resulting in fatal injury, illness, or structural damage.</a:t>
            </a:r>
            <a:endParaRPr lang="en-US" sz="1200" dirty="0"/>
          </a:p>
        </p:txBody>
      </p:sp>
      <p:sp>
        <p:nvSpPr>
          <p:cNvPr id="48" name="Shape 45"/>
          <p:cNvSpPr/>
          <p:nvPr/>
        </p:nvSpPr>
        <p:spPr>
          <a:xfrm>
            <a:off x="4398264" y="1673352"/>
            <a:ext cx="3429000" cy="2999232"/>
          </a:xfrm>
          <a:prstGeom prst="roundRect">
            <a:avLst>
              <a:gd name="adj" fmla="val 2439"/>
            </a:avLst>
          </a:prstGeom>
          <a:solidFill>
            <a:srgbClr val="0A2035"/>
          </a:solidFill>
          <a:ln w="11430">
            <a:solidFill>
              <a:srgbClr val="163F5D">
                <a:alpha val="90000"/>
              </a:srgbClr>
            </a:solidFill>
            <a:prstDash val="solid"/>
          </a:ln>
          <a:effectLst>
            <a:outerShdw blurRad="322580000" dist="193548000" algn="bl" rotWithShape="0">
              <a:srgbClr val="000000">
                <a:alpha val="0"/>
              </a:srgbClr>
            </a:outerShdw>
          </a:effectLst>
        </p:spPr>
      </p:sp>
      <p:sp>
        <p:nvSpPr>
          <p:cNvPr id="49" name="Shape 46"/>
          <p:cNvSpPr/>
          <p:nvPr/>
        </p:nvSpPr>
        <p:spPr>
          <a:xfrm>
            <a:off x="4398264" y="1673352"/>
            <a:ext cx="41148" cy="2999232"/>
          </a:xfrm>
          <a:prstGeom prst="rect">
            <a:avLst/>
          </a:prstGeom>
          <a:solidFill>
            <a:srgbClr val="3FE0B5"/>
          </a:solidFill>
          <a:ln w="12700">
            <a:solidFill>
              <a:srgbClr val="3FE0B5"/>
            </a:solidFill>
            <a:prstDash val="solid"/>
          </a:ln>
        </p:spPr>
      </p:sp>
      <p:sp>
        <p:nvSpPr>
          <p:cNvPr id="50" name="Shape 47"/>
          <p:cNvSpPr/>
          <p:nvPr/>
        </p:nvSpPr>
        <p:spPr>
          <a:xfrm>
            <a:off x="4617720" y="1901952"/>
            <a:ext cx="347472" cy="347472"/>
          </a:xfrm>
          <a:prstGeom prst="ellipse">
            <a:avLst/>
          </a:prstGeom>
          <a:solidFill>
            <a:srgbClr val="3FE0B5"/>
          </a:solidFill>
          <a:ln w="12700">
            <a:solidFill>
              <a:srgbClr val="3FE0B5">
                <a:alpha val="0"/>
              </a:srgbClr>
            </a:solidFill>
            <a:prstDash val="solid"/>
          </a:ln>
        </p:spPr>
      </p:sp>
      <p:sp>
        <p:nvSpPr>
          <p:cNvPr id="51" name="Text 48"/>
          <p:cNvSpPr/>
          <p:nvPr/>
        </p:nvSpPr>
        <p:spPr>
          <a:xfrm>
            <a:off x="4617720" y="1965960"/>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2</a:t>
            </a:r>
            <a:endParaRPr lang="en-US" sz="800" dirty="0"/>
          </a:p>
        </p:txBody>
      </p:sp>
      <p:sp>
        <p:nvSpPr>
          <p:cNvPr id="52" name="Text 49"/>
          <p:cNvSpPr/>
          <p:nvPr/>
        </p:nvSpPr>
        <p:spPr>
          <a:xfrm>
            <a:off x="5093208" y="1901952"/>
            <a:ext cx="2414016" cy="274320"/>
          </a:xfrm>
          <a:prstGeom prst="rect">
            <a:avLst/>
          </a:prstGeom>
          <a:noFill/>
          <a:ln/>
        </p:spPr>
        <p:txBody>
          <a:bodyPr wrap="square" lIns="0" tIns="0" rIns="0" bIns="0" rtlCol="0" anchor="ctr"/>
          <a:lstStyle/>
          <a:p>
            <a:pPr marL="0" indent="0">
              <a:buNone/>
            </a:pPr>
            <a:r>
              <a:rPr lang="en-US" sz="1400" b="1" dirty="0">
                <a:solidFill>
                  <a:srgbClr val="3FE0B5"/>
                </a:solidFill>
              </a:rPr>
              <a:t>Incident</a:t>
            </a:r>
            <a:endParaRPr lang="en-US" sz="1400" dirty="0"/>
          </a:p>
        </p:txBody>
      </p:sp>
      <p:sp>
        <p:nvSpPr>
          <p:cNvPr id="53" name="Text 50"/>
          <p:cNvSpPr/>
          <p:nvPr/>
        </p:nvSpPr>
        <p:spPr>
          <a:xfrm>
            <a:off x="4645152" y="2487168"/>
            <a:ext cx="2926080" cy="1572768"/>
          </a:xfrm>
          <a:prstGeom prst="rect">
            <a:avLst/>
          </a:prstGeom>
          <a:noFill/>
          <a:ln/>
        </p:spPr>
        <p:txBody>
          <a:bodyPr wrap="square" lIns="508" tIns="508" rIns="508" bIns="508" rtlCol="0" anchor="ctr">
            <a:normAutofit/>
          </a:bodyPr>
          <a:lstStyle/>
          <a:p>
            <a:pPr marL="0" indent="0">
              <a:buNone/>
            </a:pPr>
            <a:r>
              <a:rPr lang="en-US" sz="1200" dirty="0">
                <a:solidFill>
                  <a:srgbClr val="DDEAF2"/>
                </a:solidFill>
              </a:rPr>
              <a:t>An event, other than an accident, affecting or affecting the safety of operation.</a:t>
            </a:r>
            <a:endParaRPr lang="en-US" sz="1200" dirty="0"/>
          </a:p>
        </p:txBody>
      </p:sp>
      <p:sp>
        <p:nvSpPr>
          <p:cNvPr id="54" name="Shape 51"/>
          <p:cNvSpPr/>
          <p:nvPr/>
        </p:nvSpPr>
        <p:spPr>
          <a:xfrm>
            <a:off x="8193024" y="1673352"/>
            <a:ext cx="3429000" cy="2999232"/>
          </a:xfrm>
          <a:prstGeom prst="roundRect">
            <a:avLst>
              <a:gd name="adj" fmla="val 2439"/>
            </a:avLst>
          </a:prstGeom>
          <a:solidFill>
            <a:srgbClr val="102438"/>
          </a:solidFill>
          <a:ln w="11430">
            <a:solidFill>
              <a:srgbClr val="163F5D">
                <a:alpha val="90000"/>
              </a:srgbClr>
            </a:solidFill>
            <a:prstDash val="solid"/>
          </a:ln>
          <a:effectLst>
            <a:outerShdw algn="bl" rotWithShape="0">
              <a:srgbClr val="000000">
                <a:alpha val="0"/>
              </a:srgbClr>
            </a:outerShdw>
          </a:effectLst>
        </p:spPr>
      </p:sp>
      <p:sp>
        <p:nvSpPr>
          <p:cNvPr id="55" name="Shape 52"/>
          <p:cNvSpPr/>
          <p:nvPr/>
        </p:nvSpPr>
        <p:spPr>
          <a:xfrm>
            <a:off x="8193024" y="1673352"/>
            <a:ext cx="41148" cy="2999232"/>
          </a:xfrm>
          <a:prstGeom prst="rect">
            <a:avLst/>
          </a:prstGeom>
          <a:solidFill>
            <a:srgbClr val="FFB22C"/>
          </a:solidFill>
          <a:ln w="12700">
            <a:solidFill>
              <a:srgbClr val="FFB22C"/>
            </a:solidFill>
            <a:prstDash val="solid"/>
          </a:ln>
        </p:spPr>
      </p:sp>
      <p:sp>
        <p:nvSpPr>
          <p:cNvPr id="56" name="Shape 53"/>
          <p:cNvSpPr/>
          <p:nvPr/>
        </p:nvSpPr>
        <p:spPr>
          <a:xfrm>
            <a:off x="8412480" y="1901952"/>
            <a:ext cx="347472" cy="347472"/>
          </a:xfrm>
          <a:prstGeom prst="ellipse">
            <a:avLst/>
          </a:prstGeom>
          <a:solidFill>
            <a:srgbClr val="FFB22C"/>
          </a:solidFill>
          <a:ln w="12700">
            <a:solidFill>
              <a:srgbClr val="FFB22C">
                <a:alpha val="0"/>
              </a:srgbClr>
            </a:solidFill>
            <a:prstDash val="solid"/>
          </a:ln>
        </p:spPr>
      </p:sp>
      <p:sp>
        <p:nvSpPr>
          <p:cNvPr id="57" name="Text 54"/>
          <p:cNvSpPr/>
          <p:nvPr/>
        </p:nvSpPr>
        <p:spPr>
          <a:xfrm>
            <a:off x="8412480" y="1965960"/>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3</a:t>
            </a:r>
            <a:endParaRPr lang="en-US" sz="800" dirty="0"/>
          </a:p>
        </p:txBody>
      </p:sp>
      <p:sp>
        <p:nvSpPr>
          <p:cNvPr id="58" name="Text 55"/>
          <p:cNvSpPr/>
          <p:nvPr/>
        </p:nvSpPr>
        <p:spPr>
          <a:xfrm>
            <a:off x="8887968" y="1901952"/>
            <a:ext cx="2414016" cy="274320"/>
          </a:xfrm>
          <a:prstGeom prst="rect">
            <a:avLst/>
          </a:prstGeom>
          <a:noFill/>
          <a:ln/>
        </p:spPr>
        <p:txBody>
          <a:bodyPr wrap="square" lIns="0" tIns="0" rIns="0" bIns="0" rtlCol="0" anchor="ctr"/>
          <a:lstStyle/>
          <a:p>
            <a:pPr marL="0" indent="0">
              <a:buNone/>
            </a:pPr>
            <a:r>
              <a:rPr lang="en-US" sz="1400" b="1" dirty="0">
                <a:solidFill>
                  <a:srgbClr val="FFB22C"/>
                </a:solidFill>
              </a:rPr>
              <a:t>Primary Goal</a:t>
            </a:r>
            <a:endParaRPr lang="en-US" sz="1400" dirty="0"/>
          </a:p>
        </p:txBody>
      </p:sp>
      <p:sp>
        <p:nvSpPr>
          <p:cNvPr id="59" name="Text 56"/>
          <p:cNvSpPr/>
          <p:nvPr/>
        </p:nvSpPr>
        <p:spPr>
          <a:xfrm>
            <a:off x="8439912" y="2487168"/>
            <a:ext cx="2926080" cy="1572768"/>
          </a:xfrm>
          <a:prstGeom prst="rect">
            <a:avLst/>
          </a:prstGeom>
          <a:noFill/>
          <a:ln/>
        </p:spPr>
        <p:txBody>
          <a:bodyPr wrap="square" lIns="508" tIns="508" rIns="508" bIns="508" rtlCol="0" anchor="ctr">
            <a:normAutofit/>
          </a:bodyPr>
          <a:lstStyle/>
          <a:p>
            <a:pPr marL="0" indent="0">
              <a:buNone/>
            </a:pPr>
            <a:r>
              <a:rPr lang="en-US" sz="1200" dirty="0">
                <a:solidFill>
                  <a:srgbClr val="DDEAF2"/>
                </a:solidFill>
              </a:rPr>
              <a:t>Modern aviation safety focuses on proactive risk reduction rather than assigning civil or criminal liability.</a:t>
            </a:r>
            <a:endParaRPr lang="en-US" sz="1200" dirty="0"/>
          </a:p>
        </p:txBody>
      </p:sp>
      <p:sp>
        <p:nvSpPr>
          <p:cNvPr id="60" name="Shape 57"/>
          <p:cNvSpPr/>
          <p:nvPr/>
        </p:nvSpPr>
        <p:spPr>
          <a:xfrm>
            <a:off x="1024128" y="5166360"/>
            <a:ext cx="10058400" cy="0"/>
          </a:xfrm>
          <a:prstGeom prst="line">
            <a:avLst/>
          </a:prstGeom>
          <a:noFill/>
          <a:ln w="12700">
            <a:solidFill>
              <a:srgbClr val="17415A"/>
            </a:solidFill>
            <a:prstDash val="solid"/>
          </a:ln>
        </p:spPr>
      </p:sp>
      <p:sp>
        <p:nvSpPr>
          <p:cNvPr id="61" name="Text 58"/>
          <p:cNvSpPr/>
          <p:nvPr/>
        </p:nvSpPr>
        <p:spPr>
          <a:xfrm>
            <a:off x="4050792" y="5020056"/>
            <a:ext cx="4023360" cy="237744"/>
          </a:xfrm>
          <a:prstGeom prst="rect">
            <a:avLst/>
          </a:prstGeom>
          <a:noFill/>
          <a:ln/>
        </p:spPr>
        <p:txBody>
          <a:bodyPr wrap="square" lIns="0" tIns="0" rIns="0" bIns="0" rtlCol="0" anchor="ctr"/>
          <a:lstStyle/>
          <a:p>
            <a:pPr marL="0" indent="0" algn="ctr">
              <a:buNone/>
            </a:pPr>
            <a:r>
              <a:rPr lang="en-US" sz="750" b="1" kern="0" spc="230" dirty="0">
                <a:solidFill>
                  <a:srgbClr val="16DFF7"/>
                </a:solidFill>
              </a:rPr>
              <a:t>PROACTIVE RISK REDUCTION</a:t>
            </a:r>
            <a:endParaRPr lang="en-US" sz="750" dirty="0"/>
          </a:p>
        </p:txBody>
      </p:sp>
      <p:sp>
        <p:nvSpPr>
          <p:cNvPr id="62" name="Shape 59">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63" name="Text 60">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64" name="Shape 61">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65" name="Text 62">
            <a:hlinkClick r:id="rId5" action="ppaction://hlinksldjump"/>
          </p:cNvPr>
          <p:cNvSpPr/>
          <p:nvPr/>
        </p:nvSpPr>
        <p:spPr>
          <a:xfrm>
            <a:off x="10936224"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66"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12000"/>
              </a:srgbClr>
            </a:solidFill>
            <a:prstDash val="solid"/>
          </a:ln>
        </p:spPr>
      </p:sp>
      <p:sp>
        <p:nvSpPr>
          <p:cNvPr id="3" name="Shape 1"/>
          <p:cNvSpPr/>
          <p:nvPr/>
        </p:nvSpPr>
        <p:spPr>
          <a:xfrm>
            <a:off x="1051560" y="502920"/>
            <a:ext cx="0" cy="5715000"/>
          </a:xfrm>
          <a:prstGeom prst="line">
            <a:avLst/>
          </a:prstGeom>
          <a:noFill/>
          <a:ln w="5080">
            <a:solidFill>
              <a:srgbClr val="0B304B">
                <a:alpha val="12000"/>
              </a:srgbClr>
            </a:solidFill>
            <a:prstDash val="solid"/>
          </a:ln>
        </p:spPr>
      </p:sp>
      <p:sp>
        <p:nvSpPr>
          <p:cNvPr id="4" name="Shape 2"/>
          <p:cNvSpPr/>
          <p:nvPr/>
        </p:nvSpPr>
        <p:spPr>
          <a:xfrm>
            <a:off x="1554480" y="502920"/>
            <a:ext cx="0" cy="5715000"/>
          </a:xfrm>
          <a:prstGeom prst="line">
            <a:avLst/>
          </a:prstGeom>
          <a:noFill/>
          <a:ln w="5080">
            <a:solidFill>
              <a:srgbClr val="0B304B">
                <a:alpha val="12000"/>
              </a:srgbClr>
            </a:solidFill>
            <a:prstDash val="solid"/>
          </a:ln>
        </p:spPr>
      </p:sp>
      <p:sp>
        <p:nvSpPr>
          <p:cNvPr id="5" name="Shape 3"/>
          <p:cNvSpPr/>
          <p:nvPr/>
        </p:nvSpPr>
        <p:spPr>
          <a:xfrm>
            <a:off x="2057400" y="502920"/>
            <a:ext cx="0" cy="5715000"/>
          </a:xfrm>
          <a:prstGeom prst="line">
            <a:avLst/>
          </a:prstGeom>
          <a:noFill/>
          <a:ln w="5080">
            <a:solidFill>
              <a:srgbClr val="0B304B">
                <a:alpha val="12000"/>
              </a:srgbClr>
            </a:solidFill>
            <a:prstDash val="solid"/>
          </a:ln>
        </p:spPr>
      </p:sp>
      <p:sp>
        <p:nvSpPr>
          <p:cNvPr id="6" name="Shape 4"/>
          <p:cNvSpPr/>
          <p:nvPr/>
        </p:nvSpPr>
        <p:spPr>
          <a:xfrm>
            <a:off x="2560320" y="502920"/>
            <a:ext cx="0" cy="5715000"/>
          </a:xfrm>
          <a:prstGeom prst="line">
            <a:avLst/>
          </a:prstGeom>
          <a:noFill/>
          <a:ln w="5080">
            <a:solidFill>
              <a:srgbClr val="0B304B">
                <a:alpha val="12000"/>
              </a:srgbClr>
            </a:solidFill>
            <a:prstDash val="solid"/>
          </a:ln>
        </p:spPr>
      </p:sp>
      <p:sp>
        <p:nvSpPr>
          <p:cNvPr id="7" name="Shape 5"/>
          <p:cNvSpPr/>
          <p:nvPr/>
        </p:nvSpPr>
        <p:spPr>
          <a:xfrm>
            <a:off x="3063240" y="502920"/>
            <a:ext cx="0" cy="5715000"/>
          </a:xfrm>
          <a:prstGeom prst="line">
            <a:avLst/>
          </a:prstGeom>
          <a:noFill/>
          <a:ln w="5080">
            <a:solidFill>
              <a:srgbClr val="0B304B">
                <a:alpha val="12000"/>
              </a:srgbClr>
            </a:solidFill>
            <a:prstDash val="solid"/>
          </a:ln>
        </p:spPr>
      </p:sp>
      <p:sp>
        <p:nvSpPr>
          <p:cNvPr id="8" name="Shape 6"/>
          <p:cNvSpPr/>
          <p:nvPr/>
        </p:nvSpPr>
        <p:spPr>
          <a:xfrm>
            <a:off x="3566160" y="502920"/>
            <a:ext cx="0" cy="5715000"/>
          </a:xfrm>
          <a:prstGeom prst="line">
            <a:avLst/>
          </a:prstGeom>
          <a:noFill/>
          <a:ln w="5080">
            <a:solidFill>
              <a:srgbClr val="0B304B">
                <a:alpha val="12000"/>
              </a:srgbClr>
            </a:solidFill>
            <a:prstDash val="solid"/>
          </a:ln>
        </p:spPr>
      </p:sp>
      <p:sp>
        <p:nvSpPr>
          <p:cNvPr id="9" name="Shape 7"/>
          <p:cNvSpPr/>
          <p:nvPr/>
        </p:nvSpPr>
        <p:spPr>
          <a:xfrm>
            <a:off x="4069080" y="502920"/>
            <a:ext cx="0" cy="5715000"/>
          </a:xfrm>
          <a:prstGeom prst="line">
            <a:avLst/>
          </a:prstGeom>
          <a:noFill/>
          <a:ln w="5080">
            <a:solidFill>
              <a:srgbClr val="0B304B">
                <a:alpha val="12000"/>
              </a:srgbClr>
            </a:solidFill>
            <a:prstDash val="solid"/>
          </a:ln>
        </p:spPr>
      </p:sp>
      <p:sp>
        <p:nvSpPr>
          <p:cNvPr id="10" name="Shape 8"/>
          <p:cNvSpPr/>
          <p:nvPr/>
        </p:nvSpPr>
        <p:spPr>
          <a:xfrm>
            <a:off x="4572000" y="502920"/>
            <a:ext cx="0" cy="5715000"/>
          </a:xfrm>
          <a:prstGeom prst="line">
            <a:avLst/>
          </a:prstGeom>
          <a:noFill/>
          <a:ln w="5080">
            <a:solidFill>
              <a:srgbClr val="0B304B">
                <a:alpha val="12000"/>
              </a:srgbClr>
            </a:solidFill>
            <a:prstDash val="solid"/>
          </a:ln>
        </p:spPr>
      </p:sp>
      <p:sp>
        <p:nvSpPr>
          <p:cNvPr id="11" name="Shape 9"/>
          <p:cNvSpPr/>
          <p:nvPr/>
        </p:nvSpPr>
        <p:spPr>
          <a:xfrm>
            <a:off x="5074920" y="502920"/>
            <a:ext cx="0" cy="5715000"/>
          </a:xfrm>
          <a:prstGeom prst="line">
            <a:avLst/>
          </a:prstGeom>
          <a:noFill/>
          <a:ln w="5080">
            <a:solidFill>
              <a:srgbClr val="0B304B">
                <a:alpha val="12000"/>
              </a:srgbClr>
            </a:solidFill>
            <a:prstDash val="solid"/>
          </a:ln>
        </p:spPr>
      </p:sp>
      <p:sp>
        <p:nvSpPr>
          <p:cNvPr id="12" name="Shape 10"/>
          <p:cNvSpPr/>
          <p:nvPr/>
        </p:nvSpPr>
        <p:spPr>
          <a:xfrm>
            <a:off x="5577840" y="502920"/>
            <a:ext cx="0" cy="5715000"/>
          </a:xfrm>
          <a:prstGeom prst="line">
            <a:avLst/>
          </a:prstGeom>
          <a:noFill/>
          <a:ln w="5080">
            <a:solidFill>
              <a:srgbClr val="0B304B">
                <a:alpha val="12000"/>
              </a:srgbClr>
            </a:solidFill>
            <a:prstDash val="solid"/>
          </a:ln>
        </p:spPr>
      </p:sp>
      <p:sp>
        <p:nvSpPr>
          <p:cNvPr id="13" name="Shape 11"/>
          <p:cNvSpPr/>
          <p:nvPr/>
        </p:nvSpPr>
        <p:spPr>
          <a:xfrm>
            <a:off x="6080760" y="502920"/>
            <a:ext cx="0" cy="5715000"/>
          </a:xfrm>
          <a:prstGeom prst="line">
            <a:avLst/>
          </a:prstGeom>
          <a:noFill/>
          <a:ln w="5080">
            <a:solidFill>
              <a:srgbClr val="0B304B">
                <a:alpha val="12000"/>
              </a:srgbClr>
            </a:solidFill>
            <a:prstDash val="solid"/>
          </a:ln>
        </p:spPr>
      </p:sp>
      <p:sp>
        <p:nvSpPr>
          <p:cNvPr id="14" name="Shape 12"/>
          <p:cNvSpPr/>
          <p:nvPr/>
        </p:nvSpPr>
        <p:spPr>
          <a:xfrm>
            <a:off x="6583680" y="502920"/>
            <a:ext cx="0" cy="5715000"/>
          </a:xfrm>
          <a:prstGeom prst="line">
            <a:avLst/>
          </a:prstGeom>
          <a:noFill/>
          <a:ln w="5080">
            <a:solidFill>
              <a:srgbClr val="0B304B">
                <a:alpha val="12000"/>
              </a:srgbClr>
            </a:solidFill>
            <a:prstDash val="solid"/>
          </a:ln>
        </p:spPr>
      </p:sp>
      <p:sp>
        <p:nvSpPr>
          <p:cNvPr id="15" name="Shape 13"/>
          <p:cNvSpPr/>
          <p:nvPr/>
        </p:nvSpPr>
        <p:spPr>
          <a:xfrm>
            <a:off x="7086600" y="502920"/>
            <a:ext cx="0" cy="5715000"/>
          </a:xfrm>
          <a:prstGeom prst="line">
            <a:avLst/>
          </a:prstGeom>
          <a:noFill/>
          <a:ln w="5080">
            <a:solidFill>
              <a:srgbClr val="0B304B">
                <a:alpha val="12000"/>
              </a:srgbClr>
            </a:solidFill>
            <a:prstDash val="solid"/>
          </a:ln>
        </p:spPr>
      </p:sp>
      <p:sp>
        <p:nvSpPr>
          <p:cNvPr id="16" name="Shape 14"/>
          <p:cNvSpPr/>
          <p:nvPr/>
        </p:nvSpPr>
        <p:spPr>
          <a:xfrm>
            <a:off x="7589520" y="502920"/>
            <a:ext cx="0" cy="5715000"/>
          </a:xfrm>
          <a:prstGeom prst="line">
            <a:avLst/>
          </a:prstGeom>
          <a:noFill/>
          <a:ln w="5080">
            <a:solidFill>
              <a:srgbClr val="0B304B">
                <a:alpha val="12000"/>
              </a:srgbClr>
            </a:solidFill>
            <a:prstDash val="solid"/>
          </a:ln>
        </p:spPr>
      </p:sp>
      <p:sp>
        <p:nvSpPr>
          <p:cNvPr id="17" name="Shape 15"/>
          <p:cNvSpPr/>
          <p:nvPr/>
        </p:nvSpPr>
        <p:spPr>
          <a:xfrm>
            <a:off x="8092440" y="502920"/>
            <a:ext cx="0" cy="5715000"/>
          </a:xfrm>
          <a:prstGeom prst="line">
            <a:avLst/>
          </a:prstGeom>
          <a:noFill/>
          <a:ln w="5080">
            <a:solidFill>
              <a:srgbClr val="0B304B">
                <a:alpha val="12000"/>
              </a:srgbClr>
            </a:solidFill>
            <a:prstDash val="solid"/>
          </a:ln>
        </p:spPr>
      </p:sp>
      <p:sp>
        <p:nvSpPr>
          <p:cNvPr id="18" name="Shape 16"/>
          <p:cNvSpPr/>
          <p:nvPr/>
        </p:nvSpPr>
        <p:spPr>
          <a:xfrm>
            <a:off x="8595360" y="502920"/>
            <a:ext cx="0" cy="5715000"/>
          </a:xfrm>
          <a:prstGeom prst="line">
            <a:avLst/>
          </a:prstGeom>
          <a:noFill/>
          <a:ln w="5080">
            <a:solidFill>
              <a:srgbClr val="0B304B">
                <a:alpha val="12000"/>
              </a:srgbClr>
            </a:solidFill>
            <a:prstDash val="solid"/>
          </a:ln>
        </p:spPr>
      </p:sp>
      <p:sp>
        <p:nvSpPr>
          <p:cNvPr id="19" name="Shape 17"/>
          <p:cNvSpPr/>
          <p:nvPr/>
        </p:nvSpPr>
        <p:spPr>
          <a:xfrm>
            <a:off x="9098280" y="502920"/>
            <a:ext cx="0" cy="5715000"/>
          </a:xfrm>
          <a:prstGeom prst="line">
            <a:avLst/>
          </a:prstGeom>
          <a:noFill/>
          <a:ln w="5080">
            <a:solidFill>
              <a:srgbClr val="0B304B">
                <a:alpha val="12000"/>
              </a:srgbClr>
            </a:solidFill>
            <a:prstDash val="solid"/>
          </a:ln>
        </p:spPr>
      </p:sp>
      <p:sp>
        <p:nvSpPr>
          <p:cNvPr id="20" name="Shape 18"/>
          <p:cNvSpPr/>
          <p:nvPr/>
        </p:nvSpPr>
        <p:spPr>
          <a:xfrm>
            <a:off x="9601200" y="502920"/>
            <a:ext cx="0" cy="5715000"/>
          </a:xfrm>
          <a:prstGeom prst="line">
            <a:avLst/>
          </a:prstGeom>
          <a:noFill/>
          <a:ln w="5080">
            <a:solidFill>
              <a:srgbClr val="0B304B">
                <a:alpha val="12000"/>
              </a:srgbClr>
            </a:solidFill>
            <a:prstDash val="solid"/>
          </a:ln>
        </p:spPr>
      </p:sp>
      <p:sp>
        <p:nvSpPr>
          <p:cNvPr id="21" name="Shape 19"/>
          <p:cNvSpPr/>
          <p:nvPr/>
        </p:nvSpPr>
        <p:spPr>
          <a:xfrm>
            <a:off x="10104120" y="502920"/>
            <a:ext cx="0" cy="5715000"/>
          </a:xfrm>
          <a:prstGeom prst="line">
            <a:avLst/>
          </a:prstGeom>
          <a:noFill/>
          <a:ln w="5080">
            <a:solidFill>
              <a:srgbClr val="0B304B">
                <a:alpha val="12000"/>
              </a:srgbClr>
            </a:solidFill>
            <a:prstDash val="solid"/>
          </a:ln>
        </p:spPr>
      </p:sp>
      <p:sp>
        <p:nvSpPr>
          <p:cNvPr id="22" name="Shape 20"/>
          <p:cNvSpPr/>
          <p:nvPr/>
        </p:nvSpPr>
        <p:spPr>
          <a:xfrm>
            <a:off x="10607040" y="502920"/>
            <a:ext cx="0" cy="5715000"/>
          </a:xfrm>
          <a:prstGeom prst="line">
            <a:avLst/>
          </a:prstGeom>
          <a:noFill/>
          <a:ln w="5080">
            <a:solidFill>
              <a:srgbClr val="0B304B">
                <a:alpha val="12000"/>
              </a:srgbClr>
            </a:solidFill>
            <a:prstDash val="solid"/>
          </a:ln>
        </p:spPr>
      </p:sp>
      <p:sp>
        <p:nvSpPr>
          <p:cNvPr id="23" name="Shape 21"/>
          <p:cNvSpPr/>
          <p:nvPr/>
        </p:nvSpPr>
        <p:spPr>
          <a:xfrm>
            <a:off x="11109960" y="502920"/>
            <a:ext cx="0" cy="5715000"/>
          </a:xfrm>
          <a:prstGeom prst="line">
            <a:avLst/>
          </a:prstGeom>
          <a:noFill/>
          <a:ln w="5080">
            <a:solidFill>
              <a:srgbClr val="0B304B">
                <a:alpha val="12000"/>
              </a:srgbClr>
            </a:solidFill>
            <a:prstDash val="solid"/>
          </a:ln>
        </p:spPr>
      </p:sp>
      <p:sp>
        <p:nvSpPr>
          <p:cNvPr id="24" name="Shape 22"/>
          <p:cNvSpPr/>
          <p:nvPr/>
        </p:nvSpPr>
        <p:spPr>
          <a:xfrm>
            <a:off x="11612880" y="502920"/>
            <a:ext cx="0" cy="5715000"/>
          </a:xfrm>
          <a:prstGeom prst="line">
            <a:avLst/>
          </a:prstGeom>
          <a:noFill/>
          <a:ln w="5080">
            <a:solidFill>
              <a:srgbClr val="0B304B">
                <a:alpha val="12000"/>
              </a:srgbClr>
            </a:solidFill>
            <a:prstDash val="solid"/>
          </a:ln>
        </p:spPr>
      </p:sp>
      <p:sp>
        <p:nvSpPr>
          <p:cNvPr id="25" name="Shape 23"/>
          <p:cNvSpPr/>
          <p:nvPr/>
        </p:nvSpPr>
        <p:spPr>
          <a:xfrm>
            <a:off x="502920" y="566928"/>
            <a:ext cx="11201400" cy="0"/>
          </a:xfrm>
          <a:prstGeom prst="line">
            <a:avLst/>
          </a:prstGeom>
          <a:noFill/>
          <a:ln w="5080">
            <a:solidFill>
              <a:srgbClr val="0B304B">
                <a:alpha val="12000"/>
              </a:srgbClr>
            </a:solidFill>
            <a:prstDash val="solid"/>
          </a:ln>
        </p:spPr>
      </p:sp>
      <p:sp>
        <p:nvSpPr>
          <p:cNvPr id="26" name="Shape 24"/>
          <p:cNvSpPr/>
          <p:nvPr/>
        </p:nvSpPr>
        <p:spPr>
          <a:xfrm>
            <a:off x="502920" y="1069848"/>
            <a:ext cx="11201400" cy="0"/>
          </a:xfrm>
          <a:prstGeom prst="line">
            <a:avLst/>
          </a:prstGeom>
          <a:noFill/>
          <a:ln w="5080">
            <a:solidFill>
              <a:srgbClr val="0B304B">
                <a:alpha val="12000"/>
              </a:srgbClr>
            </a:solidFill>
            <a:prstDash val="solid"/>
          </a:ln>
        </p:spPr>
      </p:sp>
      <p:sp>
        <p:nvSpPr>
          <p:cNvPr id="27" name="Shape 25"/>
          <p:cNvSpPr/>
          <p:nvPr/>
        </p:nvSpPr>
        <p:spPr>
          <a:xfrm>
            <a:off x="502920" y="1572768"/>
            <a:ext cx="11201400" cy="0"/>
          </a:xfrm>
          <a:prstGeom prst="line">
            <a:avLst/>
          </a:prstGeom>
          <a:noFill/>
          <a:ln w="5080">
            <a:solidFill>
              <a:srgbClr val="0B304B">
                <a:alpha val="12000"/>
              </a:srgbClr>
            </a:solidFill>
            <a:prstDash val="solid"/>
          </a:ln>
        </p:spPr>
      </p:sp>
      <p:sp>
        <p:nvSpPr>
          <p:cNvPr id="28" name="Shape 26"/>
          <p:cNvSpPr/>
          <p:nvPr/>
        </p:nvSpPr>
        <p:spPr>
          <a:xfrm>
            <a:off x="502920" y="2075688"/>
            <a:ext cx="11201400" cy="0"/>
          </a:xfrm>
          <a:prstGeom prst="line">
            <a:avLst/>
          </a:prstGeom>
          <a:noFill/>
          <a:ln w="5080">
            <a:solidFill>
              <a:srgbClr val="0B304B">
                <a:alpha val="12000"/>
              </a:srgbClr>
            </a:solidFill>
            <a:prstDash val="solid"/>
          </a:ln>
        </p:spPr>
      </p:sp>
      <p:sp>
        <p:nvSpPr>
          <p:cNvPr id="29" name="Shape 27"/>
          <p:cNvSpPr/>
          <p:nvPr/>
        </p:nvSpPr>
        <p:spPr>
          <a:xfrm>
            <a:off x="502920" y="2578608"/>
            <a:ext cx="11201400" cy="0"/>
          </a:xfrm>
          <a:prstGeom prst="line">
            <a:avLst/>
          </a:prstGeom>
          <a:noFill/>
          <a:ln w="5080">
            <a:solidFill>
              <a:srgbClr val="0B304B">
                <a:alpha val="12000"/>
              </a:srgbClr>
            </a:solidFill>
            <a:prstDash val="solid"/>
          </a:ln>
        </p:spPr>
      </p:sp>
      <p:sp>
        <p:nvSpPr>
          <p:cNvPr id="30" name="Shape 28"/>
          <p:cNvSpPr/>
          <p:nvPr/>
        </p:nvSpPr>
        <p:spPr>
          <a:xfrm>
            <a:off x="502920" y="3081528"/>
            <a:ext cx="11201400" cy="0"/>
          </a:xfrm>
          <a:prstGeom prst="line">
            <a:avLst/>
          </a:prstGeom>
          <a:noFill/>
          <a:ln w="5080">
            <a:solidFill>
              <a:srgbClr val="0B304B">
                <a:alpha val="12000"/>
              </a:srgbClr>
            </a:solidFill>
            <a:prstDash val="solid"/>
          </a:ln>
        </p:spPr>
      </p:sp>
      <p:sp>
        <p:nvSpPr>
          <p:cNvPr id="31" name="Shape 29"/>
          <p:cNvSpPr/>
          <p:nvPr/>
        </p:nvSpPr>
        <p:spPr>
          <a:xfrm>
            <a:off x="502920" y="3584448"/>
            <a:ext cx="11201400" cy="0"/>
          </a:xfrm>
          <a:prstGeom prst="line">
            <a:avLst/>
          </a:prstGeom>
          <a:noFill/>
          <a:ln w="5080">
            <a:solidFill>
              <a:srgbClr val="0B304B">
                <a:alpha val="12000"/>
              </a:srgbClr>
            </a:solidFill>
            <a:prstDash val="solid"/>
          </a:ln>
        </p:spPr>
      </p:sp>
      <p:sp>
        <p:nvSpPr>
          <p:cNvPr id="32" name="Shape 30"/>
          <p:cNvSpPr/>
          <p:nvPr/>
        </p:nvSpPr>
        <p:spPr>
          <a:xfrm>
            <a:off x="502920" y="4087368"/>
            <a:ext cx="11201400" cy="0"/>
          </a:xfrm>
          <a:prstGeom prst="line">
            <a:avLst/>
          </a:prstGeom>
          <a:noFill/>
          <a:ln w="5080">
            <a:solidFill>
              <a:srgbClr val="0B304B">
                <a:alpha val="12000"/>
              </a:srgbClr>
            </a:solidFill>
            <a:prstDash val="solid"/>
          </a:ln>
        </p:spPr>
      </p:sp>
      <p:sp>
        <p:nvSpPr>
          <p:cNvPr id="33" name="Shape 31"/>
          <p:cNvSpPr/>
          <p:nvPr/>
        </p:nvSpPr>
        <p:spPr>
          <a:xfrm>
            <a:off x="502920" y="4590288"/>
            <a:ext cx="11201400" cy="0"/>
          </a:xfrm>
          <a:prstGeom prst="line">
            <a:avLst/>
          </a:prstGeom>
          <a:noFill/>
          <a:ln w="5080">
            <a:solidFill>
              <a:srgbClr val="0B304B">
                <a:alpha val="12000"/>
              </a:srgbClr>
            </a:solidFill>
            <a:prstDash val="solid"/>
          </a:ln>
        </p:spPr>
      </p:sp>
      <p:sp>
        <p:nvSpPr>
          <p:cNvPr id="34" name="Shape 32"/>
          <p:cNvSpPr/>
          <p:nvPr/>
        </p:nvSpPr>
        <p:spPr>
          <a:xfrm>
            <a:off x="502920" y="5093208"/>
            <a:ext cx="11201400" cy="0"/>
          </a:xfrm>
          <a:prstGeom prst="line">
            <a:avLst/>
          </a:prstGeom>
          <a:noFill/>
          <a:ln w="5080">
            <a:solidFill>
              <a:srgbClr val="0B304B">
                <a:alpha val="12000"/>
              </a:srgbClr>
            </a:solidFill>
            <a:prstDash val="solid"/>
          </a:ln>
        </p:spPr>
      </p:sp>
      <p:sp>
        <p:nvSpPr>
          <p:cNvPr id="35" name="Shape 33"/>
          <p:cNvSpPr/>
          <p:nvPr/>
        </p:nvSpPr>
        <p:spPr>
          <a:xfrm>
            <a:off x="502920" y="5596128"/>
            <a:ext cx="11201400" cy="0"/>
          </a:xfrm>
          <a:prstGeom prst="line">
            <a:avLst/>
          </a:prstGeom>
          <a:noFill/>
          <a:ln w="5080">
            <a:solidFill>
              <a:srgbClr val="0B304B">
                <a:alpha val="12000"/>
              </a:srgbClr>
            </a:solidFill>
            <a:prstDash val="solid"/>
          </a:ln>
        </p:spPr>
      </p:sp>
      <p:sp>
        <p:nvSpPr>
          <p:cNvPr id="36" name="Shape 34"/>
          <p:cNvSpPr/>
          <p:nvPr/>
        </p:nvSpPr>
        <p:spPr>
          <a:xfrm>
            <a:off x="502920" y="6099048"/>
            <a:ext cx="11201400" cy="0"/>
          </a:xfrm>
          <a:prstGeom prst="line">
            <a:avLst/>
          </a:prstGeom>
          <a:noFill/>
          <a:ln w="5080">
            <a:solidFill>
              <a:srgbClr val="0B304B">
                <a:alpha val="12000"/>
              </a:srgbClr>
            </a:solidFill>
            <a:prstDash val="solid"/>
          </a:ln>
        </p:spPr>
      </p:sp>
      <p:sp>
        <p:nvSpPr>
          <p:cNvPr id="37" name="Shape 35"/>
          <p:cNvSpPr/>
          <p:nvPr/>
        </p:nvSpPr>
        <p:spPr>
          <a:xfrm>
            <a:off x="502920" y="320040"/>
            <a:ext cx="1417320" cy="256032"/>
          </a:xfrm>
          <a:prstGeom prst="roundRect">
            <a:avLst>
              <a:gd name="adj" fmla="val 17857"/>
            </a:avLst>
          </a:prstGeom>
          <a:solidFill>
            <a:srgbClr val="09273D"/>
          </a:solidFill>
          <a:ln w="10160">
            <a:solidFill>
              <a:srgbClr val="16DFF7">
                <a:alpha val="65000"/>
              </a:srgbClr>
            </a:solidFill>
            <a:prstDash val="solid"/>
          </a:ln>
        </p:spPr>
      </p:sp>
      <p:sp>
        <p:nvSpPr>
          <p:cNvPr id="38"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16DFF7"/>
                </a:solidFill>
                <a:latin typeface="Aptos" pitchFamily="34" charset="0"/>
                <a:ea typeface="Aptos" pitchFamily="34" charset="-122"/>
                <a:cs typeface="Aptos" pitchFamily="34" charset="-120"/>
              </a:rPr>
              <a:t>AGENCY ROLES</a:t>
            </a:r>
            <a:endParaRPr lang="en-US" sz="560" dirty="0"/>
          </a:p>
        </p:txBody>
      </p:sp>
      <p:sp>
        <p:nvSpPr>
          <p:cNvPr id="39"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NTSB vs FAA: Key Roles</a:t>
            </a:r>
            <a:endParaRPr lang="en-US" sz="2350" dirty="0"/>
          </a:p>
        </p:txBody>
      </p:sp>
      <p:pic>
        <p:nvPicPr>
          <p:cNvPr id="40" name="Image 0" descr="/mnt/data/radar_sweep.gif"/>
          <p:cNvPicPr>
            <a:picLocks noChangeAspect="1"/>
          </p:cNvPicPr>
          <p:nvPr/>
        </p:nvPicPr>
        <p:blipFill>
          <a:blip r:embed="rId3"/>
          <a:stretch>
            <a:fillRect/>
          </a:stretch>
        </p:blipFill>
        <p:spPr>
          <a:xfrm>
            <a:off x="10625328" y="621792"/>
            <a:ext cx="713232" cy="713232"/>
          </a:xfrm>
          <a:prstGeom prst="rect">
            <a:avLst/>
          </a:prstGeom>
        </p:spPr>
      </p:pic>
      <p:sp>
        <p:nvSpPr>
          <p:cNvPr id="41" name="Shape 38"/>
          <p:cNvSpPr/>
          <p:nvPr/>
        </p:nvSpPr>
        <p:spPr>
          <a:xfrm>
            <a:off x="621792" y="1481328"/>
            <a:ext cx="5303520" cy="4251960"/>
          </a:xfrm>
          <a:prstGeom prst="roundRect">
            <a:avLst>
              <a:gd name="adj" fmla="val 1720"/>
            </a:avLst>
          </a:prstGeom>
          <a:solidFill>
            <a:srgbClr val="0A2035"/>
          </a:solidFill>
          <a:ln w="11430">
            <a:solidFill>
              <a:srgbClr val="163F5D">
                <a:alpha val="90000"/>
              </a:srgbClr>
            </a:solidFill>
            <a:prstDash val="solid"/>
          </a:ln>
          <a:effectLst>
            <a:outerShdw algn="bl" rotWithShape="0">
              <a:srgbClr val="000000">
                <a:alpha val="0"/>
              </a:srgbClr>
            </a:outerShdw>
          </a:effectLst>
        </p:spPr>
      </p:sp>
      <p:sp>
        <p:nvSpPr>
          <p:cNvPr id="42" name="Shape 39"/>
          <p:cNvSpPr/>
          <p:nvPr/>
        </p:nvSpPr>
        <p:spPr>
          <a:xfrm>
            <a:off x="621792" y="1481328"/>
            <a:ext cx="41148" cy="4251960"/>
          </a:xfrm>
          <a:prstGeom prst="rect">
            <a:avLst/>
          </a:prstGeom>
          <a:solidFill>
            <a:srgbClr val="16DFF7"/>
          </a:solidFill>
          <a:ln w="12700">
            <a:solidFill>
              <a:srgbClr val="16DFF7"/>
            </a:solidFill>
            <a:prstDash val="solid"/>
          </a:ln>
        </p:spPr>
      </p:sp>
      <p:sp>
        <p:nvSpPr>
          <p:cNvPr id="43" name="Shape 40"/>
          <p:cNvSpPr/>
          <p:nvPr/>
        </p:nvSpPr>
        <p:spPr>
          <a:xfrm>
            <a:off x="6254496" y="1481328"/>
            <a:ext cx="5303520" cy="4251960"/>
          </a:xfrm>
          <a:prstGeom prst="roundRect">
            <a:avLst>
              <a:gd name="adj" fmla="val 1720"/>
            </a:avLst>
          </a:prstGeom>
          <a:solidFill>
            <a:srgbClr val="102438"/>
          </a:solidFill>
          <a:ln w="11430">
            <a:solidFill>
              <a:srgbClr val="163F5D">
                <a:alpha val="90000"/>
              </a:srgbClr>
            </a:solidFill>
            <a:prstDash val="solid"/>
          </a:ln>
          <a:effectLst>
            <a:outerShdw algn="bl" rotWithShape="0">
              <a:srgbClr val="000000">
                <a:alpha val="0"/>
              </a:srgbClr>
            </a:outerShdw>
          </a:effectLst>
        </p:spPr>
      </p:sp>
      <p:sp>
        <p:nvSpPr>
          <p:cNvPr id="44" name="Shape 41"/>
          <p:cNvSpPr/>
          <p:nvPr/>
        </p:nvSpPr>
        <p:spPr>
          <a:xfrm>
            <a:off x="6254496" y="1481328"/>
            <a:ext cx="41148" cy="4251960"/>
          </a:xfrm>
          <a:prstGeom prst="rect">
            <a:avLst/>
          </a:prstGeom>
          <a:solidFill>
            <a:srgbClr val="FFB22C"/>
          </a:solidFill>
          <a:ln w="12700">
            <a:solidFill>
              <a:srgbClr val="FFB22C"/>
            </a:solidFill>
            <a:prstDash val="solid"/>
          </a:ln>
        </p:spPr>
      </p:sp>
      <p:sp>
        <p:nvSpPr>
          <p:cNvPr id="45" name="Shape 42"/>
          <p:cNvSpPr/>
          <p:nvPr/>
        </p:nvSpPr>
        <p:spPr>
          <a:xfrm>
            <a:off x="969264" y="1810512"/>
            <a:ext cx="658368" cy="658368"/>
          </a:xfrm>
          <a:prstGeom prst="ellipse">
            <a:avLst/>
          </a:prstGeom>
          <a:solidFill>
            <a:srgbClr val="0A314D"/>
          </a:solidFill>
          <a:ln w="12700">
            <a:solidFill>
              <a:srgbClr val="16DFF7"/>
            </a:solidFill>
            <a:prstDash val="solid"/>
          </a:ln>
        </p:spPr>
      </p:sp>
      <p:sp>
        <p:nvSpPr>
          <p:cNvPr id="46" name="Text 43"/>
          <p:cNvSpPr/>
          <p:nvPr/>
        </p:nvSpPr>
        <p:spPr>
          <a:xfrm>
            <a:off x="969264" y="1965960"/>
            <a:ext cx="658368" cy="201168"/>
          </a:xfrm>
          <a:prstGeom prst="rect">
            <a:avLst/>
          </a:prstGeom>
          <a:noFill/>
          <a:ln/>
        </p:spPr>
        <p:txBody>
          <a:bodyPr wrap="square" lIns="0" tIns="0" rIns="0" bIns="0" rtlCol="0" anchor="ctr"/>
          <a:lstStyle/>
          <a:p>
            <a:pPr marL="0" indent="0" algn="ctr">
              <a:buNone/>
            </a:pPr>
            <a:r>
              <a:rPr lang="en-US" sz="1500" b="1" dirty="0">
                <a:solidFill>
                  <a:srgbClr val="16DFF7"/>
                </a:solidFill>
              </a:rPr>
              <a:t>N</a:t>
            </a:r>
            <a:endParaRPr lang="en-US" sz="1500" dirty="0"/>
          </a:p>
        </p:txBody>
      </p:sp>
      <p:sp>
        <p:nvSpPr>
          <p:cNvPr id="47" name="Text 44"/>
          <p:cNvSpPr/>
          <p:nvPr/>
        </p:nvSpPr>
        <p:spPr>
          <a:xfrm>
            <a:off x="1810512" y="1892808"/>
            <a:ext cx="1463040" cy="329184"/>
          </a:xfrm>
          <a:prstGeom prst="rect">
            <a:avLst/>
          </a:prstGeom>
          <a:noFill/>
          <a:ln/>
        </p:spPr>
        <p:txBody>
          <a:bodyPr wrap="square" lIns="0" tIns="0" rIns="0" bIns="0" rtlCol="0" anchor="ctr"/>
          <a:lstStyle/>
          <a:p>
            <a:pPr marL="0" indent="0">
              <a:buNone/>
            </a:pPr>
            <a:r>
              <a:rPr lang="en-US" sz="1800" b="1" dirty="0">
                <a:solidFill>
                  <a:srgbClr val="F5FAFE"/>
                </a:solidFill>
              </a:rPr>
              <a:t>NTSB</a:t>
            </a:r>
            <a:endParaRPr lang="en-US" sz="1800" dirty="0"/>
          </a:p>
        </p:txBody>
      </p:sp>
      <p:sp>
        <p:nvSpPr>
          <p:cNvPr id="48" name="Text 45"/>
          <p:cNvSpPr/>
          <p:nvPr/>
        </p:nvSpPr>
        <p:spPr>
          <a:xfrm>
            <a:off x="978408" y="2670048"/>
            <a:ext cx="4453128" cy="2514600"/>
          </a:xfrm>
          <a:prstGeom prst="rect">
            <a:avLst/>
          </a:prstGeom>
          <a:noFill/>
          <a:ln/>
        </p:spPr>
        <p:txBody>
          <a:bodyPr wrap="square" lIns="381" tIns="381" rIns="381" bIns="381" rtlCol="0" anchor="ctr">
            <a:normAutofit/>
          </a:bodyPr>
          <a:lstStyle/>
          <a:p>
            <a:pPr marL="0" indent="0">
              <a:buNone/>
            </a:pPr>
            <a:r>
              <a:rPr lang="en-US" sz="1140" b="1" dirty="0">
                <a:solidFill>
                  <a:srgbClr val="16DFF7"/>
                </a:solidFill>
              </a:rPr>
              <a:t>Independent Investigator: </a:t>
            </a:r>
            <a:r>
              <a:rPr lang="en-US" sz="1140" dirty="0">
                <a:solidFill>
                  <a:srgbClr val="DDEAF2"/>
                </a:solidFill>
              </a:rPr>
              <a:t>Lead agency in investigating civil aviation accidents in the U.S.</a:t>
            </a:r>
            <a:endParaRPr lang="en-US" sz="1140" dirty="0"/>
          </a:p>
          <a:p>
            <a:pPr marL="0" indent="0">
              <a:buNone/>
            </a:pPr>
            <a:endParaRPr lang="en-US" sz="1140" dirty="0"/>
          </a:p>
          <a:p>
            <a:pPr marL="0" indent="0">
              <a:buNone/>
            </a:pPr>
            <a:r>
              <a:rPr lang="en-US" sz="1140" b="1" dirty="0">
                <a:solidFill>
                  <a:srgbClr val="16DFF7"/>
                </a:solidFill>
              </a:rPr>
              <a:t>No Regulatory Power: </a:t>
            </a:r>
            <a:endParaRPr lang="en-US" sz="1140" dirty="0"/>
          </a:p>
          <a:p>
            <a:pPr marL="0" indent="0">
              <a:buNone/>
            </a:pPr>
            <a:r>
              <a:rPr lang="en-US" sz="1140" dirty="0">
                <a:solidFill>
                  <a:srgbClr val="DDEAF2"/>
                </a:solidFill>
              </a:rPr>
              <a:t>Cannot issue fines or binding laws; focuses solely on determining probable cause and safety</a:t>
            </a:r>
            <a:endParaRPr lang="en-US" sz="1140" dirty="0"/>
          </a:p>
          <a:p>
            <a:pPr marL="0" indent="0">
              <a:buNone/>
            </a:pPr>
            <a:r>
              <a:rPr lang="en-US" sz="1140" dirty="0">
                <a:solidFill>
                  <a:srgbClr val="DDEAF2"/>
                </a:solidFill>
              </a:rPr>
              <a:t>Recommendations</a:t>
            </a:r>
            <a:endParaRPr lang="en-US" sz="1140" dirty="0"/>
          </a:p>
        </p:txBody>
      </p:sp>
      <p:sp>
        <p:nvSpPr>
          <p:cNvPr id="49" name="Shape 46"/>
          <p:cNvSpPr/>
          <p:nvPr/>
        </p:nvSpPr>
        <p:spPr>
          <a:xfrm>
            <a:off x="6583680" y="1810512"/>
            <a:ext cx="658368" cy="658368"/>
          </a:xfrm>
          <a:prstGeom prst="ellipse">
            <a:avLst/>
          </a:prstGeom>
          <a:solidFill>
            <a:srgbClr val="352912"/>
          </a:solidFill>
          <a:ln w="12700">
            <a:solidFill>
              <a:srgbClr val="FFB22C"/>
            </a:solidFill>
            <a:prstDash val="solid"/>
          </a:ln>
        </p:spPr>
      </p:sp>
      <p:sp>
        <p:nvSpPr>
          <p:cNvPr id="50" name="Text 47"/>
          <p:cNvSpPr/>
          <p:nvPr/>
        </p:nvSpPr>
        <p:spPr>
          <a:xfrm>
            <a:off x="6583680" y="1965960"/>
            <a:ext cx="658368" cy="201168"/>
          </a:xfrm>
          <a:prstGeom prst="rect">
            <a:avLst/>
          </a:prstGeom>
          <a:noFill/>
          <a:ln/>
        </p:spPr>
        <p:txBody>
          <a:bodyPr wrap="square" lIns="0" tIns="0" rIns="0" bIns="0" rtlCol="0" anchor="ctr"/>
          <a:lstStyle/>
          <a:p>
            <a:pPr marL="0" indent="0" algn="ctr">
              <a:buNone/>
            </a:pPr>
            <a:r>
              <a:rPr lang="en-US" sz="1500" b="1" dirty="0">
                <a:solidFill>
                  <a:srgbClr val="FFB22C"/>
                </a:solidFill>
              </a:rPr>
              <a:t>F</a:t>
            </a:r>
            <a:endParaRPr lang="en-US" sz="1500" dirty="0"/>
          </a:p>
        </p:txBody>
      </p:sp>
      <p:sp>
        <p:nvSpPr>
          <p:cNvPr id="51" name="Text 48"/>
          <p:cNvSpPr/>
          <p:nvPr/>
        </p:nvSpPr>
        <p:spPr>
          <a:xfrm>
            <a:off x="7434072" y="1892808"/>
            <a:ext cx="1463040" cy="329184"/>
          </a:xfrm>
          <a:prstGeom prst="rect">
            <a:avLst/>
          </a:prstGeom>
          <a:noFill/>
          <a:ln/>
        </p:spPr>
        <p:txBody>
          <a:bodyPr wrap="square" lIns="0" tIns="0" rIns="0" bIns="0" rtlCol="0" anchor="ctr"/>
          <a:lstStyle/>
          <a:p>
            <a:pPr marL="0" indent="0">
              <a:buNone/>
            </a:pPr>
            <a:r>
              <a:rPr lang="en-US" sz="1800" b="1" dirty="0">
                <a:solidFill>
                  <a:srgbClr val="F5FAFE"/>
                </a:solidFill>
              </a:rPr>
              <a:t>FAA</a:t>
            </a:r>
            <a:endParaRPr lang="en-US" sz="1800" dirty="0"/>
          </a:p>
        </p:txBody>
      </p:sp>
      <p:sp>
        <p:nvSpPr>
          <p:cNvPr id="52" name="Text 49"/>
          <p:cNvSpPr/>
          <p:nvPr/>
        </p:nvSpPr>
        <p:spPr>
          <a:xfrm>
            <a:off x="6583680" y="2670048"/>
            <a:ext cx="4443984" cy="2514600"/>
          </a:xfrm>
          <a:prstGeom prst="rect">
            <a:avLst/>
          </a:prstGeom>
          <a:noFill/>
          <a:ln/>
        </p:spPr>
        <p:txBody>
          <a:bodyPr wrap="square" lIns="381" tIns="381" rIns="381" bIns="381" rtlCol="0" anchor="ctr">
            <a:normAutofit/>
          </a:bodyPr>
          <a:lstStyle/>
          <a:p>
            <a:pPr marL="0" indent="0">
              <a:buNone/>
            </a:pPr>
            <a:r>
              <a:rPr lang="en-US" sz="1140" b="1" dirty="0">
                <a:solidFill>
                  <a:srgbClr val="FFB22C"/>
                </a:solidFill>
              </a:rPr>
              <a:t>Regulatory &amp; Operational Body: </a:t>
            </a:r>
            <a:r>
              <a:rPr lang="en-US" sz="1140" dirty="0">
                <a:solidFill>
                  <a:srgbClr val="DDEAF2"/>
                </a:solidFill>
              </a:rPr>
              <a:t>Manages air traffic control, certifies pilots, and sets airworthiness standards.</a:t>
            </a:r>
            <a:endParaRPr lang="en-US" sz="1140" dirty="0"/>
          </a:p>
          <a:p>
            <a:pPr marL="0" indent="0">
              <a:buNone/>
            </a:pPr>
            <a:endParaRPr lang="en-US" sz="1140" dirty="0"/>
          </a:p>
          <a:p>
            <a:pPr marL="0" indent="0">
              <a:buNone/>
            </a:pPr>
            <a:r>
              <a:rPr lang="en-US" sz="1140" b="1" dirty="0">
                <a:solidFill>
                  <a:srgbClr val="FFB22C"/>
                </a:solidFill>
              </a:rPr>
              <a:t>Enforcement Mandate: </a:t>
            </a:r>
            <a:endParaRPr lang="en-US" sz="1140" dirty="0"/>
          </a:p>
          <a:p>
            <a:pPr marL="0" indent="0">
              <a:buNone/>
            </a:pPr>
            <a:r>
              <a:rPr lang="en-US" sz="1140" dirty="0">
                <a:solidFill>
                  <a:srgbClr val="DDEAF2"/>
                </a:solidFill>
              </a:rPr>
              <a:t>Can issue Airworthiness Directives (ADs), impose fines, or revoke certifications.</a:t>
            </a:r>
            <a:endParaRPr lang="en-US" sz="1140" dirty="0"/>
          </a:p>
        </p:txBody>
      </p:sp>
      <p:sp>
        <p:nvSpPr>
          <p:cNvPr id="53" name="Shape 50">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54" name="Text 51">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55" name="Shape 52">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56" name="Text 53">
            <a:hlinkClick r:id="rId5" action="ppaction://hlinksldjump"/>
          </p:cNvPr>
          <p:cNvSpPr/>
          <p:nvPr/>
        </p:nvSpPr>
        <p:spPr>
          <a:xfrm>
            <a:off x="10936224"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57"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wide_cinematic_scene_a_dusk_dawn_airport_crash_in.png"/>
          <p:cNvPicPr>
            <a:picLocks noChangeAspect="1"/>
          </p:cNvPicPr>
          <p:nvPr/>
        </p:nvPicPr>
        <p:blipFill>
          <a:blip r:embed="rId3"/>
          <a:srcRect l="26761" r="26761"/>
          <a:stretch/>
        </p:blipFill>
        <p:spPr>
          <a:xfrm>
            <a:off x="6812280" y="0"/>
            <a:ext cx="5376672" cy="6510528"/>
          </a:xfrm>
          <a:prstGeom prst="rect">
            <a:avLst/>
          </a:prstGeom>
        </p:spPr>
      </p:pic>
      <p:sp>
        <p:nvSpPr>
          <p:cNvPr id="3" name="Shape 0"/>
          <p:cNvSpPr/>
          <p:nvPr/>
        </p:nvSpPr>
        <p:spPr>
          <a:xfrm>
            <a:off x="0" y="0"/>
            <a:ext cx="7406640" cy="6510528"/>
          </a:xfrm>
          <a:prstGeom prst="rect">
            <a:avLst/>
          </a:prstGeom>
          <a:solidFill>
            <a:srgbClr val="061525"/>
          </a:solidFill>
          <a:ln w="12700">
            <a:solidFill>
              <a:srgbClr val="333333">
                <a:alpha val="0"/>
              </a:srgbClr>
            </a:solidFill>
            <a:prstDash val="solid"/>
          </a:ln>
        </p:spPr>
      </p:sp>
      <p:sp>
        <p:nvSpPr>
          <p:cNvPr id="4" name="Shape 1"/>
          <p:cNvSpPr/>
          <p:nvPr/>
        </p:nvSpPr>
        <p:spPr>
          <a:xfrm>
            <a:off x="6035040" y="0"/>
            <a:ext cx="1920240" cy="6510528"/>
          </a:xfrm>
          <a:prstGeom prst="rect">
            <a:avLst/>
          </a:prstGeom>
          <a:solidFill>
            <a:srgbClr val="061525">
              <a:alpha val="85000"/>
            </a:srgbClr>
          </a:solidFill>
          <a:ln w="12700">
            <a:solidFill>
              <a:srgbClr val="333333">
                <a:alpha val="0"/>
              </a:srgbClr>
            </a:solidFill>
            <a:prstDash val="solid"/>
          </a:ln>
        </p:spPr>
      </p:sp>
      <p:sp>
        <p:nvSpPr>
          <p:cNvPr id="5" name="Shape 2"/>
          <p:cNvSpPr/>
          <p:nvPr/>
        </p:nvSpPr>
        <p:spPr>
          <a:xfrm>
            <a:off x="502920" y="320040"/>
            <a:ext cx="1417320" cy="256032"/>
          </a:xfrm>
          <a:prstGeom prst="roundRect">
            <a:avLst>
              <a:gd name="adj" fmla="val 17857"/>
            </a:avLst>
          </a:prstGeom>
          <a:solidFill>
            <a:srgbClr val="09273D"/>
          </a:solidFill>
          <a:ln w="10160">
            <a:solidFill>
              <a:srgbClr val="16DFF7">
                <a:alpha val="65000"/>
              </a:srgbClr>
            </a:solidFill>
            <a:prstDash val="solid"/>
          </a:ln>
        </p:spPr>
      </p:sp>
      <p:sp>
        <p:nvSpPr>
          <p:cNvPr id="6" name="Text 3"/>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16DFF7"/>
                </a:solidFill>
                <a:latin typeface="Aptos" pitchFamily="34" charset="0"/>
                <a:ea typeface="Aptos" pitchFamily="34" charset="-122"/>
                <a:cs typeface="Aptos" pitchFamily="34" charset="-120"/>
              </a:rPr>
              <a:t>NTSB</a:t>
            </a:r>
            <a:endParaRPr lang="en-US" sz="560" dirty="0"/>
          </a:p>
        </p:txBody>
      </p:sp>
      <p:sp>
        <p:nvSpPr>
          <p:cNvPr id="7" name="Text 4"/>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NTSB: Independent Inquiries</a:t>
            </a:r>
            <a:endParaRPr lang="en-US" sz="2350" dirty="0"/>
          </a:p>
        </p:txBody>
      </p:sp>
      <p:sp>
        <p:nvSpPr>
          <p:cNvPr id="8" name="Text 5"/>
          <p:cNvSpPr/>
          <p:nvPr/>
        </p:nvSpPr>
        <p:spPr>
          <a:xfrm>
            <a:off x="548640" y="1161288"/>
            <a:ext cx="8046720" cy="292608"/>
          </a:xfrm>
          <a:prstGeom prst="rect">
            <a:avLst/>
          </a:prstGeom>
          <a:noFill/>
          <a:ln/>
        </p:spPr>
        <p:txBody>
          <a:bodyPr wrap="square" lIns="0" tIns="0" rIns="0" bIns="0" rtlCol="0" anchor="ctr">
            <a:normAutofit/>
          </a:bodyPr>
          <a:lstStyle/>
          <a:p>
            <a:pPr marL="0" indent="0">
              <a:buNone/>
            </a:pPr>
            <a:r>
              <a:rPr lang="en-US" sz="900" dirty="0">
                <a:solidFill>
                  <a:srgbClr val="8FA9B9"/>
                </a:solidFill>
                <a:latin typeface="Aptos" pitchFamily="34" charset="0"/>
                <a:ea typeface="Aptos" pitchFamily="34" charset="-122"/>
                <a:cs typeface="Aptos" pitchFamily="34" charset="-120"/>
              </a:rPr>
              <a:t>The "Go Team" Deployment</a:t>
            </a:r>
            <a:endParaRPr lang="en-US" sz="900" dirty="0"/>
          </a:p>
        </p:txBody>
      </p:sp>
      <p:sp>
        <p:nvSpPr>
          <p:cNvPr id="9" name="Shape 6"/>
          <p:cNvSpPr/>
          <p:nvPr/>
        </p:nvSpPr>
        <p:spPr>
          <a:xfrm>
            <a:off x="640080" y="1719072"/>
            <a:ext cx="5440680" cy="3639312"/>
          </a:xfrm>
          <a:prstGeom prst="roundRect">
            <a:avLst>
              <a:gd name="adj" fmla="val 2010"/>
            </a:avLst>
          </a:prstGeom>
          <a:solidFill>
            <a:srgbClr val="081D31"/>
          </a:solidFill>
          <a:ln w="11430">
            <a:solidFill>
              <a:srgbClr val="163F5D">
                <a:alpha val="90000"/>
              </a:srgbClr>
            </a:solidFill>
            <a:prstDash val="solid"/>
          </a:ln>
          <a:effectLst>
            <a:outerShdw algn="bl" rotWithShape="0">
              <a:srgbClr val="000000">
                <a:alpha val="0"/>
              </a:srgbClr>
            </a:outerShdw>
          </a:effectLst>
        </p:spPr>
      </p:sp>
      <p:sp>
        <p:nvSpPr>
          <p:cNvPr id="10" name="Shape 7"/>
          <p:cNvSpPr/>
          <p:nvPr/>
        </p:nvSpPr>
        <p:spPr>
          <a:xfrm>
            <a:off x="640080" y="1719072"/>
            <a:ext cx="41148" cy="3639312"/>
          </a:xfrm>
          <a:prstGeom prst="rect">
            <a:avLst/>
          </a:prstGeom>
          <a:solidFill>
            <a:srgbClr val="16DFF7"/>
          </a:solidFill>
          <a:ln w="12700">
            <a:solidFill>
              <a:srgbClr val="16DFF7"/>
            </a:solidFill>
            <a:prstDash val="solid"/>
          </a:ln>
        </p:spPr>
      </p:sp>
      <p:sp>
        <p:nvSpPr>
          <p:cNvPr id="11" name="Text 8"/>
          <p:cNvSpPr/>
          <p:nvPr/>
        </p:nvSpPr>
        <p:spPr>
          <a:xfrm>
            <a:off x="941832" y="2011680"/>
            <a:ext cx="4709160" cy="1234440"/>
          </a:xfrm>
          <a:prstGeom prst="rect">
            <a:avLst/>
          </a:prstGeom>
          <a:noFill/>
          <a:ln/>
        </p:spPr>
        <p:txBody>
          <a:bodyPr wrap="square" lIns="254" tIns="254" rIns="254" bIns="254" rtlCol="0" anchor="ctr">
            <a:normAutofit/>
          </a:bodyPr>
          <a:lstStyle/>
          <a:p>
            <a:pPr marL="0" indent="0">
              <a:buNone/>
            </a:pPr>
            <a:r>
              <a:rPr lang="en-US" sz="1210" dirty="0">
                <a:solidFill>
                  <a:srgbClr val="DDEAF2"/>
                </a:solidFill>
              </a:rPr>
              <a:t>Upon notification of a major crash, the NTSB deploys a multi- disciplinary "Go Team" consisting of experts in systems, engines, structures, and human performance.</a:t>
            </a:r>
            <a:endParaRPr lang="en-US" sz="1210" dirty="0"/>
          </a:p>
        </p:txBody>
      </p:sp>
      <p:sp>
        <p:nvSpPr>
          <p:cNvPr id="12" name="Shape 9"/>
          <p:cNvSpPr/>
          <p:nvPr/>
        </p:nvSpPr>
        <p:spPr>
          <a:xfrm>
            <a:off x="932688" y="3447288"/>
            <a:ext cx="4434840" cy="0"/>
          </a:xfrm>
          <a:prstGeom prst="line">
            <a:avLst/>
          </a:prstGeom>
          <a:noFill/>
          <a:ln w="12700">
            <a:solidFill>
              <a:srgbClr val="19415A"/>
            </a:solidFill>
            <a:prstDash val="solid"/>
          </a:ln>
        </p:spPr>
      </p:sp>
      <p:sp>
        <p:nvSpPr>
          <p:cNvPr id="13" name="Text 10"/>
          <p:cNvSpPr/>
          <p:nvPr/>
        </p:nvSpPr>
        <p:spPr>
          <a:xfrm>
            <a:off x="941832" y="3712464"/>
            <a:ext cx="4709160" cy="1033272"/>
          </a:xfrm>
          <a:prstGeom prst="rect">
            <a:avLst/>
          </a:prstGeom>
          <a:noFill/>
          <a:ln/>
        </p:spPr>
        <p:txBody>
          <a:bodyPr wrap="square" lIns="254" tIns="254" rIns="254" bIns="254" rtlCol="0" anchor="ctr">
            <a:normAutofit/>
          </a:bodyPr>
          <a:lstStyle/>
          <a:p>
            <a:pPr marL="0" indent="0">
              <a:buNone/>
            </a:pPr>
            <a:r>
              <a:rPr lang="en-US" sz="1160" b="1" dirty="0">
                <a:solidFill>
                  <a:srgbClr val="16DFF7"/>
                </a:solidFill>
              </a:rPr>
              <a:t>Party system: </a:t>
            </a:r>
            <a:r>
              <a:rPr lang="en-US" sz="1160" dirty="0">
                <a:solidFill>
                  <a:srgbClr val="DDEAF2"/>
                </a:solidFill>
              </a:rPr>
              <a:t>Invites manufacturers and operators to provide technical assistance under strict NTSB supervision.</a:t>
            </a:r>
            <a:endParaRPr lang="en-US" sz="1160" dirty="0"/>
          </a:p>
        </p:txBody>
      </p:sp>
      <p:pic>
        <p:nvPicPr>
          <p:cNvPr id="14" name="Image 1" descr="/mnt/data/radar_sweep.gif"/>
          <p:cNvPicPr>
            <a:picLocks noChangeAspect="1"/>
          </p:cNvPicPr>
          <p:nvPr/>
        </p:nvPicPr>
        <p:blipFill>
          <a:blip r:embed="rId4"/>
          <a:stretch>
            <a:fillRect/>
          </a:stretch>
        </p:blipFill>
        <p:spPr>
          <a:xfrm>
            <a:off x="5504688" y="4800600"/>
            <a:ext cx="493776" cy="493776"/>
          </a:xfrm>
          <a:prstGeom prst="rect">
            <a:avLst/>
          </a:prstGeom>
        </p:spPr>
      </p:pic>
      <p:sp>
        <p:nvSpPr>
          <p:cNvPr id="15" name="Shape 11">
            <a:hlinkClick r:id="rId5"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16" name="Text 12">
            <a:hlinkClick r:id="rId5"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17" name="Shape 13">
            <a:hlinkClick r:id="rId6"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18" name="Text 14">
            <a:hlinkClick r:id="rId6" action="ppaction://hlinksldjump"/>
          </p:cNvPr>
          <p:cNvSpPr/>
          <p:nvPr/>
        </p:nvSpPr>
        <p:spPr>
          <a:xfrm>
            <a:off x="10936224"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6" action="ppaction://hlinksldjump">
                  <a:extLst>
                    <a:ext uri="{A12FA001-AC4F-418D-AE19-62706E023703}">
                      <ahyp:hlinkClr xmlns:ahyp="http://schemas.microsoft.com/office/drawing/2018/hyperlinkcolor" val="tx"/>
                    </a:ext>
                  </a:extLst>
                </a:hlinkClick>
              </a:rPr>
              <a:t>›</a:t>
            </a:r>
            <a:endParaRPr lang="en-US" sz="1700" dirty="0"/>
          </a:p>
        </p:txBody>
      </p:sp>
      <p:sp>
        <p:nvSpPr>
          <p:cNvPr id="25"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a_wide_cinematic_high_tech_air_traffic_aviation.png"/>
          <p:cNvPicPr>
            <a:picLocks noChangeAspect="1"/>
          </p:cNvPicPr>
          <p:nvPr/>
        </p:nvPicPr>
        <p:blipFill>
          <a:blip r:embed="rId3"/>
          <a:srcRect l="22432" r="22432"/>
          <a:stretch/>
        </p:blipFill>
        <p:spPr>
          <a:xfrm>
            <a:off x="6309360" y="713232"/>
            <a:ext cx="5285232" cy="5394960"/>
          </a:xfrm>
          <a:prstGeom prst="rect">
            <a:avLst/>
          </a:prstGeom>
        </p:spPr>
      </p:pic>
      <p:sp>
        <p:nvSpPr>
          <p:cNvPr id="3" name="Shape 0"/>
          <p:cNvSpPr/>
          <p:nvPr/>
        </p:nvSpPr>
        <p:spPr>
          <a:xfrm>
            <a:off x="548640" y="502920"/>
            <a:ext cx="0" cy="5715000"/>
          </a:xfrm>
          <a:prstGeom prst="line">
            <a:avLst/>
          </a:prstGeom>
          <a:noFill/>
          <a:ln w="5080">
            <a:solidFill>
              <a:srgbClr val="0B304B">
                <a:alpha val="2000"/>
              </a:srgbClr>
            </a:solidFill>
            <a:prstDash val="solid"/>
          </a:ln>
        </p:spPr>
      </p:sp>
      <p:sp>
        <p:nvSpPr>
          <p:cNvPr id="4" name="Shape 1"/>
          <p:cNvSpPr/>
          <p:nvPr/>
        </p:nvSpPr>
        <p:spPr>
          <a:xfrm>
            <a:off x="1051560" y="502920"/>
            <a:ext cx="0" cy="5715000"/>
          </a:xfrm>
          <a:prstGeom prst="line">
            <a:avLst/>
          </a:prstGeom>
          <a:noFill/>
          <a:ln w="5080">
            <a:solidFill>
              <a:srgbClr val="0B304B">
                <a:alpha val="2000"/>
              </a:srgbClr>
            </a:solidFill>
            <a:prstDash val="solid"/>
          </a:ln>
        </p:spPr>
      </p:sp>
      <p:sp>
        <p:nvSpPr>
          <p:cNvPr id="5" name="Shape 2"/>
          <p:cNvSpPr/>
          <p:nvPr/>
        </p:nvSpPr>
        <p:spPr>
          <a:xfrm>
            <a:off x="1554480" y="502920"/>
            <a:ext cx="0" cy="5715000"/>
          </a:xfrm>
          <a:prstGeom prst="line">
            <a:avLst/>
          </a:prstGeom>
          <a:noFill/>
          <a:ln w="5080">
            <a:solidFill>
              <a:srgbClr val="0B304B">
                <a:alpha val="2000"/>
              </a:srgbClr>
            </a:solidFill>
            <a:prstDash val="solid"/>
          </a:ln>
        </p:spPr>
      </p:sp>
      <p:sp>
        <p:nvSpPr>
          <p:cNvPr id="6" name="Shape 3"/>
          <p:cNvSpPr/>
          <p:nvPr/>
        </p:nvSpPr>
        <p:spPr>
          <a:xfrm>
            <a:off x="2057400" y="502920"/>
            <a:ext cx="0" cy="5715000"/>
          </a:xfrm>
          <a:prstGeom prst="line">
            <a:avLst/>
          </a:prstGeom>
          <a:noFill/>
          <a:ln w="5080">
            <a:solidFill>
              <a:srgbClr val="0B304B">
                <a:alpha val="2000"/>
              </a:srgbClr>
            </a:solidFill>
            <a:prstDash val="solid"/>
          </a:ln>
        </p:spPr>
      </p:sp>
      <p:sp>
        <p:nvSpPr>
          <p:cNvPr id="7" name="Shape 4"/>
          <p:cNvSpPr/>
          <p:nvPr/>
        </p:nvSpPr>
        <p:spPr>
          <a:xfrm>
            <a:off x="2560320" y="502920"/>
            <a:ext cx="0" cy="5715000"/>
          </a:xfrm>
          <a:prstGeom prst="line">
            <a:avLst/>
          </a:prstGeom>
          <a:noFill/>
          <a:ln w="5080">
            <a:solidFill>
              <a:srgbClr val="0B304B">
                <a:alpha val="2000"/>
              </a:srgbClr>
            </a:solidFill>
            <a:prstDash val="solid"/>
          </a:ln>
        </p:spPr>
      </p:sp>
      <p:sp>
        <p:nvSpPr>
          <p:cNvPr id="8" name="Shape 5"/>
          <p:cNvSpPr/>
          <p:nvPr/>
        </p:nvSpPr>
        <p:spPr>
          <a:xfrm>
            <a:off x="3063240" y="502920"/>
            <a:ext cx="0" cy="5715000"/>
          </a:xfrm>
          <a:prstGeom prst="line">
            <a:avLst/>
          </a:prstGeom>
          <a:noFill/>
          <a:ln w="5080">
            <a:solidFill>
              <a:srgbClr val="0B304B">
                <a:alpha val="2000"/>
              </a:srgbClr>
            </a:solidFill>
            <a:prstDash val="solid"/>
          </a:ln>
        </p:spPr>
      </p:sp>
      <p:sp>
        <p:nvSpPr>
          <p:cNvPr id="9" name="Shape 6"/>
          <p:cNvSpPr/>
          <p:nvPr/>
        </p:nvSpPr>
        <p:spPr>
          <a:xfrm>
            <a:off x="3566160" y="502920"/>
            <a:ext cx="0" cy="5715000"/>
          </a:xfrm>
          <a:prstGeom prst="line">
            <a:avLst/>
          </a:prstGeom>
          <a:noFill/>
          <a:ln w="5080">
            <a:solidFill>
              <a:srgbClr val="0B304B">
                <a:alpha val="2000"/>
              </a:srgbClr>
            </a:solidFill>
            <a:prstDash val="solid"/>
          </a:ln>
        </p:spPr>
      </p:sp>
      <p:sp>
        <p:nvSpPr>
          <p:cNvPr id="10" name="Shape 7"/>
          <p:cNvSpPr/>
          <p:nvPr/>
        </p:nvSpPr>
        <p:spPr>
          <a:xfrm>
            <a:off x="4069080" y="502920"/>
            <a:ext cx="0" cy="5715000"/>
          </a:xfrm>
          <a:prstGeom prst="line">
            <a:avLst/>
          </a:prstGeom>
          <a:noFill/>
          <a:ln w="5080">
            <a:solidFill>
              <a:srgbClr val="0B304B">
                <a:alpha val="2000"/>
              </a:srgbClr>
            </a:solidFill>
            <a:prstDash val="solid"/>
          </a:ln>
        </p:spPr>
      </p:sp>
      <p:sp>
        <p:nvSpPr>
          <p:cNvPr id="11" name="Shape 8"/>
          <p:cNvSpPr/>
          <p:nvPr/>
        </p:nvSpPr>
        <p:spPr>
          <a:xfrm>
            <a:off x="4572000" y="502920"/>
            <a:ext cx="0" cy="5715000"/>
          </a:xfrm>
          <a:prstGeom prst="line">
            <a:avLst/>
          </a:prstGeom>
          <a:noFill/>
          <a:ln w="5080">
            <a:solidFill>
              <a:srgbClr val="0B304B">
                <a:alpha val="2000"/>
              </a:srgbClr>
            </a:solidFill>
            <a:prstDash val="solid"/>
          </a:ln>
        </p:spPr>
      </p:sp>
      <p:sp>
        <p:nvSpPr>
          <p:cNvPr id="12" name="Shape 9"/>
          <p:cNvSpPr/>
          <p:nvPr/>
        </p:nvSpPr>
        <p:spPr>
          <a:xfrm>
            <a:off x="5074920" y="502920"/>
            <a:ext cx="0" cy="5715000"/>
          </a:xfrm>
          <a:prstGeom prst="line">
            <a:avLst/>
          </a:prstGeom>
          <a:noFill/>
          <a:ln w="5080">
            <a:solidFill>
              <a:srgbClr val="0B304B">
                <a:alpha val="2000"/>
              </a:srgbClr>
            </a:solidFill>
            <a:prstDash val="solid"/>
          </a:ln>
        </p:spPr>
      </p:sp>
      <p:sp>
        <p:nvSpPr>
          <p:cNvPr id="13" name="Shape 10"/>
          <p:cNvSpPr/>
          <p:nvPr/>
        </p:nvSpPr>
        <p:spPr>
          <a:xfrm>
            <a:off x="5577840" y="502920"/>
            <a:ext cx="0" cy="5715000"/>
          </a:xfrm>
          <a:prstGeom prst="line">
            <a:avLst/>
          </a:prstGeom>
          <a:noFill/>
          <a:ln w="5080">
            <a:solidFill>
              <a:srgbClr val="0B304B">
                <a:alpha val="2000"/>
              </a:srgbClr>
            </a:solidFill>
            <a:prstDash val="solid"/>
          </a:ln>
        </p:spPr>
      </p:sp>
      <p:sp>
        <p:nvSpPr>
          <p:cNvPr id="14" name="Shape 11"/>
          <p:cNvSpPr/>
          <p:nvPr/>
        </p:nvSpPr>
        <p:spPr>
          <a:xfrm>
            <a:off x="6080760" y="502920"/>
            <a:ext cx="0" cy="5715000"/>
          </a:xfrm>
          <a:prstGeom prst="line">
            <a:avLst/>
          </a:prstGeom>
          <a:noFill/>
          <a:ln w="5080">
            <a:solidFill>
              <a:srgbClr val="0B304B">
                <a:alpha val="2000"/>
              </a:srgbClr>
            </a:solidFill>
            <a:prstDash val="solid"/>
          </a:ln>
        </p:spPr>
      </p:sp>
      <p:sp>
        <p:nvSpPr>
          <p:cNvPr id="15" name="Shape 12"/>
          <p:cNvSpPr/>
          <p:nvPr/>
        </p:nvSpPr>
        <p:spPr>
          <a:xfrm>
            <a:off x="6583680" y="502920"/>
            <a:ext cx="0" cy="5715000"/>
          </a:xfrm>
          <a:prstGeom prst="line">
            <a:avLst/>
          </a:prstGeom>
          <a:noFill/>
          <a:ln w="5080">
            <a:solidFill>
              <a:srgbClr val="0B304B">
                <a:alpha val="2000"/>
              </a:srgbClr>
            </a:solidFill>
            <a:prstDash val="solid"/>
          </a:ln>
        </p:spPr>
      </p:sp>
      <p:sp>
        <p:nvSpPr>
          <p:cNvPr id="16" name="Shape 13"/>
          <p:cNvSpPr/>
          <p:nvPr/>
        </p:nvSpPr>
        <p:spPr>
          <a:xfrm>
            <a:off x="7086600" y="502920"/>
            <a:ext cx="0" cy="5715000"/>
          </a:xfrm>
          <a:prstGeom prst="line">
            <a:avLst/>
          </a:prstGeom>
          <a:noFill/>
          <a:ln w="5080">
            <a:solidFill>
              <a:srgbClr val="0B304B">
                <a:alpha val="2000"/>
              </a:srgbClr>
            </a:solidFill>
            <a:prstDash val="solid"/>
          </a:ln>
        </p:spPr>
      </p:sp>
      <p:sp>
        <p:nvSpPr>
          <p:cNvPr id="17" name="Shape 14"/>
          <p:cNvSpPr/>
          <p:nvPr/>
        </p:nvSpPr>
        <p:spPr>
          <a:xfrm>
            <a:off x="7589520" y="502920"/>
            <a:ext cx="0" cy="5715000"/>
          </a:xfrm>
          <a:prstGeom prst="line">
            <a:avLst/>
          </a:prstGeom>
          <a:noFill/>
          <a:ln w="5080">
            <a:solidFill>
              <a:srgbClr val="0B304B">
                <a:alpha val="2000"/>
              </a:srgbClr>
            </a:solidFill>
            <a:prstDash val="solid"/>
          </a:ln>
        </p:spPr>
      </p:sp>
      <p:sp>
        <p:nvSpPr>
          <p:cNvPr id="18" name="Shape 15"/>
          <p:cNvSpPr/>
          <p:nvPr/>
        </p:nvSpPr>
        <p:spPr>
          <a:xfrm>
            <a:off x="8092440" y="502920"/>
            <a:ext cx="0" cy="5715000"/>
          </a:xfrm>
          <a:prstGeom prst="line">
            <a:avLst/>
          </a:prstGeom>
          <a:noFill/>
          <a:ln w="5080">
            <a:solidFill>
              <a:srgbClr val="0B304B">
                <a:alpha val="2000"/>
              </a:srgbClr>
            </a:solidFill>
            <a:prstDash val="solid"/>
          </a:ln>
        </p:spPr>
      </p:sp>
      <p:sp>
        <p:nvSpPr>
          <p:cNvPr id="19" name="Shape 16"/>
          <p:cNvSpPr/>
          <p:nvPr/>
        </p:nvSpPr>
        <p:spPr>
          <a:xfrm>
            <a:off x="8595360" y="502920"/>
            <a:ext cx="0" cy="5715000"/>
          </a:xfrm>
          <a:prstGeom prst="line">
            <a:avLst/>
          </a:prstGeom>
          <a:noFill/>
          <a:ln w="5080">
            <a:solidFill>
              <a:srgbClr val="0B304B">
                <a:alpha val="2000"/>
              </a:srgbClr>
            </a:solidFill>
            <a:prstDash val="solid"/>
          </a:ln>
        </p:spPr>
      </p:sp>
      <p:sp>
        <p:nvSpPr>
          <p:cNvPr id="20" name="Shape 17"/>
          <p:cNvSpPr/>
          <p:nvPr/>
        </p:nvSpPr>
        <p:spPr>
          <a:xfrm>
            <a:off x="9098280" y="502920"/>
            <a:ext cx="0" cy="5715000"/>
          </a:xfrm>
          <a:prstGeom prst="line">
            <a:avLst/>
          </a:prstGeom>
          <a:noFill/>
          <a:ln w="5080">
            <a:solidFill>
              <a:srgbClr val="0B304B">
                <a:alpha val="2000"/>
              </a:srgbClr>
            </a:solidFill>
            <a:prstDash val="solid"/>
          </a:ln>
        </p:spPr>
      </p:sp>
      <p:sp>
        <p:nvSpPr>
          <p:cNvPr id="21" name="Shape 18"/>
          <p:cNvSpPr/>
          <p:nvPr/>
        </p:nvSpPr>
        <p:spPr>
          <a:xfrm>
            <a:off x="9601200" y="502920"/>
            <a:ext cx="0" cy="5715000"/>
          </a:xfrm>
          <a:prstGeom prst="line">
            <a:avLst/>
          </a:prstGeom>
          <a:noFill/>
          <a:ln w="5080">
            <a:solidFill>
              <a:srgbClr val="0B304B">
                <a:alpha val="2000"/>
              </a:srgbClr>
            </a:solidFill>
            <a:prstDash val="solid"/>
          </a:ln>
        </p:spPr>
      </p:sp>
      <p:sp>
        <p:nvSpPr>
          <p:cNvPr id="22" name="Shape 19"/>
          <p:cNvSpPr/>
          <p:nvPr/>
        </p:nvSpPr>
        <p:spPr>
          <a:xfrm>
            <a:off x="10104120" y="502920"/>
            <a:ext cx="0" cy="5715000"/>
          </a:xfrm>
          <a:prstGeom prst="line">
            <a:avLst/>
          </a:prstGeom>
          <a:noFill/>
          <a:ln w="5080">
            <a:solidFill>
              <a:srgbClr val="0B304B">
                <a:alpha val="2000"/>
              </a:srgbClr>
            </a:solidFill>
            <a:prstDash val="solid"/>
          </a:ln>
        </p:spPr>
      </p:sp>
      <p:sp>
        <p:nvSpPr>
          <p:cNvPr id="23" name="Shape 20"/>
          <p:cNvSpPr/>
          <p:nvPr/>
        </p:nvSpPr>
        <p:spPr>
          <a:xfrm>
            <a:off x="10607040" y="502920"/>
            <a:ext cx="0" cy="5715000"/>
          </a:xfrm>
          <a:prstGeom prst="line">
            <a:avLst/>
          </a:prstGeom>
          <a:noFill/>
          <a:ln w="5080">
            <a:solidFill>
              <a:srgbClr val="0B304B">
                <a:alpha val="2000"/>
              </a:srgbClr>
            </a:solidFill>
            <a:prstDash val="solid"/>
          </a:ln>
        </p:spPr>
      </p:sp>
      <p:sp>
        <p:nvSpPr>
          <p:cNvPr id="24" name="Shape 21"/>
          <p:cNvSpPr/>
          <p:nvPr/>
        </p:nvSpPr>
        <p:spPr>
          <a:xfrm>
            <a:off x="11109960" y="502920"/>
            <a:ext cx="0" cy="5715000"/>
          </a:xfrm>
          <a:prstGeom prst="line">
            <a:avLst/>
          </a:prstGeom>
          <a:noFill/>
          <a:ln w="5080">
            <a:solidFill>
              <a:srgbClr val="0B304B">
                <a:alpha val="2000"/>
              </a:srgbClr>
            </a:solidFill>
            <a:prstDash val="solid"/>
          </a:ln>
        </p:spPr>
      </p:sp>
      <p:sp>
        <p:nvSpPr>
          <p:cNvPr id="25" name="Shape 22"/>
          <p:cNvSpPr/>
          <p:nvPr/>
        </p:nvSpPr>
        <p:spPr>
          <a:xfrm>
            <a:off x="11612880" y="502920"/>
            <a:ext cx="0" cy="5715000"/>
          </a:xfrm>
          <a:prstGeom prst="line">
            <a:avLst/>
          </a:prstGeom>
          <a:noFill/>
          <a:ln w="5080">
            <a:solidFill>
              <a:srgbClr val="0B304B">
                <a:alpha val="2000"/>
              </a:srgbClr>
            </a:solidFill>
            <a:prstDash val="solid"/>
          </a:ln>
        </p:spPr>
      </p:sp>
      <p:sp>
        <p:nvSpPr>
          <p:cNvPr id="26" name="Shape 23"/>
          <p:cNvSpPr/>
          <p:nvPr/>
        </p:nvSpPr>
        <p:spPr>
          <a:xfrm>
            <a:off x="502920" y="566928"/>
            <a:ext cx="11201400" cy="0"/>
          </a:xfrm>
          <a:prstGeom prst="line">
            <a:avLst/>
          </a:prstGeom>
          <a:noFill/>
          <a:ln w="5080">
            <a:solidFill>
              <a:srgbClr val="0B304B">
                <a:alpha val="2000"/>
              </a:srgbClr>
            </a:solidFill>
            <a:prstDash val="solid"/>
          </a:ln>
        </p:spPr>
      </p:sp>
      <p:sp>
        <p:nvSpPr>
          <p:cNvPr id="27" name="Shape 24"/>
          <p:cNvSpPr/>
          <p:nvPr/>
        </p:nvSpPr>
        <p:spPr>
          <a:xfrm>
            <a:off x="502920" y="1069848"/>
            <a:ext cx="11201400" cy="0"/>
          </a:xfrm>
          <a:prstGeom prst="line">
            <a:avLst/>
          </a:prstGeom>
          <a:noFill/>
          <a:ln w="5080">
            <a:solidFill>
              <a:srgbClr val="0B304B">
                <a:alpha val="2000"/>
              </a:srgbClr>
            </a:solidFill>
            <a:prstDash val="solid"/>
          </a:ln>
        </p:spPr>
      </p:sp>
      <p:sp>
        <p:nvSpPr>
          <p:cNvPr id="28" name="Shape 25"/>
          <p:cNvSpPr/>
          <p:nvPr/>
        </p:nvSpPr>
        <p:spPr>
          <a:xfrm>
            <a:off x="502920" y="1572768"/>
            <a:ext cx="11201400" cy="0"/>
          </a:xfrm>
          <a:prstGeom prst="line">
            <a:avLst/>
          </a:prstGeom>
          <a:noFill/>
          <a:ln w="5080">
            <a:solidFill>
              <a:srgbClr val="0B304B">
                <a:alpha val="2000"/>
              </a:srgbClr>
            </a:solidFill>
            <a:prstDash val="solid"/>
          </a:ln>
        </p:spPr>
      </p:sp>
      <p:sp>
        <p:nvSpPr>
          <p:cNvPr id="29" name="Shape 26"/>
          <p:cNvSpPr/>
          <p:nvPr/>
        </p:nvSpPr>
        <p:spPr>
          <a:xfrm>
            <a:off x="502920" y="2075688"/>
            <a:ext cx="11201400" cy="0"/>
          </a:xfrm>
          <a:prstGeom prst="line">
            <a:avLst/>
          </a:prstGeom>
          <a:noFill/>
          <a:ln w="5080">
            <a:solidFill>
              <a:srgbClr val="0B304B">
                <a:alpha val="2000"/>
              </a:srgbClr>
            </a:solidFill>
            <a:prstDash val="solid"/>
          </a:ln>
        </p:spPr>
      </p:sp>
      <p:sp>
        <p:nvSpPr>
          <p:cNvPr id="30" name="Shape 27"/>
          <p:cNvSpPr/>
          <p:nvPr/>
        </p:nvSpPr>
        <p:spPr>
          <a:xfrm>
            <a:off x="502920" y="2578608"/>
            <a:ext cx="11201400" cy="0"/>
          </a:xfrm>
          <a:prstGeom prst="line">
            <a:avLst/>
          </a:prstGeom>
          <a:noFill/>
          <a:ln w="5080">
            <a:solidFill>
              <a:srgbClr val="0B304B">
                <a:alpha val="2000"/>
              </a:srgbClr>
            </a:solidFill>
            <a:prstDash val="solid"/>
          </a:ln>
        </p:spPr>
      </p:sp>
      <p:sp>
        <p:nvSpPr>
          <p:cNvPr id="31" name="Shape 28"/>
          <p:cNvSpPr/>
          <p:nvPr/>
        </p:nvSpPr>
        <p:spPr>
          <a:xfrm>
            <a:off x="502920" y="3081528"/>
            <a:ext cx="11201400" cy="0"/>
          </a:xfrm>
          <a:prstGeom prst="line">
            <a:avLst/>
          </a:prstGeom>
          <a:noFill/>
          <a:ln w="5080">
            <a:solidFill>
              <a:srgbClr val="0B304B">
                <a:alpha val="2000"/>
              </a:srgbClr>
            </a:solidFill>
            <a:prstDash val="solid"/>
          </a:ln>
        </p:spPr>
      </p:sp>
      <p:sp>
        <p:nvSpPr>
          <p:cNvPr id="32" name="Shape 29"/>
          <p:cNvSpPr/>
          <p:nvPr/>
        </p:nvSpPr>
        <p:spPr>
          <a:xfrm>
            <a:off x="502920" y="3584448"/>
            <a:ext cx="11201400" cy="0"/>
          </a:xfrm>
          <a:prstGeom prst="line">
            <a:avLst/>
          </a:prstGeom>
          <a:noFill/>
          <a:ln w="5080">
            <a:solidFill>
              <a:srgbClr val="0B304B">
                <a:alpha val="2000"/>
              </a:srgbClr>
            </a:solidFill>
            <a:prstDash val="solid"/>
          </a:ln>
        </p:spPr>
      </p:sp>
      <p:sp>
        <p:nvSpPr>
          <p:cNvPr id="33" name="Shape 30"/>
          <p:cNvSpPr/>
          <p:nvPr/>
        </p:nvSpPr>
        <p:spPr>
          <a:xfrm>
            <a:off x="502920" y="4087368"/>
            <a:ext cx="11201400" cy="0"/>
          </a:xfrm>
          <a:prstGeom prst="line">
            <a:avLst/>
          </a:prstGeom>
          <a:noFill/>
          <a:ln w="5080">
            <a:solidFill>
              <a:srgbClr val="0B304B">
                <a:alpha val="2000"/>
              </a:srgbClr>
            </a:solidFill>
            <a:prstDash val="solid"/>
          </a:ln>
        </p:spPr>
      </p:sp>
      <p:sp>
        <p:nvSpPr>
          <p:cNvPr id="34" name="Shape 31"/>
          <p:cNvSpPr/>
          <p:nvPr/>
        </p:nvSpPr>
        <p:spPr>
          <a:xfrm>
            <a:off x="502920" y="4590288"/>
            <a:ext cx="11201400" cy="0"/>
          </a:xfrm>
          <a:prstGeom prst="line">
            <a:avLst/>
          </a:prstGeom>
          <a:noFill/>
          <a:ln w="5080">
            <a:solidFill>
              <a:srgbClr val="0B304B">
                <a:alpha val="2000"/>
              </a:srgbClr>
            </a:solidFill>
            <a:prstDash val="solid"/>
          </a:ln>
        </p:spPr>
      </p:sp>
      <p:sp>
        <p:nvSpPr>
          <p:cNvPr id="35" name="Shape 32"/>
          <p:cNvSpPr/>
          <p:nvPr/>
        </p:nvSpPr>
        <p:spPr>
          <a:xfrm>
            <a:off x="502920" y="5093208"/>
            <a:ext cx="11201400" cy="0"/>
          </a:xfrm>
          <a:prstGeom prst="line">
            <a:avLst/>
          </a:prstGeom>
          <a:noFill/>
          <a:ln w="5080">
            <a:solidFill>
              <a:srgbClr val="0B304B">
                <a:alpha val="2000"/>
              </a:srgbClr>
            </a:solidFill>
            <a:prstDash val="solid"/>
          </a:ln>
        </p:spPr>
      </p:sp>
      <p:sp>
        <p:nvSpPr>
          <p:cNvPr id="36" name="Shape 33"/>
          <p:cNvSpPr/>
          <p:nvPr/>
        </p:nvSpPr>
        <p:spPr>
          <a:xfrm>
            <a:off x="502920" y="5596128"/>
            <a:ext cx="11201400" cy="0"/>
          </a:xfrm>
          <a:prstGeom prst="line">
            <a:avLst/>
          </a:prstGeom>
          <a:noFill/>
          <a:ln w="5080">
            <a:solidFill>
              <a:srgbClr val="0B304B">
                <a:alpha val="2000"/>
              </a:srgbClr>
            </a:solidFill>
            <a:prstDash val="solid"/>
          </a:ln>
        </p:spPr>
      </p:sp>
      <p:sp>
        <p:nvSpPr>
          <p:cNvPr id="37" name="Shape 34"/>
          <p:cNvSpPr/>
          <p:nvPr/>
        </p:nvSpPr>
        <p:spPr>
          <a:xfrm>
            <a:off x="502920" y="6099048"/>
            <a:ext cx="11201400" cy="0"/>
          </a:xfrm>
          <a:prstGeom prst="line">
            <a:avLst/>
          </a:prstGeom>
          <a:noFill/>
          <a:ln w="5080">
            <a:solidFill>
              <a:srgbClr val="0B304B">
                <a:alpha val="2000"/>
              </a:srgbClr>
            </a:solidFill>
            <a:prstDash val="solid"/>
          </a:ln>
        </p:spPr>
      </p:sp>
      <p:sp>
        <p:nvSpPr>
          <p:cNvPr id="38" name="Shape 35"/>
          <p:cNvSpPr/>
          <p:nvPr/>
        </p:nvSpPr>
        <p:spPr>
          <a:xfrm>
            <a:off x="502920" y="320040"/>
            <a:ext cx="1417320" cy="256032"/>
          </a:xfrm>
          <a:prstGeom prst="roundRect">
            <a:avLst>
              <a:gd name="adj" fmla="val 17857"/>
            </a:avLst>
          </a:prstGeom>
          <a:solidFill>
            <a:srgbClr val="09273D"/>
          </a:solidFill>
          <a:ln w="10160">
            <a:solidFill>
              <a:srgbClr val="FFB22C">
                <a:alpha val="65000"/>
              </a:srgbClr>
            </a:solidFill>
            <a:prstDash val="solid"/>
          </a:ln>
        </p:spPr>
      </p:sp>
      <p:sp>
        <p:nvSpPr>
          <p:cNvPr id="39"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FFB22C"/>
                </a:solidFill>
                <a:latin typeface="Aptos" pitchFamily="34" charset="0"/>
                <a:ea typeface="Aptos" pitchFamily="34" charset="-122"/>
                <a:cs typeface="Aptos" pitchFamily="34" charset="-120"/>
              </a:rPr>
              <a:t>FAA</a:t>
            </a:r>
            <a:endParaRPr lang="en-US" sz="560" dirty="0"/>
          </a:p>
        </p:txBody>
      </p:sp>
      <p:sp>
        <p:nvSpPr>
          <p:cNvPr id="40"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FAA Operations &amp; Oversight</a:t>
            </a:r>
            <a:endParaRPr lang="en-US" sz="2350" dirty="0"/>
          </a:p>
        </p:txBody>
      </p:sp>
      <p:pic>
        <p:nvPicPr>
          <p:cNvPr id="41" name="Image 1" descr="/mnt/data/radar_sweep.gif"/>
          <p:cNvPicPr>
            <a:picLocks noChangeAspect="1"/>
          </p:cNvPicPr>
          <p:nvPr/>
        </p:nvPicPr>
        <p:blipFill>
          <a:blip r:embed="rId4"/>
          <a:stretch>
            <a:fillRect/>
          </a:stretch>
        </p:blipFill>
        <p:spPr>
          <a:xfrm>
            <a:off x="10972800" y="731520"/>
            <a:ext cx="502920" cy="502920"/>
          </a:xfrm>
          <a:prstGeom prst="rect">
            <a:avLst/>
          </a:prstGeom>
        </p:spPr>
      </p:pic>
      <p:sp>
        <p:nvSpPr>
          <p:cNvPr id="42" name="Shape 38"/>
          <p:cNvSpPr/>
          <p:nvPr/>
        </p:nvSpPr>
        <p:spPr>
          <a:xfrm>
            <a:off x="640080" y="1600200"/>
            <a:ext cx="5157216" cy="950976"/>
          </a:xfrm>
          <a:prstGeom prst="roundRect">
            <a:avLst>
              <a:gd name="adj" fmla="val 7692"/>
            </a:avLst>
          </a:prstGeom>
          <a:solidFill>
            <a:srgbClr val="0A2035"/>
          </a:solidFill>
          <a:ln w="11430">
            <a:solidFill>
              <a:srgbClr val="163F5D">
                <a:alpha val="90000"/>
              </a:srgbClr>
            </a:solidFill>
            <a:prstDash val="solid"/>
          </a:ln>
        </p:spPr>
      </p:sp>
      <p:sp>
        <p:nvSpPr>
          <p:cNvPr id="43" name="Shape 39"/>
          <p:cNvSpPr/>
          <p:nvPr/>
        </p:nvSpPr>
        <p:spPr>
          <a:xfrm>
            <a:off x="640080" y="1600200"/>
            <a:ext cx="41148" cy="950976"/>
          </a:xfrm>
          <a:prstGeom prst="rect">
            <a:avLst/>
          </a:prstGeom>
          <a:solidFill>
            <a:srgbClr val="16DFF7"/>
          </a:solidFill>
          <a:ln w="12700">
            <a:solidFill>
              <a:srgbClr val="16DFF7"/>
            </a:solidFill>
            <a:prstDash val="solid"/>
          </a:ln>
        </p:spPr>
      </p:sp>
      <p:sp>
        <p:nvSpPr>
          <p:cNvPr id="44" name="Shape 40"/>
          <p:cNvSpPr/>
          <p:nvPr/>
        </p:nvSpPr>
        <p:spPr>
          <a:xfrm>
            <a:off x="859536" y="1901952"/>
            <a:ext cx="347472" cy="347472"/>
          </a:xfrm>
          <a:prstGeom prst="ellipse">
            <a:avLst/>
          </a:prstGeom>
          <a:solidFill>
            <a:srgbClr val="16DFF7"/>
          </a:solidFill>
          <a:ln w="12700">
            <a:solidFill>
              <a:srgbClr val="16DFF7">
                <a:alpha val="0"/>
              </a:srgbClr>
            </a:solidFill>
            <a:prstDash val="solid"/>
          </a:ln>
        </p:spPr>
      </p:sp>
      <p:sp>
        <p:nvSpPr>
          <p:cNvPr id="45" name="Text 41"/>
          <p:cNvSpPr/>
          <p:nvPr/>
        </p:nvSpPr>
        <p:spPr>
          <a:xfrm>
            <a:off x="859536" y="1965960"/>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1</a:t>
            </a:r>
            <a:endParaRPr lang="en-US" sz="800" dirty="0"/>
          </a:p>
        </p:txBody>
      </p:sp>
      <p:sp>
        <p:nvSpPr>
          <p:cNvPr id="46" name="Text 42"/>
          <p:cNvSpPr/>
          <p:nvPr/>
        </p:nvSpPr>
        <p:spPr>
          <a:xfrm>
            <a:off x="1362456" y="1783080"/>
            <a:ext cx="4096512" cy="603504"/>
          </a:xfrm>
          <a:prstGeom prst="rect">
            <a:avLst/>
          </a:prstGeom>
          <a:noFill/>
          <a:ln/>
        </p:spPr>
        <p:txBody>
          <a:bodyPr wrap="square" lIns="254" tIns="254" rIns="254" bIns="254" rtlCol="0" anchor="ctr">
            <a:normAutofit/>
          </a:bodyPr>
          <a:lstStyle/>
          <a:p>
            <a:pPr marL="0" indent="0">
              <a:buNone/>
            </a:pPr>
            <a:r>
              <a:rPr lang="en-US" sz="1060" b="1" dirty="0">
                <a:solidFill>
                  <a:srgbClr val="16DFF7"/>
                </a:solidFill>
              </a:rPr>
              <a:t>Air Traffic Control:</a:t>
            </a:r>
            <a:r>
              <a:rPr lang="en-US" sz="1060" dirty="0">
                <a:solidFill>
                  <a:srgbClr val="DDEAF2"/>
                </a:solidFill>
              </a:rPr>
              <a:t> Manages over 45,000 daily flights across the National Airspace System ensuring safe separation.</a:t>
            </a:r>
            <a:endParaRPr lang="en-US" sz="1060" dirty="0"/>
          </a:p>
        </p:txBody>
      </p:sp>
      <p:sp>
        <p:nvSpPr>
          <p:cNvPr id="47" name="Shape 43"/>
          <p:cNvSpPr/>
          <p:nvPr/>
        </p:nvSpPr>
        <p:spPr>
          <a:xfrm>
            <a:off x="640080" y="2807208"/>
            <a:ext cx="5157216" cy="950976"/>
          </a:xfrm>
          <a:prstGeom prst="roundRect">
            <a:avLst>
              <a:gd name="adj" fmla="val 7692"/>
            </a:avLst>
          </a:prstGeom>
          <a:solidFill>
            <a:srgbClr val="0A2035"/>
          </a:solidFill>
          <a:ln w="11430">
            <a:solidFill>
              <a:srgbClr val="163F5D">
                <a:alpha val="90000"/>
              </a:srgbClr>
            </a:solidFill>
            <a:prstDash val="solid"/>
          </a:ln>
        </p:spPr>
      </p:sp>
      <p:sp>
        <p:nvSpPr>
          <p:cNvPr id="48" name="Shape 44"/>
          <p:cNvSpPr/>
          <p:nvPr/>
        </p:nvSpPr>
        <p:spPr>
          <a:xfrm>
            <a:off x="640080" y="2807208"/>
            <a:ext cx="41148" cy="950976"/>
          </a:xfrm>
          <a:prstGeom prst="rect">
            <a:avLst/>
          </a:prstGeom>
          <a:solidFill>
            <a:srgbClr val="3FE0B5"/>
          </a:solidFill>
          <a:ln w="12700">
            <a:solidFill>
              <a:srgbClr val="3FE0B5"/>
            </a:solidFill>
            <a:prstDash val="solid"/>
          </a:ln>
        </p:spPr>
      </p:sp>
      <p:sp>
        <p:nvSpPr>
          <p:cNvPr id="49" name="Shape 45"/>
          <p:cNvSpPr/>
          <p:nvPr/>
        </p:nvSpPr>
        <p:spPr>
          <a:xfrm>
            <a:off x="859536" y="3108960"/>
            <a:ext cx="347472" cy="347472"/>
          </a:xfrm>
          <a:prstGeom prst="ellipse">
            <a:avLst/>
          </a:prstGeom>
          <a:solidFill>
            <a:srgbClr val="3FE0B5"/>
          </a:solidFill>
          <a:ln w="12700">
            <a:solidFill>
              <a:srgbClr val="3FE0B5">
                <a:alpha val="0"/>
              </a:srgbClr>
            </a:solidFill>
            <a:prstDash val="solid"/>
          </a:ln>
        </p:spPr>
      </p:sp>
      <p:sp>
        <p:nvSpPr>
          <p:cNvPr id="50" name="Text 46"/>
          <p:cNvSpPr/>
          <p:nvPr/>
        </p:nvSpPr>
        <p:spPr>
          <a:xfrm>
            <a:off x="859536" y="317296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2</a:t>
            </a:r>
            <a:endParaRPr lang="en-US" sz="800" dirty="0"/>
          </a:p>
        </p:txBody>
      </p:sp>
      <p:sp>
        <p:nvSpPr>
          <p:cNvPr id="51" name="Text 47"/>
          <p:cNvSpPr/>
          <p:nvPr/>
        </p:nvSpPr>
        <p:spPr>
          <a:xfrm>
            <a:off x="1362456" y="2990088"/>
            <a:ext cx="4096512" cy="603504"/>
          </a:xfrm>
          <a:prstGeom prst="rect">
            <a:avLst/>
          </a:prstGeom>
          <a:noFill/>
          <a:ln/>
        </p:spPr>
        <p:txBody>
          <a:bodyPr wrap="square" lIns="254" tIns="254" rIns="254" bIns="254" rtlCol="0" anchor="ctr">
            <a:normAutofit/>
          </a:bodyPr>
          <a:lstStyle/>
          <a:p>
            <a:pPr marL="0" indent="0">
              <a:buNone/>
            </a:pPr>
            <a:r>
              <a:rPr lang="en-US" sz="1060" b="1" dirty="0">
                <a:solidFill>
                  <a:srgbClr val="3FE0B5"/>
                </a:solidFill>
              </a:rPr>
              <a:t>Aircraft Certification:</a:t>
            </a:r>
            <a:r>
              <a:rPr lang="en-US" sz="1060" dirty="0">
                <a:solidFill>
                  <a:srgbClr val="DDEAF2"/>
                </a:solidFill>
              </a:rPr>
              <a:t> Sets rigorous design and airworthiness standards for manufacturers before flight operations.</a:t>
            </a:r>
            <a:endParaRPr lang="en-US" sz="1060" dirty="0"/>
          </a:p>
        </p:txBody>
      </p:sp>
      <p:sp>
        <p:nvSpPr>
          <p:cNvPr id="52" name="Shape 48"/>
          <p:cNvSpPr/>
          <p:nvPr/>
        </p:nvSpPr>
        <p:spPr>
          <a:xfrm>
            <a:off x="640080" y="4014216"/>
            <a:ext cx="5157216" cy="950976"/>
          </a:xfrm>
          <a:prstGeom prst="roundRect">
            <a:avLst>
              <a:gd name="adj" fmla="val 7692"/>
            </a:avLst>
          </a:prstGeom>
          <a:solidFill>
            <a:srgbClr val="0A2035"/>
          </a:solidFill>
          <a:ln w="11430">
            <a:solidFill>
              <a:srgbClr val="163F5D">
                <a:alpha val="90000"/>
              </a:srgbClr>
            </a:solidFill>
            <a:prstDash val="solid"/>
          </a:ln>
        </p:spPr>
      </p:sp>
      <p:sp>
        <p:nvSpPr>
          <p:cNvPr id="53" name="Shape 49"/>
          <p:cNvSpPr/>
          <p:nvPr/>
        </p:nvSpPr>
        <p:spPr>
          <a:xfrm>
            <a:off x="640080" y="4014216"/>
            <a:ext cx="41148" cy="950976"/>
          </a:xfrm>
          <a:prstGeom prst="rect">
            <a:avLst/>
          </a:prstGeom>
          <a:solidFill>
            <a:srgbClr val="FFB22C"/>
          </a:solidFill>
          <a:ln w="12700">
            <a:solidFill>
              <a:srgbClr val="FFB22C"/>
            </a:solidFill>
            <a:prstDash val="solid"/>
          </a:ln>
        </p:spPr>
      </p:sp>
      <p:sp>
        <p:nvSpPr>
          <p:cNvPr id="54" name="Shape 50"/>
          <p:cNvSpPr/>
          <p:nvPr/>
        </p:nvSpPr>
        <p:spPr>
          <a:xfrm>
            <a:off x="859536" y="4315968"/>
            <a:ext cx="347472" cy="347472"/>
          </a:xfrm>
          <a:prstGeom prst="ellipse">
            <a:avLst/>
          </a:prstGeom>
          <a:solidFill>
            <a:srgbClr val="FFB22C"/>
          </a:solidFill>
          <a:ln w="12700">
            <a:solidFill>
              <a:srgbClr val="FFB22C">
                <a:alpha val="0"/>
              </a:srgbClr>
            </a:solidFill>
            <a:prstDash val="solid"/>
          </a:ln>
        </p:spPr>
      </p:sp>
      <p:sp>
        <p:nvSpPr>
          <p:cNvPr id="55" name="Text 51"/>
          <p:cNvSpPr/>
          <p:nvPr/>
        </p:nvSpPr>
        <p:spPr>
          <a:xfrm>
            <a:off x="859536" y="4379976"/>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3</a:t>
            </a:r>
            <a:endParaRPr lang="en-US" sz="800" dirty="0"/>
          </a:p>
        </p:txBody>
      </p:sp>
      <p:sp>
        <p:nvSpPr>
          <p:cNvPr id="56" name="Text 52"/>
          <p:cNvSpPr/>
          <p:nvPr/>
        </p:nvSpPr>
        <p:spPr>
          <a:xfrm>
            <a:off x="1362456" y="4197096"/>
            <a:ext cx="4096512" cy="603504"/>
          </a:xfrm>
          <a:prstGeom prst="rect">
            <a:avLst/>
          </a:prstGeom>
          <a:noFill/>
          <a:ln/>
        </p:spPr>
        <p:txBody>
          <a:bodyPr wrap="square" lIns="254" tIns="254" rIns="254" bIns="254" rtlCol="0" anchor="ctr">
            <a:normAutofit/>
          </a:bodyPr>
          <a:lstStyle/>
          <a:p>
            <a:pPr marL="0" indent="0">
              <a:buNone/>
            </a:pPr>
            <a:r>
              <a:rPr lang="en-US" sz="1060" b="1" dirty="0">
                <a:solidFill>
                  <a:srgbClr val="FFB22C"/>
                </a:solidFill>
              </a:rPr>
              <a:t>Rulemaking Action:</a:t>
            </a:r>
            <a:r>
              <a:rPr lang="en-US" sz="1060" dirty="0">
                <a:solidFill>
                  <a:srgbClr val="DDEAF2"/>
                </a:solidFill>
              </a:rPr>
              <a:t> Enforces safety recommendations issued by the NTSB into legally binding mandatory rules.</a:t>
            </a:r>
            <a:endParaRPr lang="en-US" sz="1060" dirty="0"/>
          </a:p>
        </p:txBody>
      </p:sp>
      <p:sp>
        <p:nvSpPr>
          <p:cNvPr id="57" name="Shape 53">
            <a:hlinkClick r:id="rId5"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58" name="Text 54">
            <a:hlinkClick r:id="rId5"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59" name="Shape 55">
            <a:hlinkClick r:id="rId6"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60" name="Text 56">
            <a:hlinkClick r:id="rId6" action="ppaction://hlinksldjump"/>
          </p:cNvPr>
          <p:cNvSpPr/>
          <p:nvPr/>
        </p:nvSpPr>
        <p:spPr>
          <a:xfrm>
            <a:off x="10936224"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6" action="ppaction://hlinksldjump">
                  <a:extLst>
                    <a:ext uri="{A12FA001-AC4F-418D-AE19-62706E023703}">
                      <ahyp:hlinkClr xmlns:ahyp="http://schemas.microsoft.com/office/drawing/2018/hyperlinkcolor" val="tx"/>
                    </a:ext>
                  </a:extLst>
                </a:hlinkClick>
              </a:rPr>
              <a:t>›</a:t>
            </a:r>
            <a:endParaRPr lang="en-US" sz="1700" dirty="0"/>
          </a:p>
        </p:txBody>
      </p:sp>
      <p:sp>
        <p:nvSpPr>
          <p:cNvPr id="61"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a_cinematic_high_tech_aviation_analytics_themed_s.png"/>
          <p:cNvPicPr>
            <a:picLocks noChangeAspect="1"/>
          </p:cNvPicPr>
          <p:nvPr/>
        </p:nvPicPr>
        <p:blipFill>
          <a:blip r:embed="rId3"/>
          <a:srcRect t="2557" b="2557"/>
          <a:stretch/>
        </p:blipFill>
        <p:spPr>
          <a:xfrm>
            <a:off x="0" y="0"/>
            <a:ext cx="12191695" cy="6510528"/>
          </a:xfrm>
          <a:prstGeom prst="rect">
            <a:avLst/>
          </a:prstGeom>
        </p:spPr>
      </p:pic>
      <p:sp>
        <p:nvSpPr>
          <p:cNvPr id="3" name="Shape 0"/>
          <p:cNvSpPr/>
          <p:nvPr/>
        </p:nvSpPr>
        <p:spPr>
          <a:xfrm>
            <a:off x="0" y="0"/>
            <a:ext cx="12191695" cy="6510528"/>
          </a:xfrm>
          <a:prstGeom prst="rect">
            <a:avLst/>
          </a:prstGeom>
          <a:solidFill>
            <a:srgbClr val="03111E">
              <a:alpha val="84000"/>
            </a:srgbClr>
          </a:solidFill>
          <a:ln w="12700">
            <a:solidFill>
              <a:srgbClr val="333333">
                <a:alpha val="0"/>
              </a:srgbClr>
            </a:solidFill>
            <a:prstDash val="solid"/>
          </a:ln>
        </p:spPr>
      </p:sp>
      <p:sp>
        <p:nvSpPr>
          <p:cNvPr id="4" name="Shape 1"/>
          <p:cNvSpPr/>
          <p:nvPr/>
        </p:nvSpPr>
        <p:spPr>
          <a:xfrm>
            <a:off x="502920" y="320040"/>
            <a:ext cx="1417320" cy="256032"/>
          </a:xfrm>
          <a:prstGeom prst="roundRect">
            <a:avLst>
              <a:gd name="adj" fmla="val 17857"/>
            </a:avLst>
          </a:prstGeom>
          <a:solidFill>
            <a:srgbClr val="09273D"/>
          </a:solidFill>
          <a:ln w="10160">
            <a:solidFill>
              <a:srgbClr val="3FE0B5">
                <a:alpha val="65000"/>
              </a:srgbClr>
            </a:solidFill>
            <a:prstDash val="solid"/>
          </a:ln>
        </p:spPr>
      </p:sp>
      <p:sp>
        <p:nvSpPr>
          <p:cNvPr id="5" name="Text 2"/>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3FE0B5"/>
                </a:solidFill>
                <a:latin typeface="Aptos" pitchFamily="34" charset="0"/>
                <a:ea typeface="Aptos" pitchFamily="34" charset="-122"/>
                <a:cs typeface="Aptos" pitchFamily="34" charset="-120"/>
              </a:rPr>
              <a:t>GLOBAL FRAMEWORK</a:t>
            </a:r>
            <a:endParaRPr lang="en-US" sz="560" dirty="0"/>
          </a:p>
        </p:txBody>
      </p:sp>
      <p:sp>
        <p:nvSpPr>
          <p:cNvPr id="6" name="Text 3"/>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ICAO &amp; Global Aviation Services</a:t>
            </a:r>
            <a:endParaRPr lang="en-US" sz="2350" dirty="0"/>
          </a:p>
        </p:txBody>
      </p:sp>
      <p:pic>
        <p:nvPicPr>
          <p:cNvPr id="7" name="Image 1" descr="/mnt/data/radar_sweep.gif"/>
          <p:cNvPicPr>
            <a:picLocks noChangeAspect="1"/>
          </p:cNvPicPr>
          <p:nvPr/>
        </p:nvPicPr>
        <p:blipFill>
          <a:blip r:embed="rId4"/>
          <a:stretch>
            <a:fillRect/>
          </a:stretch>
        </p:blipFill>
        <p:spPr>
          <a:xfrm>
            <a:off x="10625328" y="621792"/>
            <a:ext cx="713232" cy="713232"/>
          </a:xfrm>
          <a:prstGeom prst="rect">
            <a:avLst/>
          </a:prstGeom>
        </p:spPr>
      </p:pic>
      <p:sp>
        <p:nvSpPr>
          <p:cNvPr id="8" name="Shape 4"/>
          <p:cNvSpPr/>
          <p:nvPr/>
        </p:nvSpPr>
        <p:spPr>
          <a:xfrm>
            <a:off x="640080" y="1828800"/>
            <a:ext cx="3401568" cy="3383280"/>
          </a:xfrm>
          <a:prstGeom prst="roundRect">
            <a:avLst>
              <a:gd name="adj" fmla="val 2162"/>
            </a:avLst>
          </a:prstGeom>
          <a:solidFill>
            <a:srgbClr val="061B2D">
              <a:alpha val="96000"/>
            </a:srgbClr>
          </a:solidFill>
          <a:ln w="11430">
            <a:solidFill>
              <a:srgbClr val="163F5D">
                <a:alpha val="90000"/>
              </a:srgbClr>
            </a:solidFill>
            <a:prstDash val="solid"/>
          </a:ln>
          <a:effectLst>
            <a:outerShdw algn="bl" rotWithShape="0">
              <a:srgbClr val="000000">
                <a:alpha val="0"/>
              </a:srgbClr>
            </a:outerShdw>
          </a:effectLst>
        </p:spPr>
      </p:sp>
      <p:sp>
        <p:nvSpPr>
          <p:cNvPr id="9" name="Shape 5"/>
          <p:cNvSpPr/>
          <p:nvPr/>
        </p:nvSpPr>
        <p:spPr>
          <a:xfrm>
            <a:off x="640080" y="1828800"/>
            <a:ext cx="41148" cy="3383280"/>
          </a:xfrm>
          <a:prstGeom prst="rect">
            <a:avLst/>
          </a:prstGeom>
          <a:solidFill>
            <a:srgbClr val="16DFF7"/>
          </a:solidFill>
          <a:ln w="12700">
            <a:solidFill>
              <a:srgbClr val="16DFF7"/>
            </a:solidFill>
            <a:prstDash val="solid"/>
          </a:ln>
        </p:spPr>
      </p:sp>
      <p:sp>
        <p:nvSpPr>
          <p:cNvPr id="10" name="Shape 6"/>
          <p:cNvSpPr/>
          <p:nvPr/>
        </p:nvSpPr>
        <p:spPr>
          <a:xfrm>
            <a:off x="868680" y="2121408"/>
            <a:ext cx="347472" cy="347472"/>
          </a:xfrm>
          <a:prstGeom prst="ellipse">
            <a:avLst/>
          </a:prstGeom>
          <a:solidFill>
            <a:srgbClr val="16DFF7"/>
          </a:solidFill>
          <a:ln w="12700">
            <a:solidFill>
              <a:srgbClr val="16DFF7">
                <a:alpha val="0"/>
              </a:srgbClr>
            </a:solidFill>
            <a:prstDash val="solid"/>
          </a:ln>
        </p:spPr>
      </p:sp>
      <p:sp>
        <p:nvSpPr>
          <p:cNvPr id="11" name="Text 7"/>
          <p:cNvSpPr/>
          <p:nvPr/>
        </p:nvSpPr>
        <p:spPr>
          <a:xfrm>
            <a:off x="868680" y="2185416"/>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1</a:t>
            </a:r>
            <a:endParaRPr lang="en-US" sz="800" dirty="0"/>
          </a:p>
        </p:txBody>
      </p:sp>
      <p:sp>
        <p:nvSpPr>
          <p:cNvPr id="12" name="Text 8"/>
          <p:cNvSpPr/>
          <p:nvPr/>
        </p:nvSpPr>
        <p:spPr>
          <a:xfrm>
            <a:off x="932688" y="2788920"/>
            <a:ext cx="2816352" cy="1664208"/>
          </a:xfrm>
          <a:prstGeom prst="rect">
            <a:avLst/>
          </a:prstGeom>
          <a:noFill/>
          <a:ln/>
        </p:spPr>
        <p:txBody>
          <a:bodyPr wrap="square" lIns="254" tIns="254" rIns="254" bIns="254" rtlCol="0" anchor="ctr">
            <a:normAutofit/>
          </a:bodyPr>
          <a:lstStyle/>
          <a:p>
            <a:pPr marL="0" indent="0" algn="l">
              <a:buNone/>
            </a:pPr>
            <a:r>
              <a:rPr lang="en-US" sz="1120" dirty="0">
                <a:solidFill>
                  <a:srgbClr val="DDEAF2"/>
                </a:solidFill>
              </a:rPr>
              <a:t>ICAO Annex 13 Framework : Sets international protocols for crash investigation protocols worIdwide</a:t>
            </a:r>
            <a:endParaRPr lang="en-US" sz="1120" dirty="0"/>
          </a:p>
        </p:txBody>
      </p:sp>
      <p:sp>
        <p:nvSpPr>
          <p:cNvPr id="13" name="Shape 9"/>
          <p:cNvSpPr/>
          <p:nvPr/>
        </p:nvSpPr>
        <p:spPr>
          <a:xfrm>
            <a:off x="4434840" y="1828800"/>
            <a:ext cx="3401568" cy="3383280"/>
          </a:xfrm>
          <a:prstGeom prst="roundRect">
            <a:avLst>
              <a:gd name="adj" fmla="val 2162"/>
            </a:avLst>
          </a:prstGeom>
          <a:solidFill>
            <a:srgbClr val="061B2D">
              <a:alpha val="96000"/>
            </a:srgbClr>
          </a:solidFill>
          <a:ln w="11430">
            <a:solidFill>
              <a:srgbClr val="163F5D">
                <a:alpha val="90000"/>
              </a:srgbClr>
            </a:solidFill>
            <a:prstDash val="solid"/>
          </a:ln>
          <a:effectLst>
            <a:outerShdw algn="bl" rotWithShape="0">
              <a:srgbClr val="000000">
                <a:alpha val="0"/>
              </a:srgbClr>
            </a:outerShdw>
          </a:effectLst>
        </p:spPr>
      </p:sp>
      <p:sp>
        <p:nvSpPr>
          <p:cNvPr id="14" name="Shape 10"/>
          <p:cNvSpPr/>
          <p:nvPr/>
        </p:nvSpPr>
        <p:spPr>
          <a:xfrm>
            <a:off x="4434840" y="1828800"/>
            <a:ext cx="41148" cy="3383280"/>
          </a:xfrm>
          <a:prstGeom prst="rect">
            <a:avLst/>
          </a:prstGeom>
          <a:solidFill>
            <a:srgbClr val="3FE0B5"/>
          </a:solidFill>
          <a:ln w="12700">
            <a:solidFill>
              <a:srgbClr val="3FE0B5"/>
            </a:solidFill>
            <a:prstDash val="solid"/>
          </a:ln>
        </p:spPr>
      </p:sp>
      <p:sp>
        <p:nvSpPr>
          <p:cNvPr id="15" name="Shape 11"/>
          <p:cNvSpPr/>
          <p:nvPr/>
        </p:nvSpPr>
        <p:spPr>
          <a:xfrm>
            <a:off x="4663440" y="2121408"/>
            <a:ext cx="347472" cy="347472"/>
          </a:xfrm>
          <a:prstGeom prst="ellipse">
            <a:avLst/>
          </a:prstGeom>
          <a:solidFill>
            <a:srgbClr val="3FE0B5"/>
          </a:solidFill>
          <a:ln w="12700">
            <a:solidFill>
              <a:srgbClr val="3FE0B5">
                <a:alpha val="0"/>
              </a:srgbClr>
            </a:solidFill>
            <a:prstDash val="solid"/>
          </a:ln>
        </p:spPr>
      </p:sp>
      <p:sp>
        <p:nvSpPr>
          <p:cNvPr id="16" name="Text 12"/>
          <p:cNvSpPr/>
          <p:nvPr/>
        </p:nvSpPr>
        <p:spPr>
          <a:xfrm>
            <a:off x="4663440" y="2185416"/>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2</a:t>
            </a:r>
            <a:endParaRPr lang="en-US" sz="800" dirty="0"/>
          </a:p>
        </p:txBody>
      </p:sp>
      <p:sp>
        <p:nvSpPr>
          <p:cNvPr id="17" name="Text 13"/>
          <p:cNvSpPr/>
          <p:nvPr/>
        </p:nvSpPr>
        <p:spPr>
          <a:xfrm>
            <a:off x="4727448" y="2788920"/>
            <a:ext cx="2816352" cy="1664208"/>
          </a:xfrm>
          <a:prstGeom prst="rect">
            <a:avLst/>
          </a:prstGeom>
          <a:noFill/>
          <a:ln/>
        </p:spPr>
        <p:txBody>
          <a:bodyPr wrap="square" lIns="254" tIns="254" rIns="254" bIns="254" rtlCol="0" anchor="ctr">
            <a:normAutofit/>
          </a:bodyPr>
          <a:lstStyle/>
          <a:p>
            <a:pPr marL="0" indent="0" algn="l">
              <a:buNone/>
            </a:pPr>
            <a:r>
              <a:rPr lang="en-US" sz="1120" dirty="0">
                <a:solidFill>
                  <a:srgbClr val="DDEAF2"/>
                </a:solidFill>
              </a:rPr>
              <a:t>Global Airline Standards : Harmonizing pilot training, crew resource management (CRM), and safety checks.</a:t>
            </a:r>
            <a:endParaRPr lang="en-US" sz="1120" dirty="0"/>
          </a:p>
        </p:txBody>
      </p:sp>
      <p:sp>
        <p:nvSpPr>
          <p:cNvPr id="18" name="Shape 14"/>
          <p:cNvSpPr/>
          <p:nvPr/>
        </p:nvSpPr>
        <p:spPr>
          <a:xfrm>
            <a:off x="8229600" y="1828800"/>
            <a:ext cx="3401568" cy="3383280"/>
          </a:xfrm>
          <a:prstGeom prst="roundRect">
            <a:avLst>
              <a:gd name="adj" fmla="val 2162"/>
            </a:avLst>
          </a:prstGeom>
          <a:solidFill>
            <a:srgbClr val="061B2D">
              <a:alpha val="96000"/>
            </a:srgbClr>
          </a:solidFill>
          <a:ln w="11430">
            <a:solidFill>
              <a:srgbClr val="163F5D">
                <a:alpha val="90000"/>
              </a:srgbClr>
            </a:solidFill>
            <a:prstDash val="solid"/>
          </a:ln>
          <a:effectLst>
            <a:outerShdw algn="bl" rotWithShape="0">
              <a:srgbClr val="000000">
                <a:alpha val="0"/>
              </a:srgbClr>
            </a:outerShdw>
          </a:effectLst>
        </p:spPr>
      </p:sp>
      <p:sp>
        <p:nvSpPr>
          <p:cNvPr id="19" name="Shape 15"/>
          <p:cNvSpPr/>
          <p:nvPr/>
        </p:nvSpPr>
        <p:spPr>
          <a:xfrm>
            <a:off x="8229600" y="1828800"/>
            <a:ext cx="41148" cy="3383280"/>
          </a:xfrm>
          <a:prstGeom prst="rect">
            <a:avLst/>
          </a:prstGeom>
          <a:solidFill>
            <a:srgbClr val="4B91FF"/>
          </a:solidFill>
          <a:ln w="12700">
            <a:solidFill>
              <a:srgbClr val="4B91FF"/>
            </a:solidFill>
            <a:prstDash val="solid"/>
          </a:ln>
        </p:spPr>
      </p:sp>
      <p:sp>
        <p:nvSpPr>
          <p:cNvPr id="20" name="Shape 16"/>
          <p:cNvSpPr/>
          <p:nvPr/>
        </p:nvSpPr>
        <p:spPr>
          <a:xfrm>
            <a:off x="8458200" y="2121408"/>
            <a:ext cx="347472" cy="347472"/>
          </a:xfrm>
          <a:prstGeom prst="ellipse">
            <a:avLst/>
          </a:prstGeom>
          <a:solidFill>
            <a:srgbClr val="4B91FF"/>
          </a:solidFill>
          <a:ln w="12700">
            <a:solidFill>
              <a:srgbClr val="4B91FF">
                <a:alpha val="0"/>
              </a:srgbClr>
            </a:solidFill>
            <a:prstDash val="solid"/>
          </a:ln>
        </p:spPr>
      </p:sp>
      <p:sp>
        <p:nvSpPr>
          <p:cNvPr id="21" name="Text 17"/>
          <p:cNvSpPr/>
          <p:nvPr/>
        </p:nvSpPr>
        <p:spPr>
          <a:xfrm>
            <a:off x="8458200" y="2185416"/>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3</a:t>
            </a:r>
            <a:endParaRPr lang="en-US" sz="800" dirty="0"/>
          </a:p>
        </p:txBody>
      </p:sp>
      <p:sp>
        <p:nvSpPr>
          <p:cNvPr id="22" name="Text 18"/>
          <p:cNvSpPr/>
          <p:nvPr/>
        </p:nvSpPr>
        <p:spPr>
          <a:xfrm>
            <a:off x="8522208" y="2788920"/>
            <a:ext cx="2816352" cy="1664208"/>
          </a:xfrm>
          <a:prstGeom prst="rect">
            <a:avLst/>
          </a:prstGeom>
          <a:noFill/>
          <a:ln/>
        </p:spPr>
        <p:txBody>
          <a:bodyPr wrap="square" lIns="254" tIns="254" rIns="254" bIns="254" rtlCol="0" anchor="ctr">
            <a:normAutofit/>
          </a:bodyPr>
          <a:lstStyle/>
          <a:p>
            <a:pPr marL="0" indent="0" algn="l">
              <a:buNone/>
            </a:pPr>
            <a:r>
              <a:rPr lang="en-US" sz="1120" dirty="0">
                <a:solidFill>
                  <a:srgbClr val="DDEAF2"/>
                </a:solidFill>
              </a:rPr>
              <a:t>Cross-Border Support : Coordination between foreign authorities (e.g., BEA, AAIB) and NTSB/FAA.</a:t>
            </a:r>
            <a:endParaRPr lang="en-US" sz="1120" dirty="0"/>
          </a:p>
        </p:txBody>
      </p:sp>
      <p:sp>
        <p:nvSpPr>
          <p:cNvPr id="23" name="Shape 19">
            <a:hlinkClick r:id="rId5"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24" name="Text 20">
            <a:hlinkClick r:id="rId5"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25" name="Shape 21">
            <a:hlinkClick r:id="rId6"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26" name="Text 22">
            <a:hlinkClick r:id="rId6" action="ppaction://hlinksldjump"/>
          </p:cNvPr>
          <p:cNvSpPr/>
          <p:nvPr/>
        </p:nvSpPr>
        <p:spPr>
          <a:xfrm>
            <a:off x="10936224"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6" action="ppaction://hlinksldjump">
                  <a:extLst>
                    <a:ext uri="{A12FA001-AC4F-418D-AE19-62706E023703}">
                      <ahyp:hlinkClr xmlns:ahyp="http://schemas.microsoft.com/office/drawing/2018/hyperlinkcolor" val="tx"/>
                    </a:ext>
                  </a:extLst>
                </a:hlinkClick>
              </a:rPr>
              <a:t>›</a:t>
            </a:r>
            <a:endParaRPr lang="en-US" sz="1700" dirty="0"/>
          </a:p>
        </p:txBody>
      </p:sp>
      <p:sp>
        <p:nvSpPr>
          <p:cNvPr id="27"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12000"/>
              </a:srgbClr>
            </a:solidFill>
            <a:prstDash val="solid"/>
          </a:ln>
        </p:spPr>
      </p:sp>
      <p:sp>
        <p:nvSpPr>
          <p:cNvPr id="3" name="Shape 1"/>
          <p:cNvSpPr/>
          <p:nvPr/>
        </p:nvSpPr>
        <p:spPr>
          <a:xfrm>
            <a:off x="1051560" y="502920"/>
            <a:ext cx="0" cy="5715000"/>
          </a:xfrm>
          <a:prstGeom prst="line">
            <a:avLst/>
          </a:prstGeom>
          <a:noFill/>
          <a:ln w="5080">
            <a:solidFill>
              <a:srgbClr val="0B304B">
                <a:alpha val="12000"/>
              </a:srgbClr>
            </a:solidFill>
            <a:prstDash val="solid"/>
          </a:ln>
        </p:spPr>
      </p:sp>
      <p:sp>
        <p:nvSpPr>
          <p:cNvPr id="4" name="Shape 2"/>
          <p:cNvSpPr/>
          <p:nvPr/>
        </p:nvSpPr>
        <p:spPr>
          <a:xfrm>
            <a:off x="1554480" y="502920"/>
            <a:ext cx="0" cy="5715000"/>
          </a:xfrm>
          <a:prstGeom prst="line">
            <a:avLst/>
          </a:prstGeom>
          <a:noFill/>
          <a:ln w="5080">
            <a:solidFill>
              <a:srgbClr val="0B304B">
                <a:alpha val="12000"/>
              </a:srgbClr>
            </a:solidFill>
            <a:prstDash val="solid"/>
          </a:ln>
        </p:spPr>
      </p:sp>
      <p:sp>
        <p:nvSpPr>
          <p:cNvPr id="5" name="Shape 3"/>
          <p:cNvSpPr/>
          <p:nvPr/>
        </p:nvSpPr>
        <p:spPr>
          <a:xfrm>
            <a:off x="2057400" y="502920"/>
            <a:ext cx="0" cy="5715000"/>
          </a:xfrm>
          <a:prstGeom prst="line">
            <a:avLst/>
          </a:prstGeom>
          <a:noFill/>
          <a:ln w="5080">
            <a:solidFill>
              <a:srgbClr val="0B304B">
                <a:alpha val="12000"/>
              </a:srgbClr>
            </a:solidFill>
            <a:prstDash val="solid"/>
          </a:ln>
        </p:spPr>
      </p:sp>
      <p:sp>
        <p:nvSpPr>
          <p:cNvPr id="6" name="Shape 4"/>
          <p:cNvSpPr/>
          <p:nvPr/>
        </p:nvSpPr>
        <p:spPr>
          <a:xfrm>
            <a:off x="2560320" y="502920"/>
            <a:ext cx="0" cy="5715000"/>
          </a:xfrm>
          <a:prstGeom prst="line">
            <a:avLst/>
          </a:prstGeom>
          <a:noFill/>
          <a:ln w="5080">
            <a:solidFill>
              <a:srgbClr val="0B304B">
                <a:alpha val="12000"/>
              </a:srgbClr>
            </a:solidFill>
            <a:prstDash val="solid"/>
          </a:ln>
        </p:spPr>
      </p:sp>
      <p:sp>
        <p:nvSpPr>
          <p:cNvPr id="7" name="Shape 5"/>
          <p:cNvSpPr/>
          <p:nvPr/>
        </p:nvSpPr>
        <p:spPr>
          <a:xfrm>
            <a:off x="3063240" y="502920"/>
            <a:ext cx="0" cy="5715000"/>
          </a:xfrm>
          <a:prstGeom prst="line">
            <a:avLst/>
          </a:prstGeom>
          <a:noFill/>
          <a:ln w="5080">
            <a:solidFill>
              <a:srgbClr val="0B304B">
                <a:alpha val="12000"/>
              </a:srgbClr>
            </a:solidFill>
            <a:prstDash val="solid"/>
          </a:ln>
        </p:spPr>
      </p:sp>
      <p:sp>
        <p:nvSpPr>
          <p:cNvPr id="8" name="Shape 6"/>
          <p:cNvSpPr/>
          <p:nvPr/>
        </p:nvSpPr>
        <p:spPr>
          <a:xfrm>
            <a:off x="3566160" y="502920"/>
            <a:ext cx="0" cy="5715000"/>
          </a:xfrm>
          <a:prstGeom prst="line">
            <a:avLst/>
          </a:prstGeom>
          <a:noFill/>
          <a:ln w="5080">
            <a:solidFill>
              <a:srgbClr val="0B304B">
                <a:alpha val="12000"/>
              </a:srgbClr>
            </a:solidFill>
            <a:prstDash val="solid"/>
          </a:ln>
        </p:spPr>
      </p:sp>
      <p:sp>
        <p:nvSpPr>
          <p:cNvPr id="9" name="Shape 7"/>
          <p:cNvSpPr/>
          <p:nvPr/>
        </p:nvSpPr>
        <p:spPr>
          <a:xfrm>
            <a:off x="4069080" y="502920"/>
            <a:ext cx="0" cy="5715000"/>
          </a:xfrm>
          <a:prstGeom prst="line">
            <a:avLst/>
          </a:prstGeom>
          <a:noFill/>
          <a:ln w="5080">
            <a:solidFill>
              <a:srgbClr val="0B304B">
                <a:alpha val="12000"/>
              </a:srgbClr>
            </a:solidFill>
            <a:prstDash val="solid"/>
          </a:ln>
        </p:spPr>
      </p:sp>
      <p:sp>
        <p:nvSpPr>
          <p:cNvPr id="10" name="Shape 8"/>
          <p:cNvSpPr/>
          <p:nvPr/>
        </p:nvSpPr>
        <p:spPr>
          <a:xfrm>
            <a:off x="4572000" y="502920"/>
            <a:ext cx="0" cy="5715000"/>
          </a:xfrm>
          <a:prstGeom prst="line">
            <a:avLst/>
          </a:prstGeom>
          <a:noFill/>
          <a:ln w="5080">
            <a:solidFill>
              <a:srgbClr val="0B304B">
                <a:alpha val="12000"/>
              </a:srgbClr>
            </a:solidFill>
            <a:prstDash val="solid"/>
          </a:ln>
        </p:spPr>
      </p:sp>
      <p:sp>
        <p:nvSpPr>
          <p:cNvPr id="11" name="Shape 9"/>
          <p:cNvSpPr/>
          <p:nvPr/>
        </p:nvSpPr>
        <p:spPr>
          <a:xfrm>
            <a:off x="5074920" y="502920"/>
            <a:ext cx="0" cy="5715000"/>
          </a:xfrm>
          <a:prstGeom prst="line">
            <a:avLst/>
          </a:prstGeom>
          <a:noFill/>
          <a:ln w="5080">
            <a:solidFill>
              <a:srgbClr val="0B304B">
                <a:alpha val="12000"/>
              </a:srgbClr>
            </a:solidFill>
            <a:prstDash val="solid"/>
          </a:ln>
        </p:spPr>
      </p:sp>
      <p:sp>
        <p:nvSpPr>
          <p:cNvPr id="12" name="Shape 10"/>
          <p:cNvSpPr/>
          <p:nvPr/>
        </p:nvSpPr>
        <p:spPr>
          <a:xfrm>
            <a:off x="5577840" y="502920"/>
            <a:ext cx="0" cy="5715000"/>
          </a:xfrm>
          <a:prstGeom prst="line">
            <a:avLst/>
          </a:prstGeom>
          <a:noFill/>
          <a:ln w="5080">
            <a:solidFill>
              <a:srgbClr val="0B304B">
                <a:alpha val="12000"/>
              </a:srgbClr>
            </a:solidFill>
            <a:prstDash val="solid"/>
          </a:ln>
        </p:spPr>
      </p:sp>
      <p:sp>
        <p:nvSpPr>
          <p:cNvPr id="13" name="Shape 11"/>
          <p:cNvSpPr/>
          <p:nvPr/>
        </p:nvSpPr>
        <p:spPr>
          <a:xfrm>
            <a:off x="6080760" y="502920"/>
            <a:ext cx="0" cy="5715000"/>
          </a:xfrm>
          <a:prstGeom prst="line">
            <a:avLst/>
          </a:prstGeom>
          <a:noFill/>
          <a:ln w="5080">
            <a:solidFill>
              <a:srgbClr val="0B304B">
                <a:alpha val="12000"/>
              </a:srgbClr>
            </a:solidFill>
            <a:prstDash val="solid"/>
          </a:ln>
        </p:spPr>
      </p:sp>
      <p:sp>
        <p:nvSpPr>
          <p:cNvPr id="14" name="Shape 12"/>
          <p:cNvSpPr/>
          <p:nvPr/>
        </p:nvSpPr>
        <p:spPr>
          <a:xfrm>
            <a:off x="6583680" y="502920"/>
            <a:ext cx="0" cy="5715000"/>
          </a:xfrm>
          <a:prstGeom prst="line">
            <a:avLst/>
          </a:prstGeom>
          <a:noFill/>
          <a:ln w="5080">
            <a:solidFill>
              <a:srgbClr val="0B304B">
                <a:alpha val="12000"/>
              </a:srgbClr>
            </a:solidFill>
            <a:prstDash val="solid"/>
          </a:ln>
        </p:spPr>
      </p:sp>
      <p:sp>
        <p:nvSpPr>
          <p:cNvPr id="15" name="Shape 13"/>
          <p:cNvSpPr/>
          <p:nvPr/>
        </p:nvSpPr>
        <p:spPr>
          <a:xfrm>
            <a:off x="7086600" y="502920"/>
            <a:ext cx="0" cy="5715000"/>
          </a:xfrm>
          <a:prstGeom prst="line">
            <a:avLst/>
          </a:prstGeom>
          <a:noFill/>
          <a:ln w="5080">
            <a:solidFill>
              <a:srgbClr val="0B304B">
                <a:alpha val="12000"/>
              </a:srgbClr>
            </a:solidFill>
            <a:prstDash val="solid"/>
          </a:ln>
        </p:spPr>
      </p:sp>
      <p:sp>
        <p:nvSpPr>
          <p:cNvPr id="16" name="Shape 14"/>
          <p:cNvSpPr/>
          <p:nvPr/>
        </p:nvSpPr>
        <p:spPr>
          <a:xfrm>
            <a:off x="7589520" y="502920"/>
            <a:ext cx="0" cy="5715000"/>
          </a:xfrm>
          <a:prstGeom prst="line">
            <a:avLst/>
          </a:prstGeom>
          <a:noFill/>
          <a:ln w="5080">
            <a:solidFill>
              <a:srgbClr val="0B304B">
                <a:alpha val="12000"/>
              </a:srgbClr>
            </a:solidFill>
            <a:prstDash val="solid"/>
          </a:ln>
        </p:spPr>
      </p:sp>
      <p:sp>
        <p:nvSpPr>
          <p:cNvPr id="17" name="Shape 15"/>
          <p:cNvSpPr/>
          <p:nvPr/>
        </p:nvSpPr>
        <p:spPr>
          <a:xfrm>
            <a:off x="8092440" y="502920"/>
            <a:ext cx="0" cy="5715000"/>
          </a:xfrm>
          <a:prstGeom prst="line">
            <a:avLst/>
          </a:prstGeom>
          <a:noFill/>
          <a:ln w="5080">
            <a:solidFill>
              <a:srgbClr val="0B304B">
                <a:alpha val="12000"/>
              </a:srgbClr>
            </a:solidFill>
            <a:prstDash val="solid"/>
          </a:ln>
        </p:spPr>
      </p:sp>
      <p:sp>
        <p:nvSpPr>
          <p:cNvPr id="18" name="Shape 16"/>
          <p:cNvSpPr/>
          <p:nvPr/>
        </p:nvSpPr>
        <p:spPr>
          <a:xfrm>
            <a:off x="8595360" y="502920"/>
            <a:ext cx="0" cy="5715000"/>
          </a:xfrm>
          <a:prstGeom prst="line">
            <a:avLst/>
          </a:prstGeom>
          <a:noFill/>
          <a:ln w="5080">
            <a:solidFill>
              <a:srgbClr val="0B304B">
                <a:alpha val="12000"/>
              </a:srgbClr>
            </a:solidFill>
            <a:prstDash val="solid"/>
          </a:ln>
        </p:spPr>
      </p:sp>
      <p:sp>
        <p:nvSpPr>
          <p:cNvPr id="19" name="Shape 17"/>
          <p:cNvSpPr/>
          <p:nvPr/>
        </p:nvSpPr>
        <p:spPr>
          <a:xfrm>
            <a:off x="9098280" y="502920"/>
            <a:ext cx="0" cy="5715000"/>
          </a:xfrm>
          <a:prstGeom prst="line">
            <a:avLst/>
          </a:prstGeom>
          <a:noFill/>
          <a:ln w="5080">
            <a:solidFill>
              <a:srgbClr val="0B304B">
                <a:alpha val="12000"/>
              </a:srgbClr>
            </a:solidFill>
            <a:prstDash val="solid"/>
          </a:ln>
        </p:spPr>
      </p:sp>
      <p:sp>
        <p:nvSpPr>
          <p:cNvPr id="20" name="Shape 18"/>
          <p:cNvSpPr/>
          <p:nvPr/>
        </p:nvSpPr>
        <p:spPr>
          <a:xfrm>
            <a:off x="9601200" y="502920"/>
            <a:ext cx="0" cy="5715000"/>
          </a:xfrm>
          <a:prstGeom prst="line">
            <a:avLst/>
          </a:prstGeom>
          <a:noFill/>
          <a:ln w="5080">
            <a:solidFill>
              <a:srgbClr val="0B304B">
                <a:alpha val="12000"/>
              </a:srgbClr>
            </a:solidFill>
            <a:prstDash val="solid"/>
          </a:ln>
        </p:spPr>
      </p:sp>
      <p:sp>
        <p:nvSpPr>
          <p:cNvPr id="21" name="Shape 19"/>
          <p:cNvSpPr/>
          <p:nvPr/>
        </p:nvSpPr>
        <p:spPr>
          <a:xfrm>
            <a:off x="10104120" y="502920"/>
            <a:ext cx="0" cy="5715000"/>
          </a:xfrm>
          <a:prstGeom prst="line">
            <a:avLst/>
          </a:prstGeom>
          <a:noFill/>
          <a:ln w="5080">
            <a:solidFill>
              <a:srgbClr val="0B304B">
                <a:alpha val="12000"/>
              </a:srgbClr>
            </a:solidFill>
            <a:prstDash val="solid"/>
          </a:ln>
        </p:spPr>
      </p:sp>
      <p:sp>
        <p:nvSpPr>
          <p:cNvPr id="22" name="Shape 20"/>
          <p:cNvSpPr/>
          <p:nvPr/>
        </p:nvSpPr>
        <p:spPr>
          <a:xfrm>
            <a:off x="10607040" y="502920"/>
            <a:ext cx="0" cy="5715000"/>
          </a:xfrm>
          <a:prstGeom prst="line">
            <a:avLst/>
          </a:prstGeom>
          <a:noFill/>
          <a:ln w="5080">
            <a:solidFill>
              <a:srgbClr val="0B304B">
                <a:alpha val="12000"/>
              </a:srgbClr>
            </a:solidFill>
            <a:prstDash val="solid"/>
          </a:ln>
        </p:spPr>
      </p:sp>
      <p:sp>
        <p:nvSpPr>
          <p:cNvPr id="23" name="Shape 21"/>
          <p:cNvSpPr/>
          <p:nvPr/>
        </p:nvSpPr>
        <p:spPr>
          <a:xfrm>
            <a:off x="11109960" y="502920"/>
            <a:ext cx="0" cy="5715000"/>
          </a:xfrm>
          <a:prstGeom prst="line">
            <a:avLst/>
          </a:prstGeom>
          <a:noFill/>
          <a:ln w="5080">
            <a:solidFill>
              <a:srgbClr val="0B304B">
                <a:alpha val="12000"/>
              </a:srgbClr>
            </a:solidFill>
            <a:prstDash val="solid"/>
          </a:ln>
        </p:spPr>
      </p:sp>
      <p:sp>
        <p:nvSpPr>
          <p:cNvPr id="24" name="Shape 22"/>
          <p:cNvSpPr/>
          <p:nvPr/>
        </p:nvSpPr>
        <p:spPr>
          <a:xfrm>
            <a:off x="11612880" y="502920"/>
            <a:ext cx="0" cy="5715000"/>
          </a:xfrm>
          <a:prstGeom prst="line">
            <a:avLst/>
          </a:prstGeom>
          <a:noFill/>
          <a:ln w="5080">
            <a:solidFill>
              <a:srgbClr val="0B304B">
                <a:alpha val="12000"/>
              </a:srgbClr>
            </a:solidFill>
            <a:prstDash val="solid"/>
          </a:ln>
        </p:spPr>
      </p:sp>
      <p:sp>
        <p:nvSpPr>
          <p:cNvPr id="25" name="Shape 23"/>
          <p:cNvSpPr/>
          <p:nvPr/>
        </p:nvSpPr>
        <p:spPr>
          <a:xfrm>
            <a:off x="502920" y="566928"/>
            <a:ext cx="11201400" cy="0"/>
          </a:xfrm>
          <a:prstGeom prst="line">
            <a:avLst/>
          </a:prstGeom>
          <a:noFill/>
          <a:ln w="5080">
            <a:solidFill>
              <a:srgbClr val="0B304B">
                <a:alpha val="12000"/>
              </a:srgbClr>
            </a:solidFill>
            <a:prstDash val="solid"/>
          </a:ln>
        </p:spPr>
      </p:sp>
      <p:sp>
        <p:nvSpPr>
          <p:cNvPr id="26" name="Shape 24"/>
          <p:cNvSpPr/>
          <p:nvPr/>
        </p:nvSpPr>
        <p:spPr>
          <a:xfrm>
            <a:off x="502920" y="1069848"/>
            <a:ext cx="11201400" cy="0"/>
          </a:xfrm>
          <a:prstGeom prst="line">
            <a:avLst/>
          </a:prstGeom>
          <a:noFill/>
          <a:ln w="5080">
            <a:solidFill>
              <a:srgbClr val="0B304B">
                <a:alpha val="12000"/>
              </a:srgbClr>
            </a:solidFill>
            <a:prstDash val="solid"/>
          </a:ln>
        </p:spPr>
      </p:sp>
      <p:sp>
        <p:nvSpPr>
          <p:cNvPr id="27" name="Shape 25"/>
          <p:cNvSpPr/>
          <p:nvPr/>
        </p:nvSpPr>
        <p:spPr>
          <a:xfrm>
            <a:off x="502920" y="1572768"/>
            <a:ext cx="11201400" cy="0"/>
          </a:xfrm>
          <a:prstGeom prst="line">
            <a:avLst/>
          </a:prstGeom>
          <a:noFill/>
          <a:ln w="5080">
            <a:solidFill>
              <a:srgbClr val="0B304B">
                <a:alpha val="12000"/>
              </a:srgbClr>
            </a:solidFill>
            <a:prstDash val="solid"/>
          </a:ln>
        </p:spPr>
      </p:sp>
      <p:sp>
        <p:nvSpPr>
          <p:cNvPr id="28" name="Shape 26"/>
          <p:cNvSpPr/>
          <p:nvPr/>
        </p:nvSpPr>
        <p:spPr>
          <a:xfrm>
            <a:off x="502920" y="2075688"/>
            <a:ext cx="11201400" cy="0"/>
          </a:xfrm>
          <a:prstGeom prst="line">
            <a:avLst/>
          </a:prstGeom>
          <a:noFill/>
          <a:ln w="5080">
            <a:solidFill>
              <a:srgbClr val="0B304B">
                <a:alpha val="12000"/>
              </a:srgbClr>
            </a:solidFill>
            <a:prstDash val="solid"/>
          </a:ln>
        </p:spPr>
      </p:sp>
      <p:sp>
        <p:nvSpPr>
          <p:cNvPr id="29" name="Shape 27"/>
          <p:cNvSpPr/>
          <p:nvPr/>
        </p:nvSpPr>
        <p:spPr>
          <a:xfrm>
            <a:off x="502920" y="2578608"/>
            <a:ext cx="11201400" cy="0"/>
          </a:xfrm>
          <a:prstGeom prst="line">
            <a:avLst/>
          </a:prstGeom>
          <a:noFill/>
          <a:ln w="5080">
            <a:solidFill>
              <a:srgbClr val="0B304B">
                <a:alpha val="12000"/>
              </a:srgbClr>
            </a:solidFill>
            <a:prstDash val="solid"/>
          </a:ln>
        </p:spPr>
      </p:sp>
      <p:sp>
        <p:nvSpPr>
          <p:cNvPr id="30" name="Shape 28"/>
          <p:cNvSpPr/>
          <p:nvPr/>
        </p:nvSpPr>
        <p:spPr>
          <a:xfrm>
            <a:off x="502920" y="3081528"/>
            <a:ext cx="11201400" cy="0"/>
          </a:xfrm>
          <a:prstGeom prst="line">
            <a:avLst/>
          </a:prstGeom>
          <a:noFill/>
          <a:ln w="5080">
            <a:solidFill>
              <a:srgbClr val="0B304B">
                <a:alpha val="12000"/>
              </a:srgbClr>
            </a:solidFill>
            <a:prstDash val="solid"/>
          </a:ln>
        </p:spPr>
      </p:sp>
      <p:sp>
        <p:nvSpPr>
          <p:cNvPr id="31" name="Shape 29"/>
          <p:cNvSpPr/>
          <p:nvPr/>
        </p:nvSpPr>
        <p:spPr>
          <a:xfrm>
            <a:off x="502920" y="3584448"/>
            <a:ext cx="11201400" cy="0"/>
          </a:xfrm>
          <a:prstGeom prst="line">
            <a:avLst/>
          </a:prstGeom>
          <a:noFill/>
          <a:ln w="5080">
            <a:solidFill>
              <a:srgbClr val="0B304B">
                <a:alpha val="12000"/>
              </a:srgbClr>
            </a:solidFill>
            <a:prstDash val="solid"/>
          </a:ln>
        </p:spPr>
      </p:sp>
      <p:sp>
        <p:nvSpPr>
          <p:cNvPr id="32" name="Shape 30"/>
          <p:cNvSpPr/>
          <p:nvPr/>
        </p:nvSpPr>
        <p:spPr>
          <a:xfrm>
            <a:off x="502920" y="4087368"/>
            <a:ext cx="11201400" cy="0"/>
          </a:xfrm>
          <a:prstGeom prst="line">
            <a:avLst/>
          </a:prstGeom>
          <a:noFill/>
          <a:ln w="5080">
            <a:solidFill>
              <a:srgbClr val="0B304B">
                <a:alpha val="12000"/>
              </a:srgbClr>
            </a:solidFill>
            <a:prstDash val="solid"/>
          </a:ln>
        </p:spPr>
      </p:sp>
      <p:sp>
        <p:nvSpPr>
          <p:cNvPr id="33" name="Shape 31"/>
          <p:cNvSpPr/>
          <p:nvPr/>
        </p:nvSpPr>
        <p:spPr>
          <a:xfrm>
            <a:off x="502920" y="4590288"/>
            <a:ext cx="11201400" cy="0"/>
          </a:xfrm>
          <a:prstGeom prst="line">
            <a:avLst/>
          </a:prstGeom>
          <a:noFill/>
          <a:ln w="5080">
            <a:solidFill>
              <a:srgbClr val="0B304B">
                <a:alpha val="12000"/>
              </a:srgbClr>
            </a:solidFill>
            <a:prstDash val="solid"/>
          </a:ln>
        </p:spPr>
      </p:sp>
      <p:sp>
        <p:nvSpPr>
          <p:cNvPr id="34" name="Shape 32"/>
          <p:cNvSpPr/>
          <p:nvPr/>
        </p:nvSpPr>
        <p:spPr>
          <a:xfrm>
            <a:off x="502920" y="5093208"/>
            <a:ext cx="11201400" cy="0"/>
          </a:xfrm>
          <a:prstGeom prst="line">
            <a:avLst/>
          </a:prstGeom>
          <a:noFill/>
          <a:ln w="5080">
            <a:solidFill>
              <a:srgbClr val="0B304B">
                <a:alpha val="12000"/>
              </a:srgbClr>
            </a:solidFill>
            <a:prstDash val="solid"/>
          </a:ln>
        </p:spPr>
      </p:sp>
      <p:sp>
        <p:nvSpPr>
          <p:cNvPr id="35" name="Shape 33"/>
          <p:cNvSpPr/>
          <p:nvPr/>
        </p:nvSpPr>
        <p:spPr>
          <a:xfrm>
            <a:off x="502920" y="5596128"/>
            <a:ext cx="11201400" cy="0"/>
          </a:xfrm>
          <a:prstGeom prst="line">
            <a:avLst/>
          </a:prstGeom>
          <a:noFill/>
          <a:ln w="5080">
            <a:solidFill>
              <a:srgbClr val="0B304B">
                <a:alpha val="12000"/>
              </a:srgbClr>
            </a:solidFill>
            <a:prstDash val="solid"/>
          </a:ln>
        </p:spPr>
      </p:sp>
      <p:sp>
        <p:nvSpPr>
          <p:cNvPr id="36" name="Shape 34"/>
          <p:cNvSpPr/>
          <p:nvPr/>
        </p:nvSpPr>
        <p:spPr>
          <a:xfrm>
            <a:off x="502920" y="6099048"/>
            <a:ext cx="11201400" cy="0"/>
          </a:xfrm>
          <a:prstGeom prst="line">
            <a:avLst/>
          </a:prstGeom>
          <a:noFill/>
          <a:ln w="5080">
            <a:solidFill>
              <a:srgbClr val="0B304B">
                <a:alpha val="12000"/>
              </a:srgbClr>
            </a:solidFill>
            <a:prstDash val="solid"/>
          </a:ln>
        </p:spPr>
      </p:sp>
      <p:sp>
        <p:nvSpPr>
          <p:cNvPr id="37" name="Shape 35"/>
          <p:cNvSpPr/>
          <p:nvPr/>
        </p:nvSpPr>
        <p:spPr>
          <a:xfrm>
            <a:off x="502920" y="320040"/>
            <a:ext cx="1417320" cy="256032"/>
          </a:xfrm>
          <a:prstGeom prst="roundRect">
            <a:avLst>
              <a:gd name="adj" fmla="val 17857"/>
            </a:avLst>
          </a:prstGeom>
          <a:solidFill>
            <a:srgbClr val="09273D"/>
          </a:solidFill>
          <a:ln w="10160">
            <a:solidFill>
              <a:srgbClr val="45E4AF">
                <a:alpha val="65000"/>
              </a:srgbClr>
            </a:solidFill>
            <a:prstDash val="solid"/>
          </a:ln>
        </p:spPr>
      </p:sp>
      <p:sp>
        <p:nvSpPr>
          <p:cNvPr id="38"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45E4AF"/>
                </a:solidFill>
                <a:latin typeface="Aptos" pitchFamily="34" charset="0"/>
                <a:ea typeface="Aptos" pitchFamily="34" charset="-122"/>
                <a:cs typeface="Aptos" pitchFamily="34" charset="-120"/>
              </a:rPr>
              <a:t>SAFETY METRICS</a:t>
            </a:r>
            <a:endParaRPr lang="en-US" sz="560" dirty="0"/>
          </a:p>
        </p:txBody>
      </p:sp>
      <p:sp>
        <p:nvSpPr>
          <p:cNvPr id="39"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Aviation Safety Key Metrics</a:t>
            </a:r>
            <a:endParaRPr lang="en-US" sz="2350" dirty="0"/>
          </a:p>
        </p:txBody>
      </p:sp>
      <p:sp>
        <p:nvSpPr>
          <p:cNvPr id="40" name="Text 38"/>
          <p:cNvSpPr/>
          <p:nvPr/>
        </p:nvSpPr>
        <p:spPr>
          <a:xfrm>
            <a:off x="548640" y="1161288"/>
            <a:ext cx="8046720" cy="292608"/>
          </a:xfrm>
          <a:prstGeom prst="rect">
            <a:avLst/>
          </a:prstGeom>
          <a:noFill/>
          <a:ln/>
        </p:spPr>
        <p:txBody>
          <a:bodyPr wrap="square" lIns="0" tIns="0" rIns="0" bIns="0" rtlCol="0" anchor="ctr">
            <a:normAutofit/>
          </a:bodyPr>
          <a:lstStyle/>
          <a:p>
            <a:pPr marL="0" indent="0">
              <a:buNone/>
            </a:pPr>
            <a:r>
              <a:rPr lang="en-US" sz="900" dirty="0">
                <a:solidFill>
                  <a:srgbClr val="8FA9B9"/>
                </a:solidFill>
                <a:latin typeface="Aptos" pitchFamily="34" charset="0"/>
                <a:ea typeface="Aptos" pitchFamily="34" charset="-122"/>
                <a:cs typeface="Aptos" pitchFamily="34" charset="-120"/>
              </a:rPr>
              <a:t>Continuous Improvements in Sky Safety</a:t>
            </a:r>
            <a:endParaRPr lang="en-US" sz="900" dirty="0"/>
          </a:p>
        </p:txBody>
      </p:sp>
      <p:sp>
        <p:nvSpPr>
          <p:cNvPr id="41" name="Shape 39"/>
          <p:cNvSpPr/>
          <p:nvPr/>
        </p:nvSpPr>
        <p:spPr>
          <a:xfrm>
            <a:off x="658368" y="1700784"/>
            <a:ext cx="3886200" cy="3547872"/>
          </a:xfrm>
          <a:prstGeom prst="roundRect">
            <a:avLst>
              <a:gd name="adj" fmla="val 2062"/>
            </a:avLst>
          </a:prstGeom>
          <a:solidFill>
            <a:srgbClr val="082333"/>
          </a:solidFill>
          <a:ln w="11430">
            <a:solidFill>
              <a:srgbClr val="163F5D">
                <a:alpha val="90000"/>
              </a:srgbClr>
            </a:solidFill>
            <a:prstDash val="solid"/>
          </a:ln>
          <a:effectLst>
            <a:outerShdw algn="bl" rotWithShape="0">
              <a:srgbClr val="000000">
                <a:alpha val="0"/>
              </a:srgbClr>
            </a:outerShdw>
          </a:effectLst>
        </p:spPr>
      </p:sp>
      <p:sp>
        <p:nvSpPr>
          <p:cNvPr id="42" name="Shape 40"/>
          <p:cNvSpPr/>
          <p:nvPr/>
        </p:nvSpPr>
        <p:spPr>
          <a:xfrm>
            <a:off x="658368" y="1700784"/>
            <a:ext cx="41148" cy="3547872"/>
          </a:xfrm>
          <a:prstGeom prst="rect">
            <a:avLst/>
          </a:prstGeom>
          <a:solidFill>
            <a:srgbClr val="45E4AF"/>
          </a:solidFill>
          <a:ln w="12700">
            <a:solidFill>
              <a:srgbClr val="45E4AF"/>
            </a:solidFill>
            <a:prstDash val="solid"/>
          </a:ln>
        </p:spPr>
      </p:sp>
      <p:sp>
        <p:nvSpPr>
          <p:cNvPr id="43" name="Text 41"/>
          <p:cNvSpPr/>
          <p:nvPr/>
        </p:nvSpPr>
        <p:spPr>
          <a:xfrm>
            <a:off x="914400" y="2121408"/>
            <a:ext cx="3337560" cy="960120"/>
          </a:xfrm>
          <a:prstGeom prst="rect">
            <a:avLst/>
          </a:prstGeom>
          <a:noFill/>
          <a:ln/>
        </p:spPr>
        <p:txBody>
          <a:bodyPr wrap="square" lIns="0" tIns="0" rIns="0" bIns="0" rtlCol="0" anchor="ctr"/>
          <a:lstStyle/>
          <a:p>
            <a:pPr marL="0" indent="0" algn="ctr">
              <a:buNone/>
            </a:pPr>
            <a:r>
              <a:rPr lang="en-US" sz="4800" b="1" dirty="0">
                <a:solidFill>
                  <a:srgbClr val="45E4AF"/>
                </a:solidFill>
                <a:latin typeface="Aptos Display" pitchFamily="34" charset="0"/>
                <a:ea typeface="Aptos Display" pitchFamily="34" charset="-122"/>
                <a:cs typeface="Aptos Display" pitchFamily="34" charset="-120"/>
              </a:rPr>
              <a:t>80%</a:t>
            </a:r>
            <a:endParaRPr lang="en-US" sz="4800" dirty="0"/>
          </a:p>
        </p:txBody>
      </p:sp>
      <p:sp>
        <p:nvSpPr>
          <p:cNvPr id="44" name="Text 42"/>
          <p:cNvSpPr/>
          <p:nvPr/>
        </p:nvSpPr>
        <p:spPr>
          <a:xfrm>
            <a:off x="1051560" y="3127248"/>
            <a:ext cx="3054096" cy="365760"/>
          </a:xfrm>
          <a:prstGeom prst="rect">
            <a:avLst/>
          </a:prstGeom>
          <a:noFill/>
          <a:ln/>
        </p:spPr>
        <p:txBody>
          <a:bodyPr wrap="square" lIns="0" tIns="0" rIns="0" bIns="0" rtlCol="0" anchor="ctr"/>
          <a:lstStyle/>
          <a:p>
            <a:pPr marL="0" indent="0" algn="ctr">
              <a:buNone/>
            </a:pPr>
            <a:r>
              <a:rPr lang="en-US" sz="1050" dirty="0">
                <a:solidFill>
                  <a:srgbClr val="8FA9B9"/>
                </a:solidFill>
              </a:rPr>
              <a:t>over the last four decades</a:t>
            </a:r>
            <a:endParaRPr lang="en-US" sz="1050" dirty="0"/>
          </a:p>
        </p:txBody>
      </p:sp>
      <p:sp>
        <p:nvSpPr>
          <p:cNvPr id="45" name="Text 43"/>
          <p:cNvSpPr/>
          <p:nvPr/>
        </p:nvSpPr>
        <p:spPr>
          <a:xfrm>
            <a:off x="1024128" y="3767328"/>
            <a:ext cx="3154680" cy="960120"/>
          </a:xfrm>
          <a:prstGeom prst="rect">
            <a:avLst/>
          </a:prstGeom>
          <a:noFill/>
          <a:ln/>
        </p:spPr>
        <p:txBody>
          <a:bodyPr wrap="square" lIns="254" tIns="254" rIns="254" bIns="254" rtlCol="0" anchor="ctr">
            <a:normAutofit/>
          </a:bodyPr>
          <a:lstStyle/>
          <a:p>
            <a:pPr marL="0" indent="0" algn="ctr">
              <a:buNone/>
            </a:pPr>
            <a:r>
              <a:rPr lang="en-US" sz="1090" dirty="0">
                <a:solidFill>
                  <a:srgbClr val="DDEAF2"/>
                </a:solidFill>
              </a:rPr>
              <a:t>Due to rigorous NTSB inquiries and FAA mandates, commercial airliner fatal accident rates have dropped by over 80% over the last four decades.</a:t>
            </a:r>
            <a:endParaRPr lang="en-US" sz="1090" dirty="0"/>
          </a:p>
        </p:txBody>
      </p:sp>
      <p:sp>
        <p:nvSpPr>
          <p:cNvPr id="46" name="Shape 44"/>
          <p:cNvSpPr/>
          <p:nvPr/>
        </p:nvSpPr>
        <p:spPr>
          <a:xfrm>
            <a:off x="4855464" y="1700784"/>
            <a:ext cx="6647688" cy="3547872"/>
          </a:xfrm>
          <a:prstGeom prst="roundRect">
            <a:avLst>
              <a:gd name="adj" fmla="val 2062"/>
            </a:avLst>
          </a:prstGeom>
          <a:solidFill>
            <a:srgbClr val="071B2D"/>
          </a:solidFill>
          <a:ln w="11430">
            <a:solidFill>
              <a:srgbClr val="163F5D">
                <a:alpha val="90000"/>
              </a:srgbClr>
            </a:solidFill>
            <a:prstDash val="solid"/>
          </a:ln>
          <a:effectLst>
            <a:outerShdw algn="bl" rotWithShape="0">
              <a:srgbClr val="000000">
                <a:alpha val="0"/>
              </a:srgbClr>
            </a:outerShdw>
          </a:effectLst>
        </p:spPr>
      </p:sp>
      <p:sp>
        <p:nvSpPr>
          <p:cNvPr id="47" name="Shape 45"/>
          <p:cNvSpPr/>
          <p:nvPr/>
        </p:nvSpPr>
        <p:spPr>
          <a:xfrm>
            <a:off x="4855464" y="1700784"/>
            <a:ext cx="41148" cy="3547872"/>
          </a:xfrm>
          <a:prstGeom prst="rect">
            <a:avLst/>
          </a:prstGeom>
          <a:solidFill>
            <a:srgbClr val="16DFF7"/>
          </a:solidFill>
          <a:ln w="12700">
            <a:solidFill>
              <a:srgbClr val="16DFF7"/>
            </a:solidFill>
            <a:prstDash val="solid"/>
          </a:ln>
        </p:spPr>
      </p:sp>
      <p:sp>
        <p:nvSpPr>
          <p:cNvPr id="48" name="Text 46"/>
          <p:cNvSpPr/>
          <p:nvPr/>
        </p:nvSpPr>
        <p:spPr>
          <a:xfrm>
            <a:off x="5276088" y="2212848"/>
            <a:ext cx="5788152" cy="1051560"/>
          </a:xfrm>
          <a:prstGeom prst="rect">
            <a:avLst/>
          </a:prstGeom>
          <a:noFill/>
          <a:ln/>
        </p:spPr>
        <p:txBody>
          <a:bodyPr wrap="square" lIns="381" tIns="381" rIns="381" bIns="381" rtlCol="0" anchor="ctr">
            <a:normAutofit/>
          </a:bodyPr>
          <a:lstStyle/>
          <a:p>
            <a:pPr marL="0" indent="0">
              <a:buNone/>
            </a:pPr>
            <a:r>
              <a:rPr lang="en-US" sz="2000" b="1" dirty="0">
                <a:solidFill>
                  <a:srgbClr val="F5FAFE"/>
                </a:solidFill>
              </a:rPr>
              <a:t>Commercial aviation remains the safest mode of long-distance transportation   worldwide.</a:t>
            </a:r>
            <a:endParaRPr lang="en-US" sz="2000" dirty="0"/>
          </a:p>
        </p:txBody>
      </p:sp>
      <p:sp>
        <p:nvSpPr>
          <p:cNvPr id="49" name="Shape 47"/>
          <p:cNvSpPr/>
          <p:nvPr/>
        </p:nvSpPr>
        <p:spPr>
          <a:xfrm>
            <a:off x="5276088" y="3520440"/>
            <a:ext cx="5175504" cy="0"/>
          </a:xfrm>
          <a:prstGeom prst="line">
            <a:avLst/>
          </a:prstGeom>
          <a:noFill/>
          <a:ln w="12700">
            <a:solidFill>
              <a:srgbClr val="16415A"/>
            </a:solidFill>
            <a:prstDash val="solid"/>
          </a:ln>
        </p:spPr>
      </p:sp>
      <p:sp>
        <p:nvSpPr>
          <p:cNvPr id="50" name="Text 48"/>
          <p:cNvSpPr/>
          <p:nvPr/>
        </p:nvSpPr>
        <p:spPr>
          <a:xfrm>
            <a:off x="5276088" y="3822192"/>
            <a:ext cx="5303520" cy="457200"/>
          </a:xfrm>
          <a:prstGeom prst="rect">
            <a:avLst/>
          </a:prstGeom>
          <a:noFill/>
          <a:ln/>
        </p:spPr>
        <p:txBody>
          <a:bodyPr wrap="square" lIns="0" tIns="0" rIns="0" bIns="0" rtlCol="0" anchor="ctr"/>
          <a:lstStyle/>
          <a:p>
            <a:pPr marL="0" indent="0">
              <a:buNone/>
            </a:pPr>
            <a:r>
              <a:rPr lang="en-US" sz="1400" b="1" dirty="0">
                <a:solidFill>
                  <a:srgbClr val="16DFF7"/>
                </a:solidFill>
              </a:rPr>
              <a:t>Continuous Improvements in Sky Safety</a:t>
            </a:r>
            <a:endParaRPr lang="en-US" sz="1400" dirty="0"/>
          </a:p>
        </p:txBody>
      </p:sp>
      <p:sp>
        <p:nvSpPr>
          <p:cNvPr id="51" name="Shape 49"/>
          <p:cNvSpPr/>
          <p:nvPr/>
        </p:nvSpPr>
        <p:spPr>
          <a:xfrm rot="5400000">
            <a:off x="9814255" y="4160520"/>
            <a:ext cx="213970" cy="594360"/>
          </a:xfrm>
          <a:prstGeom prst="chevron">
            <a:avLst/>
          </a:prstGeom>
          <a:solidFill>
            <a:srgbClr val="16DFF7">
              <a:alpha val="45000"/>
            </a:srgbClr>
          </a:solidFill>
          <a:ln w="12700">
            <a:solidFill>
              <a:srgbClr val="16DFF7">
                <a:alpha val="0"/>
              </a:srgbClr>
            </a:solidFill>
            <a:prstDash val="solid"/>
          </a:ln>
        </p:spPr>
      </p:sp>
      <p:sp>
        <p:nvSpPr>
          <p:cNvPr id="52" name="Shape 50"/>
          <p:cNvSpPr/>
          <p:nvPr/>
        </p:nvSpPr>
        <p:spPr>
          <a:xfrm>
            <a:off x="9897466" y="4374490"/>
            <a:ext cx="47549" cy="594360"/>
          </a:xfrm>
          <a:prstGeom prst="rect">
            <a:avLst/>
          </a:prstGeom>
          <a:solidFill>
            <a:srgbClr val="16DFF7">
              <a:alpha val="45000"/>
            </a:srgbClr>
          </a:solidFill>
          <a:ln w="12700">
            <a:solidFill>
              <a:srgbClr val="16DFF7">
                <a:alpha val="0"/>
              </a:srgbClr>
            </a:solidFill>
            <a:prstDash val="solid"/>
          </a:ln>
        </p:spPr>
      </p:sp>
      <p:sp>
        <p:nvSpPr>
          <p:cNvPr id="53" name="Shape 51"/>
          <p:cNvSpPr/>
          <p:nvPr/>
        </p:nvSpPr>
        <p:spPr>
          <a:xfrm>
            <a:off x="9481414" y="4493362"/>
            <a:ext cx="879653" cy="142646"/>
          </a:xfrm>
          <a:prstGeom prst="parallelogram">
            <a:avLst/>
          </a:prstGeom>
          <a:solidFill>
            <a:srgbClr val="16DFF7">
              <a:alpha val="45000"/>
            </a:srgbClr>
          </a:solidFill>
          <a:ln w="12700">
            <a:solidFill>
              <a:srgbClr val="16DFF7">
                <a:alpha val="0"/>
              </a:srgbClr>
            </a:solidFill>
            <a:prstDash val="solid"/>
          </a:ln>
        </p:spPr>
      </p:sp>
      <p:pic>
        <p:nvPicPr>
          <p:cNvPr id="54" name="Image 0" descr="/mnt/data/radar_sweep.gif"/>
          <p:cNvPicPr>
            <a:picLocks noChangeAspect="1"/>
          </p:cNvPicPr>
          <p:nvPr/>
        </p:nvPicPr>
        <p:blipFill>
          <a:blip r:embed="rId3"/>
          <a:stretch>
            <a:fillRect/>
          </a:stretch>
        </p:blipFill>
        <p:spPr>
          <a:xfrm>
            <a:off x="10826496" y="4709160"/>
            <a:ext cx="566928" cy="566928"/>
          </a:xfrm>
          <a:prstGeom prst="rect">
            <a:avLst/>
          </a:prstGeom>
        </p:spPr>
      </p:pic>
      <p:sp>
        <p:nvSpPr>
          <p:cNvPr id="55" name="Shape 52">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56" name="Text 53">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57" name="Shape 54">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58" name="Text 55">
            <a:hlinkClick r:id="rId5" action="ppaction://hlinksldjump"/>
          </p:cNvPr>
          <p:cNvSpPr/>
          <p:nvPr/>
        </p:nvSpPr>
        <p:spPr>
          <a:xfrm>
            <a:off x="10936224"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59"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12000"/>
              </a:srgbClr>
            </a:solidFill>
            <a:prstDash val="solid"/>
          </a:ln>
        </p:spPr>
      </p:sp>
      <p:sp>
        <p:nvSpPr>
          <p:cNvPr id="3" name="Shape 1"/>
          <p:cNvSpPr/>
          <p:nvPr/>
        </p:nvSpPr>
        <p:spPr>
          <a:xfrm>
            <a:off x="1051560" y="502920"/>
            <a:ext cx="0" cy="5715000"/>
          </a:xfrm>
          <a:prstGeom prst="line">
            <a:avLst/>
          </a:prstGeom>
          <a:noFill/>
          <a:ln w="5080">
            <a:solidFill>
              <a:srgbClr val="0B304B">
                <a:alpha val="12000"/>
              </a:srgbClr>
            </a:solidFill>
            <a:prstDash val="solid"/>
          </a:ln>
        </p:spPr>
      </p:sp>
      <p:sp>
        <p:nvSpPr>
          <p:cNvPr id="4" name="Shape 2"/>
          <p:cNvSpPr/>
          <p:nvPr/>
        </p:nvSpPr>
        <p:spPr>
          <a:xfrm>
            <a:off x="1554480" y="502920"/>
            <a:ext cx="0" cy="5715000"/>
          </a:xfrm>
          <a:prstGeom prst="line">
            <a:avLst/>
          </a:prstGeom>
          <a:noFill/>
          <a:ln w="5080">
            <a:solidFill>
              <a:srgbClr val="0B304B">
                <a:alpha val="12000"/>
              </a:srgbClr>
            </a:solidFill>
            <a:prstDash val="solid"/>
          </a:ln>
        </p:spPr>
      </p:sp>
      <p:sp>
        <p:nvSpPr>
          <p:cNvPr id="5" name="Shape 3"/>
          <p:cNvSpPr/>
          <p:nvPr/>
        </p:nvSpPr>
        <p:spPr>
          <a:xfrm>
            <a:off x="2057400" y="502920"/>
            <a:ext cx="0" cy="5715000"/>
          </a:xfrm>
          <a:prstGeom prst="line">
            <a:avLst/>
          </a:prstGeom>
          <a:noFill/>
          <a:ln w="5080">
            <a:solidFill>
              <a:srgbClr val="0B304B">
                <a:alpha val="12000"/>
              </a:srgbClr>
            </a:solidFill>
            <a:prstDash val="solid"/>
          </a:ln>
        </p:spPr>
      </p:sp>
      <p:sp>
        <p:nvSpPr>
          <p:cNvPr id="6" name="Shape 4"/>
          <p:cNvSpPr/>
          <p:nvPr/>
        </p:nvSpPr>
        <p:spPr>
          <a:xfrm>
            <a:off x="2560320" y="502920"/>
            <a:ext cx="0" cy="5715000"/>
          </a:xfrm>
          <a:prstGeom prst="line">
            <a:avLst/>
          </a:prstGeom>
          <a:noFill/>
          <a:ln w="5080">
            <a:solidFill>
              <a:srgbClr val="0B304B">
                <a:alpha val="12000"/>
              </a:srgbClr>
            </a:solidFill>
            <a:prstDash val="solid"/>
          </a:ln>
        </p:spPr>
      </p:sp>
      <p:sp>
        <p:nvSpPr>
          <p:cNvPr id="7" name="Shape 5"/>
          <p:cNvSpPr/>
          <p:nvPr/>
        </p:nvSpPr>
        <p:spPr>
          <a:xfrm>
            <a:off x="3063240" y="502920"/>
            <a:ext cx="0" cy="5715000"/>
          </a:xfrm>
          <a:prstGeom prst="line">
            <a:avLst/>
          </a:prstGeom>
          <a:noFill/>
          <a:ln w="5080">
            <a:solidFill>
              <a:srgbClr val="0B304B">
                <a:alpha val="12000"/>
              </a:srgbClr>
            </a:solidFill>
            <a:prstDash val="solid"/>
          </a:ln>
        </p:spPr>
      </p:sp>
      <p:sp>
        <p:nvSpPr>
          <p:cNvPr id="8" name="Shape 6"/>
          <p:cNvSpPr/>
          <p:nvPr/>
        </p:nvSpPr>
        <p:spPr>
          <a:xfrm>
            <a:off x="3566160" y="502920"/>
            <a:ext cx="0" cy="5715000"/>
          </a:xfrm>
          <a:prstGeom prst="line">
            <a:avLst/>
          </a:prstGeom>
          <a:noFill/>
          <a:ln w="5080">
            <a:solidFill>
              <a:srgbClr val="0B304B">
                <a:alpha val="12000"/>
              </a:srgbClr>
            </a:solidFill>
            <a:prstDash val="solid"/>
          </a:ln>
        </p:spPr>
      </p:sp>
      <p:sp>
        <p:nvSpPr>
          <p:cNvPr id="9" name="Shape 7"/>
          <p:cNvSpPr/>
          <p:nvPr/>
        </p:nvSpPr>
        <p:spPr>
          <a:xfrm>
            <a:off x="4069080" y="502920"/>
            <a:ext cx="0" cy="5715000"/>
          </a:xfrm>
          <a:prstGeom prst="line">
            <a:avLst/>
          </a:prstGeom>
          <a:noFill/>
          <a:ln w="5080">
            <a:solidFill>
              <a:srgbClr val="0B304B">
                <a:alpha val="12000"/>
              </a:srgbClr>
            </a:solidFill>
            <a:prstDash val="solid"/>
          </a:ln>
        </p:spPr>
      </p:sp>
      <p:sp>
        <p:nvSpPr>
          <p:cNvPr id="10" name="Shape 8"/>
          <p:cNvSpPr/>
          <p:nvPr/>
        </p:nvSpPr>
        <p:spPr>
          <a:xfrm>
            <a:off x="4572000" y="502920"/>
            <a:ext cx="0" cy="5715000"/>
          </a:xfrm>
          <a:prstGeom prst="line">
            <a:avLst/>
          </a:prstGeom>
          <a:noFill/>
          <a:ln w="5080">
            <a:solidFill>
              <a:srgbClr val="0B304B">
                <a:alpha val="12000"/>
              </a:srgbClr>
            </a:solidFill>
            <a:prstDash val="solid"/>
          </a:ln>
        </p:spPr>
      </p:sp>
      <p:sp>
        <p:nvSpPr>
          <p:cNvPr id="11" name="Shape 9"/>
          <p:cNvSpPr/>
          <p:nvPr/>
        </p:nvSpPr>
        <p:spPr>
          <a:xfrm>
            <a:off x="5074920" y="502920"/>
            <a:ext cx="0" cy="5715000"/>
          </a:xfrm>
          <a:prstGeom prst="line">
            <a:avLst/>
          </a:prstGeom>
          <a:noFill/>
          <a:ln w="5080">
            <a:solidFill>
              <a:srgbClr val="0B304B">
                <a:alpha val="12000"/>
              </a:srgbClr>
            </a:solidFill>
            <a:prstDash val="solid"/>
          </a:ln>
        </p:spPr>
      </p:sp>
      <p:sp>
        <p:nvSpPr>
          <p:cNvPr id="12" name="Shape 10"/>
          <p:cNvSpPr/>
          <p:nvPr/>
        </p:nvSpPr>
        <p:spPr>
          <a:xfrm>
            <a:off x="5577840" y="502920"/>
            <a:ext cx="0" cy="5715000"/>
          </a:xfrm>
          <a:prstGeom prst="line">
            <a:avLst/>
          </a:prstGeom>
          <a:noFill/>
          <a:ln w="5080">
            <a:solidFill>
              <a:srgbClr val="0B304B">
                <a:alpha val="12000"/>
              </a:srgbClr>
            </a:solidFill>
            <a:prstDash val="solid"/>
          </a:ln>
        </p:spPr>
      </p:sp>
      <p:sp>
        <p:nvSpPr>
          <p:cNvPr id="13" name="Shape 11"/>
          <p:cNvSpPr/>
          <p:nvPr/>
        </p:nvSpPr>
        <p:spPr>
          <a:xfrm>
            <a:off x="6080760" y="502920"/>
            <a:ext cx="0" cy="5715000"/>
          </a:xfrm>
          <a:prstGeom prst="line">
            <a:avLst/>
          </a:prstGeom>
          <a:noFill/>
          <a:ln w="5080">
            <a:solidFill>
              <a:srgbClr val="0B304B">
                <a:alpha val="12000"/>
              </a:srgbClr>
            </a:solidFill>
            <a:prstDash val="solid"/>
          </a:ln>
        </p:spPr>
      </p:sp>
      <p:sp>
        <p:nvSpPr>
          <p:cNvPr id="14" name="Shape 12"/>
          <p:cNvSpPr/>
          <p:nvPr/>
        </p:nvSpPr>
        <p:spPr>
          <a:xfrm>
            <a:off x="6583680" y="502920"/>
            <a:ext cx="0" cy="5715000"/>
          </a:xfrm>
          <a:prstGeom prst="line">
            <a:avLst/>
          </a:prstGeom>
          <a:noFill/>
          <a:ln w="5080">
            <a:solidFill>
              <a:srgbClr val="0B304B">
                <a:alpha val="12000"/>
              </a:srgbClr>
            </a:solidFill>
            <a:prstDash val="solid"/>
          </a:ln>
        </p:spPr>
      </p:sp>
      <p:sp>
        <p:nvSpPr>
          <p:cNvPr id="15" name="Shape 13"/>
          <p:cNvSpPr/>
          <p:nvPr/>
        </p:nvSpPr>
        <p:spPr>
          <a:xfrm>
            <a:off x="7086600" y="502920"/>
            <a:ext cx="0" cy="5715000"/>
          </a:xfrm>
          <a:prstGeom prst="line">
            <a:avLst/>
          </a:prstGeom>
          <a:noFill/>
          <a:ln w="5080">
            <a:solidFill>
              <a:srgbClr val="0B304B">
                <a:alpha val="12000"/>
              </a:srgbClr>
            </a:solidFill>
            <a:prstDash val="solid"/>
          </a:ln>
        </p:spPr>
      </p:sp>
      <p:sp>
        <p:nvSpPr>
          <p:cNvPr id="16" name="Shape 14"/>
          <p:cNvSpPr/>
          <p:nvPr/>
        </p:nvSpPr>
        <p:spPr>
          <a:xfrm>
            <a:off x="7589520" y="502920"/>
            <a:ext cx="0" cy="5715000"/>
          </a:xfrm>
          <a:prstGeom prst="line">
            <a:avLst/>
          </a:prstGeom>
          <a:noFill/>
          <a:ln w="5080">
            <a:solidFill>
              <a:srgbClr val="0B304B">
                <a:alpha val="12000"/>
              </a:srgbClr>
            </a:solidFill>
            <a:prstDash val="solid"/>
          </a:ln>
        </p:spPr>
      </p:sp>
      <p:sp>
        <p:nvSpPr>
          <p:cNvPr id="17" name="Shape 15"/>
          <p:cNvSpPr/>
          <p:nvPr/>
        </p:nvSpPr>
        <p:spPr>
          <a:xfrm>
            <a:off x="8092440" y="502920"/>
            <a:ext cx="0" cy="5715000"/>
          </a:xfrm>
          <a:prstGeom prst="line">
            <a:avLst/>
          </a:prstGeom>
          <a:noFill/>
          <a:ln w="5080">
            <a:solidFill>
              <a:srgbClr val="0B304B">
                <a:alpha val="12000"/>
              </a:srgbClr>
            </a:solidFill>
            <a:prstDash val="solid"/>
          </a:ln>
        </p:spPr>
      </p:sp>
      <p:sp>
        <p:nvSpPr>
          <p:cNvPr id="18" name="Shape 16"/>
          <p:cNvSpPr/>
          <p:nvPr/>
        </p:nvSpPr>
        <p:spPr>
          <a:xfrm>
            <a:off x="8595360" y="502920"/>
            <a:ext cx="0" cy="5715000"/>
          </a:xfrm>
          <a:prstGeom prst="line">
            <a:avLst/>
          </a:prstGeom>
          <a:noFill/>
          <a:ln w="5080">
            <a:solidFill>
              <a:srgbClr val="0B304B">
                <a:alpha val="12000"/>
              </a:srgbClr>
            </a:solidFill>
            <a:prstDash val="solid"/>
          </a:ln>
        </p:spPr>
      </p:sp>
      <p:sp>
        <p:nvSpPr>
          <p:cNvPr id="19" name="Shape 17"/>
          <p:cNvSpPr/>
          <p:nvPr/>
        </p:nvSpPr>
        <p:spPr>
          <a:xfrm>
            <a:off x="9098280" y="502920"/>
            <a:ext cx="0" cy="5715000"/>
          </a:xfrm>
          <a:prstGeom prst="line">
            <a:avLst/>
          </a:prstGeom>
          <a:noFill/>
          <a:ln w="5080">
            <a:solidFill>
              <a:srgbClr val="0B304B">
                <a:alpha val="12000"/>
              </a:srgbClr>
            </a:solidFill>
            <a:prstDash val="solid"/>
          </a:ln>
        </p:spPr>
      </p:sp>
      <p:sp>
        <p:nvSpPr>
          <p:cNvPr id="20" name="Shape 18"/>
          <p:cNvSpPr/>
          <p:nvPr/>
        </p:nvSpPr>
        <p:spPr>
          <a:xfrm>
            <a:off x="9601200" y="502920"/>
            <a:ext cx="0" cy="5715000"/>
          </a:xfrm>
          <a:prstGeom prst="line">
            <a:avLst/>
          </a:prstGeom>
          <a:noFill/>
          <a:ln w="5080">
            <a:solidFill>
              <a:srgbClr val="0B304B">
                <a:alpha val="12000"/>
              </a:srgbClr>
            </a:solidFill>
            <a:prstDash val="solid"/>
          </a:ln>
        </p:spPr>
      </p:sp>
      <p:sp>
        <p:nvSpPr>
          <p:cNvPr id="21" name="Shape 19"/>
          <p:cNvSpPr/>
          <p:nvPr/>
        </p:nvSpPr>
        <p:spPr>
          <a:xfrm>
            <a:off x="10104120" y="502920"/>
            <a:ext cx="0" cy="5715000"/>
          </a:xfrm>
          <a:prstGeom prst="line">
            <a:avLst/>
          </a:prstGeom>
          <a:noFill/>
          <a:ln w="5080">
            <a:solidFill>
              <a:srgbClr val="0B304B">
                <a:alpha val="12000"/>
              </a:srgbClr>
            </a:solidFill>
            <a:prstDash val="solid"/>
          </a:ln>
        </p:spPr>
      </p:sp>
      <p:sp>
        <p:nvSpPr>
          <p:cNvPr id="22" name="Shape 20"/>
          <p:cNvSpPr/>
          <p:nvPr/>
        </p:nvSpPr>
        <p:spPr>
          <a:xfrm>
            <a:off x="10607040" y="502920"/>
            <a:ext cx="0" cy="5715000"/>
          </a:xfrm>
          <a:prstGeom prst="line">
            <a:avLst/>
          </a:prstGeom>
          <a:noFill/>
          <a:ln w="5080">
            <a:solidFill>
              <a:srgbClr val="0B304B">
                <a:alpha val="12000"/>
              </a:srgbClr>
            </a:solidFill>
            <a:prstDash val="solid"/>
          </a:ln>
        </p:spPr>
      </p:sp>
      <p:sp>
        <p:nvSpPr>
          <p:cNvPr id="23" name="Shape 21"/>
          <p:cNvSpPr/>
          <p:nvPr/>
        </p:nvSpPr>
        <p:spPr>
          <a:xfrm>
            <a:off x="11109960" y="502920"/>
            <a:ext cx="0" cy="5715000"/>
          </a:xfrm>
          <a:prstGeom prst="line">
            <a:avLst/>
          </a:prstGeom>
          <a:noFill/>
          <a:ln w="5080">
            <a:solidFill>
              <a:srgbClr val="0B304B">
                <a:alpha val="12000"/>
              </a:srgbClr>
            </a:solidFill>
            <a:prstDash val="solid"/>
          </a:ln>
        </p:spPr>
      </p:sp>
      <p:sp>
        <p:nvSpPr>
          <p:cNvPr id="24" name="Shape 22"/>
          <p:cNvSpPr/>
          <p:nvPr/>
        </p:nvSpPr>
        <p:spPr>
          <a:xfrm>
            <a:off x="11612880" y="502920"/>
            <a:ext cx="0" cy="5715000"/>
          </a:xfrm>
          <a:prstGeom prst="line">
            <a:avLst/>
          </a:prstGeom>
          <a:noFill/>
          <a:ln w="5080">
            <a:solidFill>
              <a:srgbClr val="0B304B">
                <a:alpha val="12000"/>
              </a:srgbClr>
            </a:solidFill>
            <a:prstDash val="solid"/>
          </a:ln>
        </p:spPr>
      </p:sp>
      <p:sp>
        <p:nvSpPr>
          <p:cNvPr id="25" name="Shape 23"/>
          <p:cNvSpPr/>
          <p:nvPr/>
        </p:nvSpPr>
        <p:spPr>
          <a:xfrm>
            <a:off x="502920" y="566928"/>
            <a:ext cx="11201400" cy="0"/>
          </a:xfrm>
          <a:prstGeom prst="line">
            <a:avLst/>
          </a:prstGeom>
          <a:noFill/>
          <a:ln w="5080">
            <a:solidFill>
              <a:srgbClr val="0B304B">
                <a:alpha val="12000"/>
              </a:srgbClr>
            </a:solidFill>
            <a:prstDash val="solid"/>
          </a:ln>
        </p:spPr>
      </p:sp>
      <p:sp>
        <p:nvSpPr>
          <p:cNvPr id="26" name="Shape 24"/>
          <p:cNvSpPr/>
          <p:nvPr/>
        </p:nvSpPr>
        <p:spPr>
          <a:xfrm>
            <a:off x="502920" y="1069848"/>
            <a:ext cx="11201400" cy="0"/>
          </a:xfrm>
          <a:prstGeom prst="line">
            <a:avLst/>
          </a:prstGeom>
          <a:noFill/>
          <a:ln w="5080">
            <a:solidFill>
              <a:srgbClr val="0B304B">
                <a:alpha val="12000"/>
              </a:srgbClr>
            </a:solidFill>
            <a:prstDash val="solid"/>
          </a:ln>
        </p:spPr>
      </p:sp>
      <p:sp>
        <p:nvSpPr>
          <p:cNvPr id="27" name="Shape 25"/>
          <p:cNvSpPr/>
          <p:nvPr/>
        </p:nvSpPr>
        <p:spPr>
          <a:xfrm>
            <a:off x="502920" y="1572768"/>
            <a:ext cx="11201400" cy="0"/>
          </a:xfrm>
          <a:prstGeom prst="line">
            <a:avLst/>
          </a:prstGeom>
          <a:noFill/>
          <a:ln w="5080">
            <a:solidFill>
              <a:srgbClr val="0B304B">
                <a:alpha val="12000"/>
              </a:srgbClr>
            </a:solidFill>
            <a:prstDash val="solid"/>
          </a:ln>
        </p:spPr>
      </p:sp>
      <p:sp>
        <p:nvSpPr>
          <p:cNvPr id="28" name="Shape 26"/>
          <p:cNvSpPr/>
          <p:nvPr/>
        </p:nvSpPr>
        <p:spPr>
          <a:xfrm>
            <a:off x="502920" y="2075688"/>
            <a:ext cx="11201400" cy="0"/>
          </a:xfrm>
          <a:prstGeom prst="line">
            <a:avLst/>
          </a:prstGeom>
          <a:noFill/>
          <a:ln w="5080">
            <a:solidFill>
              <a:srgbClr val="0B304B">
                <a:alpha val="12000"/>
              </a:srgbClr>
            </a:solidFill>
            <a:prstDash val="solid"/>
          </a:ln>
        </p:spPr>
      </p:sp>
      <p:sp>
        <p:nvSpPr>
          <p:cNvPr id="29" name="Shape 27"/>
          <p:cNvSpPr/>
          <p:nvPr/>
        </p:nvSpPr>
        <p:spPr>
          <a:xfrm>
            <a:off x="502920" y="2578608"/>
            <a:ext cx="11201400" cy="0"/>
          </a:xfrm>
          <a:prstGeom prst="line">
            <a:avLst/>
          </a:prstGeom>
          <a:noFill/>
          <a:ln w="5080">
            <a:solidFill>
              <a:srgbClr val="0B304B">
                <a:alpha val="12000"/>
              </a:srgbClr>
            </a:solidFill>
            <a:prstDash val="solid"/>
          </a:ln>
        </p:spPr>
      </p:sp>
      <p:sp>
        <p:nvSpPr>
          <p:cNvPr id="30" name="Shape 28"/>
          <p:cNvSpPr/>
          <p:nvPr/>
        </p:nvSpPr>
        <p:spPr>
          <a:xfrm>
            <a:off x="502920" y="3081528"/>
            <a:ext cx="11201400" cy="0"/>
          </a:xfrm>
          <a:prstGeom prst="line">
            <a:avLst/>
          </a:prstGeom>
          <a:noFill/>
          <a:ln w="5080">
            <a:solidFill>
              <a:srgbClr val="0B304B">
                <a:alpha val="12000"/>
              </a:srgbClr>
            </a:solidFill>
            <a:prstDash val="solid"/>
          </a:ln>
        </p:spPr>
      </p:sp>
      <p:sp>
        <p:nvSpPr>
          <p:cNvPr id="31" name="Shape 29"/>
          <p:cNvSpPr/>
          <p:nvPr/>
        </p:nvSpPr>
        <p:spPr>
          <a:xfrm>
            <a:off x="502920" y="3584448"/>
            <a:ext cx="11201400" cy="0"/>
          </a:xfrm>
          <a:prstGeom prst="line">
            <a:avLst/>
          </a:prstGeom>
          <a:noFill/>
          <a:ln w="5080">
            <a:solidFill>
              <a:srgbClr val="0B304B">
                <a:alpha val="12000"/>
              </a:srgbClr>
            </a:solidFill>
            <a:prstDash val="solid"/>
          </a:ln>
        </p:spPr>
      </p:sp>
      <p:sp>
        <p:nvSpPr>
          <p:cNvPr id="32" name="Shape 30"/>
          <p:cNvSpPr/>
          <p:nvPr/>
        </p:nvSpPr>
        <p:spPr>
          <a:xfrm>
            <a:off x="502920" y="4087368"/>
            <a:ext cx="11201400" cy="0"/>
          </a:xfrm>
          <a:prstGeom prst="line">
            <a:avLst/>
          </a:prstGeom>
          <a:noFill/>
          <a:ln w="5080">
            <a:solidFill>
              <a:srgbClr val="0B304B">
                <a:alpha val="12000"/>
              </a:srgbClr>
            </a:solidFill>
            <a:prstDash val="solid"/>
          </a:ln>
        </p:spPr>
      </p:sp>
      <p:sp>
        <p:nvSpPr>
          <p:cNvPr id="33" name="Shape 31"/>
          <p:cNvSpPr/>
          <p:nvPr/>
        </p:nvSpPr>
        <p:spPr>
          <a:xfrm>
            <a:off x="502920" y="4590288"/>
            <a:ext cx="11201400" cy="0"/>
          </a:xfrm>
          <a:prstGeom prst="line">
            <a:avLst/>
          </a:prstGeom>
          <a:noFill/>
          <a:ln w="5080">
            <a:solidFill>
              <a:srgbClr val="0B304B">
                <a:alpha val="12000"/>
              </a:srgbClr>
            </a:solidFill>
            <a:prstDash val="solid"/>
          </a:ln>
        </p:spPr>
      </p:sp>
      <p:sp>
        <p:nvSpPr>
          <p:cNvPr id="34" name="Shape 32"/>
          <p:cNvSpPr/>
          <p:nvPr/>
        </p:nvSpPr>
        <p:spPr>
          <a:xfrm>
            <a:off x="502920" y="5093208"/>
            <a:ext cx="11201400" cy="0"/>
          </a:xfrm>
          <a:prstGeom prst="line">
            <a:avLst/>
          </a:prstGeom>
          <a:noFill/>
          <a:ln w="5080">
            <a:solidFill>
              <a:srgbClr val="0B304B">
                <a:alpha val="12000"/>
              </a:srgbClr>
            </a:solidFill>
            <a:prstDash val="solid"/>
          </a:ln>
        </p:spPr>
      </p:sp>
      <p:sp>
        <p:nvSpPr>
          <p:cNvPr id="35" name="Shape 33"/>
          <p:cNvSpPr/>
          <p:nvPr/>
        </p:nvSpPr>
        <p:spPr>
          <a:xfrm>
            <a:off x="502920" y="5596128"/>
            <a:ext cx="11201400" cy="0"/>
          </a:xfrm>
          <a:prstGeom prst="line">
            <a:avLst/>
          </a:prstGeom>
          <a:noFill/>
          <a:ln w="5080">
            <a:solidFill>
              <a:srgbClr val="0B304B">
                <a:alpha val="12000"/>
              </a:srgbClr>
            </a:solidFill>
            <a:prstDash val="solid"/>
          </a:ln>
        </p:spPr>
      </p:sp>
      <p:sp>
        <p:nvSpPr>
          <p:cNvPr id="36" name="Shape 34"/>
          <p:cNvSpPr/>
          <p:nvPr/>
        </p:nvSpPr>
        <p:spPr>
          <a:xfrm>
            <a:off x="502920" y="6099048"/>
            <a:ext cx="11201400" cy="0"/>
          </a:xfrm>
          <a:prstGeom prst="line">
            <a:avLst/>
          </a:prstGeom>
          <a:noFill/>
          <a:ln w="5080">
            <a:solidFill>
              <a:srgbClr val="0B304B">
                <a:alpha val="12000"/>
              </a:srgbClr>
            </a:solidFill>
            <a:prstDash val="solid"/>
          </a:ln>
        </p:spPr>
      </p:sp>
      <p:sp>
        <p:nvSpPr>
          <p:cNvPr id="37" name="Shape 35"/>
          <p:cNvSpPr/>
          <p:nvPr/>
        </p:nvSpPr>
        <p:spPr>
          <a:xfrm>
            <a:off x="502920" y="320040"/>
            <a:ext cx="1417320" cy="256032"/>
          </a:xfrm>
          <a:prstGeom prst="roundRect">
            <a:avLst>
              <a:gd name="adj" fmla="val 17857"/>
            </a:avLst>
          </a:prstGeom>
          <a:solidFill>
            <a:srgbClr val="09273D"/>
          </a:solidFill>
          <a:ln w="10160">
            <a:solidFill>
              <a:srgbClr val="FFB22C">
                <a:alpha val="65000"/>
              </a:srgbClr>
            </a:solidFill>
            <a:prstDash val="solid"/>
          </a:ln>
        </p:spPr>
      </p:sp>
      <p:sp>
        <p:nvSpPr>
          <p:cNvPr id="38"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FFB22C"/>
                </a:solidFill>
                <a:latin typeface="Aptos" pitchFamily="34" charset="0"/>
                <a:ea typeface="Aptos" pitchFamily="34" charset="-122"/>
                <a:cs typeface="Aptos" pitchFamily="34" charset="-120"/>
              </a:rPr>
              <a:t>INVESTIGATION</a:t>
            </a:r>
            <a:endParaRPr lang="en-US" sz="560" dirty="0"/>
          </a:p>
        </p:txBody>
      </p:sp>
      <p:sp>
        <p:nvSpPr>
          <p:cNvPr id="39"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Accident Investigation Steps</a:t>
            </a:r>
            <a:endParaRPr lang="en-US" sz="2350" dirty="0"/>
          </a:p>
        </p:txBody>
      </p:sp>
      <p:pic>
        <p:nvPicPr>
          <p:cNvPr id="40" name="Image 0" descr="/mnt/data/radar_sweep.gif"/>
          <p:cNvPicPr>
            <a:picLocks noChangeAspect="1"/>
          </p:cNvPicPr>
          <p:nvPr/>
        </p:nvPicPr>
        <p:blipFill>
          <a:blip r:embed="rId3"/>
          <a:stretch>
            <a:fillRect/>
          </a:stretch>
        </p:blipFill>
        <p:spPr>
          <a:xfrm>
            <a:off x="10625328" y="621792"/>
            <a:ext cx="713232" cy="713232"/>
          </a:xfrm>
          <a:prstGeom prst="rect">
            <a:avLst/>
          </a:prstGeom>
        </p:spPr>
      </p:pic>
      <p:sp>
        <p:nvSpPr>
          <p:cNvPr id="41" name="Shape 38"/>
          <p:cNvSpPr/>
          <p:nvPr/>
        </p:nvSpPr>
        <p:spPr>
          <a:xfrm>
            <a:off x="566928" y="1847088"/>
            <a:ext cx="2587752" cy="3438144"/>
          </a:xfrm>
          <a:prstGeom prst="roundRect">
            <a:avLst>
              <a:gd name="adj" fmla="val 2827"/>
            </a:avLst>
          </a:prstGeom>
          <a:solidFill>
            <a:srgbClr val="0A2035"/>
          </a:solidFill>
          <a:ln w="11430">
            <a:solidFill>
              <a:srgbClr val="163F5D">
                <a:alpha val="90000"/>
              </a:srgbClr>
            </a:solidFill>
            <a:prstDash val="solid"/>
          </a:ln>
          <a:effectLst>
            <a:outerShdw algn="bl" rotWithShape="0">
              <a:srgbClr val="000000">
                <a:alpha val="0"/>
              </a:srgbClr>
            </a:outerShdw>
          </a:effectLst>
        </p:spPr>
      </p:sp>
      <p:sp>
        <p:nvSpPr>
          <p:cNvPr id="42" name="Shape 39"/>
          <p:cNvSpPr/>
          <p:nvPr/>
        </p:nvSpPr>
        <p:spPr>
          <a:xfrm>
            <a:off x="566928" y="1847088"/>
            <a:ext cx="41148" cy="3438144"/>
          </a:xfrm>
          <a:prstGeom prst="rect">
            <a:avLst/>
          </a:prstGeom>
          <a:solidFill>
            <a:srgbClr val="16DFF7"/>
          </a:solidFill>
          <a:ln w="12700">
            <a:solidFill>
              <a:srgbClr val="16DFF7"/>
            </a:solidFill>
            <a:prstDash val="solid"/>
          </a:ln>
        </p:spPr>
      </p:sp>
      <p:sp>
        <p:nvSpPr>
          <p:cNvPr id="43" name="Shape 40"/>
          <p:cNvSpPr/>
          <p:nvPr/>
        </p:nvSpPr>
        <p:spPr>
          <a:xfrm>
            <a:off x="777240" y="2130552"/>
            <a:ext cx="347472" cy="347472"/>
          </a:xfrm>
          <a:prstGeom prst="ellipse">
            <a:avLst/>
          </a:prstGeom>
          <a:solidFill>
            <a:srgbClr val="16DFF7"/>
          </a:solidFill>
          <a:ln w="12700">
            <a:solidFill>
              <a:srgbClr val="16DFF7">
                <a:alpha val="0"/>
              </a:srgbClr>
            </a:solidFill>
            <a:prstDash val="solid"/>
          </a:ln>
        </p:spPr>
      </p:sp>
      <p:sp>
        <p:nvSpPr>
          <p:cNvPr id="44" name="Text 41"/>
          <p:cNvSpPr/>
          <p:nvPr/>
        </p:nvSpPr>
        <p:spPr>
          <a:xfrm>
            <a:off x="777240" y="2194560"/>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1</a:t>
            </a:r>
            <a:endParaRPr lang="en-US" sz="800" dirty="0"/>
          </a:p>
        </p:txBody>
      </p:sp>
      <p:sp>
        <p:nvSpPr>
          <p:cNvPr id="45" name="Text 42"/>
          <p:cNvSpPr/>
          <p:nvPr/>
        </p:nvSpPr>
        <p:spPr>
          <a:xfrm>
            <a:off x="1234440" y="2148840"/>
            <a:ext cx="1554480" cy="283464"/>
          </a:xfrm>
          <a:prstGeom prst="rect">
            <a:avLst/>
          </a:prstGeom>
          <a:noFill/>
          <a:ln/>
        </p:spPr>
        <p:txBody>
          <a:bodyPr wrap="square" lIns="0" tIns="0" rIns="0" bIns="0" rtlCol="0" anchor="ctr">
            <a:normAutofit/>
          </a:bodyPr>
          <a:lstStyle/>
          <a:p>
            <a:pPr marL="0" indent="0">
              <a:buNone/>
            </a:pPr>
            <a:r>
              <a:rPr lang="en-US" sz="1230" b="1" dirty="0">
                <a:solidFill>
                  <a:srgbClr val="16DFF7"/>
                </a:solidFill>
              </a:rPr>
              <a:t>Site Securing</a:t>
            </a:r>
            <a:endParaRPr lang="en-US" sz="1230" dirty="0"/>
          </a:p>
        </p:txBody>
      </p:sp>
      <p:sp>
        <p:nvSpPr>
          <p:cNvPr id="46" name="Text 43"/>
          <p:cNvSpPr/>
          <p:nvPr/>
        </p:nvSpPr>
        <p:spPr>
          <a:xfrm>
            <a:off x="813816" y="2871216"/>
            <a:ext cx="2066544" cy="1508760"/>
          </a:xfrm>
          <a:prstGeom prst="rect">
            <a:avLst/>
          </a:prstGeom>
          <a:noFill/>
          <a:ln/>
        </p:spPr>
        <p:txBody>
          <a:bodyPr wrap="square" lIns="381" tIns="381" rIns="381" bIns="381" rtlCol="0" anchor="ctr">
            <a:normAutofit/>
          </a:bodyPr>
          <a:lstStyle/>
          <a:p>
            <a:pPr marL="0" indent="0">
              <a:buNone/>
            </a:pPr>
            <a:r>
              <a:rPr lang="en-US" sz="1050" dirty="0">
                <a:solidFill>
                  <a:srgbClr val="DDEAF2"/>
                </a:solidFill>
              </a:rPr>
              <a:t>Immediate site securing, wreckage preservation &amp; search for black boxes.</a:t>
            </a:r>
            <a:endParaRPr lang="en-US" sz="1050" dirty="0"/>
          </a:p>
        </p:txBody>
      </p:sp>
      <p:sp>
        <p:nvSpPr>
          <p:cNvPr id="47" name="Shape 44"/>
          <p:cNvSpPr/>
          <p:nvPr/>
        </p:nvSpPr>
        <p:spPr>
          <a:xfrm>
            <a:off x="3200400" y="3246120"/>
            <a:ext cx="301752" cy="457200"/>
          </a:xfrm>
          <a:prstGeom prst="chevron">
            <a:avLst/>
          </a:prstGeom>
          <a:solidFill>
            <a:srgbClr val="1A536E"/>
          </a:solidFill>
          <a:ln w="12700">
            <a:solidFill>
              <a:srgbClr val="333333">
                <a:alpha val="0"/>
              </a:srgbClr>
            </a:solidFill>
            <a:prstDash val="solid"/>
          </a:ln>
        </p:spPr>
      </p:sp>
      <p:sp>
        <p:nvSpPr>
          <p:cNvPr id="48" name="Shape 45"/>
          <p:cNvSpPr/>
          <p:nvPr/>
        </p:nvSpPr>
        <p:spPr>
          <a:xfrm>
            <a:off x="3429000" y="1847088"/>
            <a:ext cx="2587752" cy="3438144"/>
          </a:xfrm>
          <a:prstGeom prst="roundRect">
            <a:avLst>
              <a:gd name="adj" fmla="val 2827"/>
            </a:avLst>
          </a:prstGeom>
          <a:solidFill>
            <a:srgbClr val="0A2035"/>
          </a:solidFill>
          <a:ln w="11430">
            <a:solidFill>
              <a:srgbClr val="163F5D">
                <a:alpha val="90000"/>
              </a:srgbClr>
            </a:solidFill>
            <a:prstDash val="solid"/>
          </a:ln>
          <a:effectLst>
            <a:outerShdw algn="bl" rotWithShape="0">
              <a:srgbClr val="000000">
                <a:alpha val="0"/>
              </a:srgbClr>
            </a:outerShdw>
          </a:effectLst>
        </p:spPr>
      </p:sp>
      <p:sp>
        <p:nvSpPr>
          <p:cNvPr id="49" name="Shape 46"/>
          <p:cNvSpPr/>
          <p:nvPr/>
        </p:nvSpPr>
        <p:spPr>
          <a:xfrm>
            <a:off x="3429000" y="1847088"/>
            <a:ext cx="41148" cy="3438144"/>
          </a:xfrm>
          <a:prstGeom prst="rect">
            <a:avLst/>
          </a:prstGeom>
          <a:solidFill>
            <a:srgbClr val="3FE0B5"/>
          </a:solidFill>
          <a:ln w="12700">
            <a:solidFill>
              <a:srgbClr val="3FE0B5"/>
            </a:solidFill>
            <a:prstDash val="solid"/>
          </a:ln>
        </p:spPr>
      </p:sp>
      <p:sp>
        <p:nvSpPr>
          <p:cNvPr id="50" name="Shape 47"/>
          <p:cNvSpPr/>
          <p:nvPr/>
        </p:nvSpPr>
        <p:spPr>
          <a:xfrm>
            <a:off x="3639312" y="2130552"/>
            <a:ext cx="347472" cy="347472"/>
          </a:xfrm>
          <a:prstGeom prst="ellipse">
            <a:avLst/>
          </a:prstGeom>
          <a:solidFill>
            <a:srgbClr val="3FE0B5"/>
          </a:solidFill>
          <a:ln w="12700">
            <a:solidFill>
              <a:srgbClr val="3FE0B5">
                <a:alpha val="0"/>
              </a:srgbClr>
            </a:solidFill>
            <a:prstDash val="solid"/>
          </a:ln>
        </p:spPr>
      </p:sp>
      <p:sp>
        <p:nvSpPr>
          <p:cNvPr id="51" name="Text 48"/>
          <p:cNvSpPr/>
          <p:nvPr/>
        </p:nvSpPr>
        <p:spPr>
          <a:xfrm>
            <a:off x="3639312" y="2194560"/>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2</a:t>
            </a:r>
            <a:endParaRPr lang="en-US" sz="800" dirty="0"/>
          </a:p>
        </p:txBody>
      </p:sp>
      <p:sp>
        <p:nvSpPr>
          <p:cNvPr id="52" name="Text 49"/>
          <p:cNvSpPr/>
          <p:nvPr/>
        </p:nvSpPr>
        <p:spPr>
          <a:xfrm>
            <a:off x="4096512" y="2148840"/>
            <a:ext cx="1554480" cy="283464"/>
          </a:xfrm>
          <a:prstGeom prst="rect">
            <a:avLst/>
          </a:prstGeom>
          <a:noFill/>
          <a:ln/>
        </p:spPr>
        <p:txBody>
          <a:bodyPr wrap="square" lIns="0" tIns="0" rIns="0" bIns="0" rtlCol="0" anchor="ctr">
            <a:normAutofit/>
          </a:bodyPr>
          <a:lstStyle/>
          <a:p>
            <a:pPr marL="0" indent="0">
              <a:buNone/>
            </a:pPr>
            <a:r>
              <a:rPr lang="en-US" sz="1230" b="1" dirty="0">
                <a:solidFill>
                  <a:srgbClr val="3FE0B5"/>
                </a:solidFill>
              </a:rPr>
              <a:t>Data Recovery</a:t>
            </a:r>
            <a:endParaRPr lang="en-US" sz="1230" dirty="0"/>
          </a:p>
        </p:txBody>
      </p:sp>
      <p:sp>
        <p:nvSpPr>
          <p:cNvPr id="53" name="Text 50"/>
          <p:cNvSpPr/>
          <p:nvPr/>
        </p:nvSpPr>
        <p:spPr>
          <a:xfrm>
            <a:off x="3675888" y="2871216"/>
            <a:ext cx="2066544" cy="1508760"/>
          </a:xfrm>
          <a:prstGeom prst="rect">
            <a:avLst/>
          </a:prstGeom>
          <a:noFill/>
          <a:ln/>
        </p:spPr>
        <p:txBody>
          <a:bodyPr wrap="square" lIns="381" tIns="381" rIns="381" bIns="381" rtlCol="0" anchor="ctr">
            <a:normAutofit/>
          </a:bodyPr>
          <a:lstStyle/>
          <a:p>
            <a:pPr marL="0" indent="0">
              <a:buNone/>
            </a:pPr>
            <a:r>
              <a:rPr lang="en-US" sz="1050" dirty="0">
                <a:solidFill>
                  <a:srgbClr val="DDEAF2"/>
                </a:solidFill>
              </a:rPr>
              <a:t>Extracting FDR and CVR flight recorder telemetry and audio.</a:t>
            </a:r>
            <a:endParaRPr lang="en-US" sz="1050" dirty="0"/>
          </a:p>
        </p:txBody>
      </p:sp>
      <p:sp>
        <p:nvSpPr>
          <p:cNvPr id="54" name="Shape 51"/>
          <p:cNvSpPr/>
          <p:nvPr/>
        </p:nvSpPr>
        <p:spPr>
          <a:xfrm>
            <a:off x="6062472" y="3246120"/>
            <a:ext cx="301752" cy="457200"/>
          </a:xfrm>
          <a:prstGeom prst="chevron">
            <a:avLst/>
          </a:prstGeom>
          <a:solidFill>
            <a:srgbClr val="1A536E"/>
          </a:solidFill>
          <a:ln w="12700">
            <a:solidFill>
              <a:srgbClr val="333333">
                <a:alpha val="0"/>
              </a:srgbClr>
            </a:solidFill>
            <a:prstDash val="solid"/>
          </a:ln>
        </p:spPr>
      </p:sp>
      <p:sp>
        <p:nvSpPr>
          <p:cNvPr id="55" name="Shape 52"/>
          <p:cNvSpPr/>
          <p:nvPr/>
        </p:nvSpPr>
        <p:spPr>
          <a:xfrm>
            <a:off x="6291072" y="1847088"/>
            <a:ext cx="2587752" cy="3438144"/>
          </a:xfrm>
          <a:prstGeom prst="roundRect">
            <a:avLst>
              <a:gd name="adj" fmla="val 2827"/>
            </a:avLst>
          </a:prstGeom>
          <a:solidFill>
            <a:srgbClr val="0A2035"/>
          </a:solidFill>
          <a:ln w="11430">
            <a:solidFill>
              <a:srgbClr val="163F5D">
                <a:alpha val="90000"/>
              </a:srgbClr>
            </a:solidFill>
            <a:prstDash val="solid"/>
          </a:ln>
          <a:effectLst>
            <a:outerShdw algn="bl" rotWithShape="0">
              <a:srgbClr val="000000">
                <a:alpha val="0"/>
              </a:srgbClr>
            </a:outerShdw>
          </a:effectLst>
        </p:spPr>
      </p:sp>
      <p:sp>
        <p:nvSpPr>
          <p:cNvPr id="56" name="Shape 53"/>
          <p:cNvSpPr/>
          <p:nvPr/>
        </p:nvSpPr>
        <p:spPr>
          <a:xfrm>
            <a:off x="6291072" y="1847088"/>
            <a:ext cx="41148" cy="3438144"/>
          </a:xfrm>
          <a:prstGeom prst="rect">
            <a:avLst/>
          </a:prstGeom>
          <a:solidFill>
            <a:srgbClr val="FFB22C"/>
          </a:solidFill>
          <a:ln w="12700">
            <a:solidFill>
              <a:srgbClr val="FFB22C"/>
            </a:solidFill>
            <a:prstDash val="solid"/>
          </a:ln>
        </p:spPr>
      </p:sp>
      <p:sp>
        <p:nvSpPr>
          <p:cNvPr id="57" name="Shape 54"/>
          <p:cNvSpPr/>
          <p:nvPr/>
        </p:nvSpPr>
        <p:spPr>
          <a:xfrm>
            <a:off x="6501384" y="2130552"/>
            <a:ext cx="347472" cy="347472"/>
          </a:xfrm>
          <a:prstGeom prst="ellipse">
            <a:avLst/>
          </a:prstGeom>
          <a:solidFill>
            <a:srgbClr val="FFB22C"/>
          </a:solidFill>
          <a:ln w="12700">
            <a:solidFill>
              <a:srgbClr val="FFB22C">
                <a:alpha val="0"/>
              </a:srgbClr>
            </a:solidFill>
            <a:prstDash val="solid"/>
          </a:ln>
        </p:spPr>
      </p:sp>
      <p:sp>
        <p:nvSpPr>
          <p:cNvPr id="58" name="Text 55"/>
          <p:cNvSpPr/>
          <p:nvPr/>
        </p:nvSpPr>
        <p:spPr>
          <a:xfrm>
            <a:off x="6501384" y="2194560"/>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3</a:t>
            </a:r>
            <a:endParaRPr lang="en-US" sz="800" dirty="0"/>
          </a:p>
        </p:txBody>
      </p:sp>
      <p:sp>
        <p:nvSpPr>
          <p:cNvPr id="59" name="Text 56"/>
          <p:cNvSpPr/>
          <p:nvPr/>
        </p:nvSpPr>
        <p:spPr>
          <a:xfrm>
            <a:off x="6958584" y="2148840"/>
            <a:ext cx="1554480" cy="283464"/>
          </a:xfrm>
          <a:prstGeom prst="rect">
            <a:avLst/>
          </a:prstGeom>
          <a:noFill/>
          <a:ln/>
        </p:spPr>
        <p:txBody>
          <a:bodyPr wrap="square" lIns="0" tIns="0" rIns="0" bIns="0" rtlCol="0" anchor="ctr">
            <a:normAutofit/>
          </a:bodyPr>
          <a:lstStyle/>
          <a:p>
            <a:pPr marL="0" indent="0">
              <a:buNone/>
            </a:pPr>
            <a:r>
              <a:rPr lang="en-US" sz="1230" b="1" dirty="0">
                <a:solidFill>
                  <a:srgbClr val="FFB22C"/>
                </a:solidFill>
              </a:rPr>
              <a:t>Fact Analysis</a:t>
            </a:r>
            <a:endParaRPr lang="en-US" sz="1230" dirty="0"/>
          </a:p>
        </p:txBody>
      </p:sp>
      <p:sp>
        <p:nvSpPr>
          <p:cNvPr id="60" name="Text 57"/>
          <p:cNvSpPr/>
          <p:nvPr/>
        </p:nvSpPr>
        <p:spPr>
          <a:xfrm>
            <a:off x="6537960" y="2871216"/>
            <a:ext cx="2066544" cy="1508760"/>
          </a:xfrm>
          <a:prstGeom prst="rect">
            <a:avLst/>
          </a:prstGeom>
          <a:noFill/>
          <a:ln/>
        </p:spPr>
        <p:txBody>
          <a:bodyPr wrap="square" lIns="381" tIns="381" rIns="381" bIns="381" rtlCol="0" anchor="ctr">
            <a:normAutofit/>
          </a:bodyPr>
          <a:lstStyle/>
          <a:p>
            <a:pPr marL="0" indent="0">
              <a:buNone/>
            </a:pPr>
            <a:r>
              <a:rPr lang="en-US" sz="1050" dirty="0">
                <a:solidFill>
                  <a:srgbClr val="DDEAF2"/>
                </a:solidFill>
              </a:rPr>
              <a:t>Testing components, metallurgy, human factors &amp; weather analysis.</a:t>
            </a:r>
            <a:endParaRPr lang="en-US" sz="1050" dirty="0"/>
          </a:p>
        </p:txBody>
      </p:sp>
      <p:sp>
        <p:nvSpPr>
          <p:cNvPr id="61" name="Shape 58"/>
          <p:cNvSpPr/>
          <p:nvPr/>
        </p:nvSpPr>
        <p:spPr>
          <a:xfrm>
            <a:off x="8924544" y="3246120"/>
            <a:ext cx="301752" cy="457200"/>
          </a:xfrm>
          <a:prstGeom prst="chevron">
            <a:avLst/>
          </a:prstGeom>
          <a:solidFill>
            <a:srgbClr val="1A536E"/>
          </a:solidFill>
          <a:ln w="12700">
            <a:solidFill>
              <a:srgbClr val="333333">
                <a:alpha val="0"/>
              </a:srgbClr>
            </a:solidFill>
            <a:prstDash val="solid"/>
          </a:ln>
        </p:spPr>
      </p:sp>
      <p:sp>
        <p:nvSpPr>
          <p:cNvPr id="62" name="Shape 59"/>
          <p:cNvSpPr/>
          <p:nvPr/>
        </p:nvSpPr>
        <p:spPr>
          <a:xfrm>
            <a:off x="9153144" y="1847088"/>
            <a:ext cx="2587752" cy="3438144"/>
          </a:xfrm>
          <a:prstGeom prst="roundRect">
            <a:avLst>
              <a:gd name="adj" fmla="val 2827"/>
            </a:avLst>
          </a:prstGeom>
          <a:solidFill>
            <a:srgbClr val="0A2035"/>
          </a:solidFill>
          <a:ln w="11430">
            <a:solidFill>
              <a:srgbClr val="163F5D">
                <a:alpha val="90000"/>
              </a:srgbClr>
            </a:solidFill>
            <a:prstDash val="solid"/>
          </a:ln>
          <a:effectLst>
            <a:outerShdw algn="bl" rotWithShape="0">
              <a:srgbClr val="000000">
                <a:alpha val="0"/>
              </a:srgbClr>
            </a:outerShdw>
          </a:effectLst>
        </p:spPr>
      </p:sp>
      <p:sp>
        <p:nvSpPr>
          <p:cNvPr id="63" name="Shape 60"/>
          <p:cNvSpPr/>
          <p:nvPr/>
        </p:nvSpPr>
        <p:spPr>
          <a:xfrm>
            <a:off x="9153144" y="1847088"/>
            <a:ext cx="41148" cy="3438144"/>
          </a:xfrm>
          <a:prstGeom prst="rect">
            <a:avLst/>
          </a:prstGeom>
          <a:solidFill>
            <a:srgbClr val="FF5D7A"/>
          </a:solidFill>
          <a:ln w="12700">
            <a:solidFill>
              <a:srgbClr val="FF5D7A"/>
            </a:solidFill>
            <a:prstDash val="solid"/>
          </a:ln>
        </p:spPr>
      </p:sp>
      <p:sp>
        <p:nvSpPr>
          <p:cNvPr id="64" name="Shape 61"/>
          <p:cNvSpPr/>
          <p:nvPr/>
        </p:nvSpPr>
        <p:spPr>
          <a:xfrm>
            <a:off x="9363456" y="2130552"/>
            <a:ext cx="347472" cy="347472"/>
          </a:xfrm>
          <a:prstGeom prst="ellipse">
            <a:avLst/>
          </a:prstGeom>
          <a:solidFill>
            <a:srgbClr val="FF5D7A"/>
          </a:solidFill>
          <a:ln w="12700">
            <a:solidFill>
              <a:srgbClr val="FF5D7A">
                <a:alpha val="0"/>
              </a:srgbClr>
            </a:solidFill>
            <a:prstDash val="solid"/>
          </a:ln>
        </p:spPr>
      </p:sp>
      <p:sp>
        <p:nvSpPr>
          <p:cNvPr id="65" name="Text 62"/>
          <p:cNvSpPr/>
          <p:nvPr/>
        </p:nvSpPr>
        <p:spPr>
          <a:xfrm>
            <a:off x="9363456" y="2194560"/>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4</a:t>
            </a:r>
            <a:endParaRPr lang="en-US" sz="800" dirty="0"/>
          </a:p>
        </p:txBody>
      </p:sp>
      <p:sp>
        <p:nvSpPr>
          <p:cNvPr id="66" name="Text 63"/>
          <p:cNvSpPr/>
          <p:nvPr/>
        </p:nvSpPr>
        <p:spPr>
          <a:xfrm>
            <a:off x="9820656" y="2148840"/>
            <a:ext cx="1554480" cy="283464"/>
          </a:xfrm>
          <a:prstGeom prst="rect">
            <a:avLst/>
          </a:prstGeom>
          <a:noFill/>
          <a:ln/>
        </p:spPr>
        <p:txBody>
          <a:bodyPr wrap="square" lIns="0" tIns="0" rIns="0" bIns="0" rtlCol="0" anchor="ctr">
            <a:normAutofit/>
          </a:bodyPr>
          <a:lstStyle/>
          <a:p>
            <a:pPr marL="0" indent="0">
              <a:buNone/>
            </a:pPr>
            <a:r>
              <a:rPr lang="en-US" sz="1230" b="1" dirty="0">
                <a:solidFill>
                  <a:srgbClr val="FF5D7A"/>
                </a:solidFill>
              </a:rPr>
              <a:t>Final Report</a:t>
            </a:r>
            <a:endParaRPr lang="en-US" sz="1230" dirty="0"/>
          </a:p>
        </p:txBody>
      </p:sp>
      <p:sp>
        <p:nvSpPr>
          <p:cNvPr id="67" name="Text 64"/>
          <p:cNvSpPr/>
          <p:nvPr/>
        </p:nvSpPr>
        <p:spPr>
          <a:xfrm>
            <a:off x="9400032" y="2871216"/>
            <a:ext cx="2066544" cy="1508760"/>
          </a:xfrm>
          <a:prstGeom prst="rect">
            <a:avLst/>
          </a:prstGeom>
          <a:noFill/>
          <a:ln/>
        </p:spPr>
        <p:txBody>
          <a:bodyPr wrap="square" lIns="381" tIns="381" rIns="381" bIns="381" rtlCol="0" anchor="ctr">
            <a:normAutofit/>
          </a:bodyPr>
          <a:lstStyle/>
          <a:p>
            <a:pPr marL="0" indent="0">
              <a:buNone/>
            </a:pPr>
            <a:r>
              <a:rPr lang="en-US" sz="1050" dirty="0">
                <a:solidFill>
                  <a:srgbClr val="DDEAF2"/>
                </a:solidFill>
              </a:rPr>
              <a:t>Determining probable cause and issuing recommendations.</a:t>
            </a:r>
            <a:endParaRPr lang="en-US" sz="1050" dirty="0"/>
          </a:p>
        </p:txBody>
      </p:sp>
      <p:sp>
        <p:nvSpPr>
          <p:cNvPr id="68" name="Shape 65">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69" name="Text 66">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70" name="Shape 67">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71" name="Text 68">
            <a:hlinkClick r:id="rId5" action="ppaction://hlinksldjump"/>
          </p:cNvPr>
          <p:cNvSpPr/>
          <p:nvPr/>
        </p:nvSpPr>
        <p:spPr>
          <a:xfrm>
            <a:off x="10936224"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72"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12000"/>
              </a:srgbClr>
            </a:solidFill>
            <a:prstDash val="solid"/>
          </a:ln>
        </p:spPr>
      </p:sp>
      <p:sp>
        <p:nvSpPr>
          <p:cNvPr id="3" name="Shape 1"/>
          <p:cNvSpPr/>
          <p:nvPr/>
        </p:nvSpPr>
        <p:spPr>
          <a:xfrm>
            <a:off x="1051560" y="502920"/>
            <a:ext cx="0" cy="5715000"/>
          </a:xfrm>
          <a:prstGeom prst="line">
            <a:avLst/>
          </a:prstGeom>
          <a:noFill/>
          <a:ln w="5080">
            <a:solidFill>
              <a:srgbClr val="0B304B">
                <a:alpha val="12000"/>
              </a:srgbClr>
            </a:solidFill>
            <a:prstDash val="solid"/>
          </a:ln>
        </p:spPr>
      </p:sp>
      <p:sp>
        <p:nvSpPr>
          <p:cNvPr id="4" name="Shape 2"/>
          <p:cNvSpPr/>
          <p:nvPr/>
        </p:nvSpPr>
        <p:spPr>
          <a:xfrm>
            <a:off x="1554480" y="502920"/>
            <a:ext cx="0" cy="5715000"/>
          </a:xfrm>
          <a:prstGeom prst="line">
            <a:avLst/>
          </a:prstGeom>
          <a:noFill/>
          <a:ln w="5080">
            <a:solidFill>
              <a:srgbClr val="0B304B">
                <a:alpha val="12000"/>
              </a:srgbClr>
            </a:solidFill>
            <a:prstDash val="solid"/>
          </a:ln>
        </p:spPr>
      </p:sp>
      <p:sp>
        <p:nvSpPr>
          <p:cNvPr id="5" name="Shape 3"/>
          <p:cNvSpPr/>
          <p:nvPr/>
        </p:nvSpPr>
        <p:spPr>
          <a:xfrm>
            <a:off x="2057400" y="502920"/>
            <a:ext cx="0" cy="5715000"/>
          </a:xfrm>
          <a:prstGeom prst="line">
            <a:avLst/>
          </a:prstGeom>
          <a:noFill/>
          <a:ln w="5080">
            <a:solidFill>
              <a:srgbClr val="0B304B">
                <a:alpha val="12000"/>
              </a:srgbClr>
            </a:solidFill>
            <a:prstDash val="solid"/>
          </a:ln>
        </p:spPr>
      </p:sp>
      <p:sp>
        <p:nvSpPr>
          <p:cNvPr id="6" name="Shape 4"/>
          <p:cNvSpPr/>
          <p:nvPr/>
        </p:nvSpPr>
        <p:spPr>
          <a:xfrm>
            <a:off x="2560320" y="502920"/>
            <a:ext cx="0" cy="5715000"/>
          </a:xfrm>
          <a:prstGeom prst="line">
            <a:avLst/>
          </a:prstGeom>
          <a:noFill/>
          <a:ln w="5080">
            <a:solidFill>
              <a:srgbClr val="0B304B">
                <a:alpha val="12000"/>
              </a:srgbClr>
            </a:solidFill>
            <a:prstDash val="solid"/>
          </a:ln>
        </p:spPr>
      </p:sp>
      <p:sp>
        <p:nvSpPr>
          <p:cNvPr id="7" name="Shape 5"/>
          <p:cNvSpPr/>
          <p:nvPr/>
        </p:nvSpPr>
        <p:spPr>
          <a:xfrm>
            <a:off x="3063240" y="502920"/>
            <a:ext cx="0" cy="5715000"/>
          </a:xfrm>
          <a:prstGeom prst="line">
            <a:avLst/>
          </a:prstGeom>
          <a:noFill/>
          <a:ln w="5080">
            <a:solidFill>
              <a:srgbClr val="0B304B">
                <a:alpha val="12000"/>
              </a:srgbClr>
            </a:solidFill>
            <a:prstDash val="solid"/>
          </a:ln>
        </p:spPr>
      </p:sp>
      <p:sp>
        <p:nvSpPr>
          <p:cNvPr id="8" name="Shape 6"/>
          <p:cNvSpPr/>
          <p:nvPr/>
        </p:nvSpPr>
        <p:spPr>
          <a:xfrm>
            <a:off x="3566160" y="502920"/>
            <a:ext cx="0" cy="5715000"/>
          </a:xfrm>
          <a:prstGeom prst="line">
            <a:avLst/>
          </a:prstGeom>
          <a:noFill/>
          <a:ln w="5080">
            <a:solidFill>
              <a:srgbClr val="0B304B">
                <a:alpha val="12000"/>
              </a:srgbClr>
            </a:solidFill>
            <a:prstDash val="solid"/>
          </a:ln>
        </p:spPr>
      </p:sp>
      <p:sp>
        <p:nvSpPr>
          <p:cNvPr id="9" name="Shape 7"/>
          <p:cNvSpPr/>
          <p:nvPr/>
        </p:nvSpPr>
        <p:spPr>
          <a:xfrm>
            <a:off x="4069080" y="502920"/>
            <a:ext cx="0" cy="5715000"/>
          </a:xfrm>
          <a:prstGeom prst="line">
            <a:avLst/>
          </a:prstGeom>
          <a:noFill/>
          <a:ln w="5080">
            <a:solidFill>
              <a:srgbClr val="0B304B">
                <a:alpha val="12000"/>
              </a:srgbClr>
            </a:solidFill>
            <a:prstDash val="solid"/>
          </a:ln>
        </p:spPr>
      </p:sp>
      <p:sp>
        <p:nvSpPr>
          <p:cNvPr id="10" name="Shape 8"/>
          <p:cNvSpPr/>
          <p:nvPr/>
        </p:nvSpPr>
        <p:spPr>
          <a:xfrm>
            <a:off x="4572000" y="502920"/>
            <a:ext cx="0" cy="5715000"/>
          </a:xfrm>
          <a:prstGeom prst="line">
            <a:avLst/>
          </a:prstGeom>
          <a:noFill/>
          <a:ln w="5080">
            <a:solidFill>
              <a:srgbClr val="0B304B">
                <a:alpha val="12000"/>
              </a:srgbClr>
            </a:solidFill>
            <a:prstDash val="solid"/>
          </a:ln>
        </p:spPr>
      </p:sp>
      <p:sp>
        <p:nvSpPr>
          <p:cNvPr id="11" name="Shape 9"/>
          <p:cNvSpPr/>
          <p:nvPr/>
        </p:nvSpPr>
        <p:spPr>
          <a:xfrm>
            <a:off x="5074920" y="502920"/>
            <a:ext cx="0" cy="5715000"/>
          </a:xfrm>
          <a:prstGeom prst="line">
            <a:avLst/>
          </a:prstGeom>
          <a:noFill/>
          <a:ln w="5080">
            <a:solidFill>
              <a:srgbClr val="0B304B">
                <a:alpha val="12000"/>
              </a:srgbClr>
            </a:solidFill>
            <a:prstDash val="solid"/>
          </a:ln>
        </p:spPr>
      </p:sp>
      <p:sp>
        <p:nvSpPr>
          <p:cNvPr id="12" name="Shape 10"/>
          <p:cNvSpPr/>
          <p:nvPr/>
        </p:nvSpPr>
        <p:spPr>
          <a:xfrm>
            <a:off x="5577840" y="502920"/>
            <a:ext cx="0" cy="5715000"/>
          </a:xfrm>
          <a:prstGeom prst="line">
            <a:avLst/>
          </a:prstGeom>
          <a:noFill/>
          <a:ln w="5080">
            <a:solidFill>
              <a:srgbClr val="0B304B">
                <a:alpha val="12000"/>
              </a:srgbClr>
            </a:solidFill>
            <a:prstDash val="solid"/>
          </a:ln>
        </p:spPr>
      </p:sp>
      <p:sp>
        <p:nvSpPr>
          <p:cNvPr id="13" name="Shape 11"/>
          <p:cNvSpPr/>
          <p:nvPr/>
        </p:nvSpPr>
        <p:spPr>
          <a:xfrm>
            <a:off x="6080760" y="502920"/>
            <a:ext cx="0" cy="5715000"/>
          </a:xfrm>
          <a:prstGeom prst="line">
            <a:avLst/>
          </a:prstGeom>
          <a:noFill/>
          <a:ln w="5080">
            <a:solidFill>
              <a:srgbClr val="0B304B">
                <a:alpha val="12000"/>
              </a:srgbClr>
            </a:solidFill>
            <a:prstDash val="solid"/>
          </a:ln>
        </p:spPr>
      </p:sp>
      <p:sp>
        <p:nvSpPr>
          <p:cNvPr id="14" name="Shape 12"/>
          <p:cNvSpPr/>
          <p:nvPr/>
        </p:nvSpPr>
        <p:spPr>
          <a:xfrm>
            <a:off x="6583680" y="502920"/>
            <a:ext cx="0" cy="5715000"/>
          </a:xfrm>
          <a:prstGeom prst="line">
            <a:avLst/>
          </a:prstGeom>
          <a:noFill/>
          <a:ln w="5080">
            <a:solidFill>
              <a:srgbClr val="0B304B">
                <a:alpha val="12000"/>
              </a:srgbClr>
            </a:solidFill>
            <a:prstDash val="solid"/>
          </a:ln>
        </p:spPr>
      </p:sp>
      <p:sp>
        <p:nvSpPr>
          <p:cNvPr id="15" name="Shape 13"/>
          <p:cNvSpPr/>
          <p:nvPr/>
        </p:nvSpPr>
        <p:spPr>
          <a:xfrm>
            <a:off x="7086600" y="502920"/>
            <a:ext cx="0" cy="5715000"/>
          </a:xfrm>
          <a:prstGeom prst="line">
            <a:avLst/>
          </a:prstGeom>
          <a:noFill/>
          <a:ln w="5080">
            <a:solidFill>
              <a:srgbClr val="0B304B">
                <a:alpha val="12000"/>
              </a:srgbClr>
            </a:solidFill>
            <a:prstDash val="solid"/>
          </a:ln>
        </p:spPr>
      </p:sp>
      <p:sp>
        <p:nvSpPr>
          <p:cNvPr id="16" name="Shape 14"/>
          <p:cNvSpPr/>
          <p:nvPr/>
        </p:nvSpPr>
        <p:spPr>
          <a:xfrm>
            <a:off x="7589520" y="502920"/>
            <a:ext cx="0" cy="5715000"/>
          </a:xfrm>
          <a:prstGeom prst="line">
            <a:avLst/>
          </a:prstGeom>
          <a:noFill/>
          <a:ln w="5080">
            <a:solidFill>
              <a:srgbClr val="0B304B">
                <a:alpha val="12000"/>
              </a:srgbClr>
            </a:solidFill>
            <a:prstDash val="solid"/>
          </a:ln>
        </p:spPr>
      </p:sp>
      <p:sp>
        <p:nvSpPr>
          <p:cNvPr id="17" name="Shape 15"/>
          <p:cNvSpPr/>
          <p:nvPr/>
        </p:nvSpPr>
        <p:spPr>
          <a:xfrm>
            <a:off x="8092440" y="502920"/>
            <a:ext cx="0" cy="5715000"/>
          </a:xfrm>
          <a:prstGeom prst="line">
            <a:avLst/>
          </a:prstGeom>
          <a:noFill/>
          <a:ln w="5080">
            <a:solidFill>
              <a:srgbClr val="0B304B">
                <a:alpha val="12000"/>
              </a:srgbClr>
            </a:solidFill>
            <a:prstDash val="solid"/>
          </a:ln>
        </p:spPr>
      </p:sp>
      <p:sp>
        <p:nvSpPr>
          <p:cNvPr id="18" name="Shape 16"/>
          <p:cNvSpPr/>
          <p:nvPr/>
        </p:nvSpPr>
        <p:spPr>
          <a:xfrm>
            <a:off x="8595360" y="502920"/>
            <a:ext cx="0" cy="5715000"/>
          </a:xfrm>
          <a:prstGeom prst="line">
            <a:avLst/>
          </a:prstGeom>
          <a:noFill/>
          <a:ln w="5080">
            <a:solidFill>
              <a:srgbClr val="0B304B">
                <a:alpha val="12000"/>
              </a:srgbClr>
            </a:solidFill>
            <a:prstDash val="solid"/>
          </a:ln>
        </p:spPr>
      </p:sp>
      <p:sp>
        <p:nvSpPr>
          <p:cNvPr id="19" name="Shape 17"/>
          <p:cNvSpPr/>
          <p:nvPr/>
        </p:nvSpPr>
        <p:spPr>
          <a:xfrm>
            <a:off x="9098280" y="502920"/>
            <a:ext cx="0" cy="5715000"/>
          </a:xfrm>
          <a:prstGeom prst="line">
            <a:avLst/>
          </a:prstGeom>
          <a:noFill/>
          <a:ln w="5080">
            <a:solidFill>
              <a:srgbClr val="0B304B">
                <a:alpha val="12000"/>
              </a:srgbClr>
            </a:solidFill>
            <a:prstDash val="solid"/>
          </a:ln>
        </p:spPr>
      </p:sp>
      <p:sp>
        <p:nvSpPr>
          <p:cNvPr id="20" name="Shape 18"/>
          <p:cNvSpPr/>
          <p:nvPr/>
        </p:nvSpPr>
        <p:spPr>
          <a:xfrm>
            <a:off x="9601200" y="502920"/>
            <a:ext cx="0" cy="5715000"/>
          </a:xfrm>
          <a:prstGeom prst="line">
            <a:avLst/>
          </a:prstGeom>
          <a:noFill/>
          <a:ln w="5080">
            <a:solidFill>
              <a:srgbClr val="0B304B">
                <a:alpha val="12000"/>
              </a:srgbClr>
            </a:solidFill>
            <a:prstDash val="solid"/>
          </a:ln>
        </p:spPr>
      </p:sp>
      <p:sp>
        <p:nvSpPr>
          <p:cNvPr id="21" name="Shape 19"/>
          <p:cNvSpPr/>
          <p:nvPr/>
        </p:nvSpPr>
        <p:spPr>
          <a:xfrm>
            <a:off x="10104120" y="502920"/>
            <a:ext cx="0" cy="5715000"/>
          </a:xfrm>
          <a:prstGeom prst="line">
            <a:avLst/>
          </a:prstGeom>
          <a:noFill/>
          <a:ln w="5080">
            <a:solidFill>
              <a:srgbClr val="0B304B">
                <a:alpha val="12000"/>
              </a:srgbClr>
            </a:solidFill>
            <a:prstDash val="solid"/>
          </a:ln>
        </p:spPr>
      </p:sp>
      <p:sp>
        <p:nvSpPr>
          <p:cNvPr id="22" name="Shape 20"/>
          <p:cNvSpPr/>
          <p:nvPr/>
        </p:nvSpPr>
        <p:spPr>
          <a:xfrm>
            <a:off x="10607040" y="502920"/>
            <a:ext cx="0" cy="5715000"/>
          </a:xfrm>
          <a:prstGeom prst="line">
            <a:avLst/>
          </a:prstGeom>
          <a:noFill/>
          <a:ln w="5080">
            <a:solidFill>
              <a:srgbClr val="0B304B">
                <a:alpha val="12000"/>
              </a:srgbClr>
            </a:solidFill>
            <a:prstDash val="solid"/>
          </a:ln>
        </p:spPr>
      </p:sp>
      <p:sp>
        <p:nvSpPr>
          <p:cNvPr id="23" name="Shape 21"/>
          <p:cNvSpPr/>
          <p:nvPr/>
        </p:nvSpPr>
        <p:spPr>
          <a:xfrm>
            <a:off x="11109960" y="502920"/>
            <a:ext cx="0" cy="5715000"/>
          </a:xfrm>
          <a:prstGeom prst="line">
            <a:avLst/>
          </a:prstGeom>
          <a:noFill/>
          <a:ln w="5080">
            <a:solidFill>
              <a:srgbClr val="0B304B">
                <a:alpha val="12000"/>
              </a:srgbClr>
            </a:solidFill>
            <a:prstDash val="solid"/>
          </a:ln>
        </p:spPr>
      </p:sp>
      <p:sp>
        <p:nvSpPr>
          <p:cNvPr id="24" name="Shape 22"/>
          <p:cNvSpPr/>
          <p:nvPr/>
        </p:nvSpPr>
        <p:spPr>
          <a:xfrm>
            <a:off x="11612880" y="502920"/>
            <a:ext cx="0" cy="5715000"/>
          </a:xfrm>
          <a:prstGeom prst="line">
            <a:avLst/>
          </a:prstGeom>
          <a:noFill/>
          <a:ln w="5080">
            <a:solidFill>
              <a:srgbClr val="0B304B">
                <a:alpha val="12000"/>
              </a:srgbClr>
            </a:solidFill>
            <a:prstDash val="solid"/>
          </a:ln>
        </p:spPr>
      </p:sp>
      <p:sp>
        <p:nvSpPr>
          <p:cNvPr id="25" name="Shape 23"/>
          <p:cNvSpPr/>
          <p:nvPr/>
        </p:nvSpPr>
        <p:spPr>
          <a:xfrm>
            <a:off x="502920" y="566928"/>
            <a:ext cx="11201400" cy="0"/>
          </a:xfrm>
          <a:prstGeom prst="line">
            <a:avLst/>
          </a:prstGeom>
          <a:noFill/>
          <a:ln w="5080">
            <a:solidFill>
              <a:srgbClr val="0B304B">
                <a:alpha val="12000"/>
              </a:srgbClr>
            </a:solidFill>
            <a:prstDash val="solid"/>
          </a:ln>
        </p:spPr>
      </p:sp>
      <p:sp>
        <p:nvSpPr>
          <p:cNvPr id="26" name="Shape 24"/>
          <p:cNvSpPr/>
          <p:nvPr/>
        </p:nvSpPr>
        <p:spPr>
          <a:xfrm>
            <a:off x="502920" y="1069848"/>
            <a:ext cx="11201400" cy="0"/>
          </a:xfrm>
          <a:prstGeom prst="line">
            <a:avLst/>
          </a:prstGeom>
          <a:noFill/>
          <a:ln w="5080">
            <a:solidFill>
              <a:srgbClr val="0B304B">
                <a:alpha val="12000"/>
              </a:srgbClr>
            </a:solidFill>
            <a:prstDash val="solid"/>
          </a:ln>
        </p:spPr>
      </p:sp>
      <p:sp>
        <p:nvSpPr>
          <p:cNvPr id="27" name="Shape 25"/>
          <p:cNvSpPr/>
          <p:nvPr/>
        </p:nvSpPr>
        <p:spPr>
          <a:xfrm>
            <a:off x="502920" y="1572768"/>
            <a:ext cx="11201400" cy="0"/>
          </a:xfrm>
          <a:prstGeom prst="line">
            <a:avLst/>
          </a:prstGeom>
          <a:noFill/>
          <a:ln w="5080">
            <a:solidFill>
              <a:srgbClr val="0B304B">
                <a:alpha val="12000"/>
              </a:srgbClr>
            </a:solidFill>
            <a:prstDash val="solid"/>
          </a:ln>
        </p:spPr>
      </p:sp>
      <p:sp>
        <p:nvSpPr>
          <p:cNvPr id="28" name="Shape 26"/>
          <p:cNvSpPr/>
          <p:nvPr/>
        </p:nvSpPr>
        <p:spPr>
          <a:xfrm>
            <a:off x="502920" y="2075688"/>
            <a:ext cx="11201400" cy="0"/>
          </a:xfrm>
          <a:prstGeom prst="line">
            <a:avLst/>
          </a:prstGeom>
          <a:noFill/>
          <a:ln w="5080">
            <a:solidFill>
              <a:srgbClr val="0B304B">
                <a:alpha val="12000"/>
              </a:srgbClr>
            </a:solidFill>
            <a:prstDash val="solid"/>
          </a:ln>
        </p:spPr>
      </p:sp>
      <p:sp>
        <p:nvSpPr>
          <p:cNvPr id="29" name="Shape 27"/>
          <p:cNvSpPr/>
          <p:nvPr/>
        </p:nvSpPr>
        <p:spPr>
          <a:xfrm>
            <a:off x="502920" y="2578608"/>
            <a:ext cx="11201400" cy="0"/>
          </a:xfrm>
          <a:prstGeom prst="line">
            <a:avLst/>
          </a:prstGeom>
          <a:noFill/>
          <a:ln w="5080">
            <a:solidFill>
              <a:srgbClr val="0B304B">
                <a:alpha val="12000"/>
              </a:srgbClr>
            </a:solidFill>
            <a:prstDash val="solid"/>
          </a:ln>
        </p:spPr>
      </p:sp>
      <p:sp>
        <p:nvSpPr>
          <p:cNvPr id="30" name="Shape 28"/>
          <p:cNvSpPr/>
          <p:nvPr/>
        </p:nvSpPr>
        <p:spPr>
          <a:xfrm>
            <a:off x="502920" y="3081528"/>
            <a:ext cx="11201400" cy="0"/>
          </a:xfrm>
          <a:prstGeom prst="line">
            <a:avLst/>
          </a:prstGeom>
          <a:noFill/>
          <a:ln w="5080">
            <a:solidFill>
              <a:srgbClr val="0B304B">
                <a:alpha val="12000"/>
              </a:srgbClr>
            </a:solidFill>
            <a:prstDash val="solid"/>
          </a:ln>
        </p:spPr>
      </p:sp>
      <p:sp>
        <p:nvSpPr>
          <p:cNvPr id="31" name="Shape 29"/>
          <p:cNvSpPr/>
          <p:nvPr/>
        </p:nvSpPr>
        <p:spPr>
          <a:xfrm>
            <a:off x="502920" y="3584448"/>
            <a:ext cx="11201400" cy="0"/>
          </a:xfrm>
          <a:prstGeom prst="line">
            <a:avLst/>
          </a:prstGeom>
          <a:noFill/>
          <a:ln w="5080">
            <a:solidFill>
              <a:srgbClr val="0B304B">
                <a:alpha val="12000"/>
              </a:srgbClr>
            </a:solidFill>
            <a:prstDash val="solid"/>
          </a:ln>
        </p:spPr>
      </p:sp>
      <p:sp>
        <p:nvSpPr>
          <p:cNvPr id="32" name="Shape 30"/>
          <p:cNvSpPr/>
          <p:nvPr/>
        </p:nvSpPr>
        <p:spPr>
          <a:xfrm>
            <a:off x="502920" y="4087368"/>
            <a:ext cx="11201400" cy="0"/>
          </a:xfrm>
          <a:prstGeom prst="line">
            <a:avLst/>
          </a:prstGeom>
          <a:noFill/>
          <a:ln w="5080">
            <a:solidFill>
              <a:srgbClr val="0B304B">
                <a:alpha val="12000"/>
              </a:srgbClr>
            </a:solidFill>
            <a:prstDash val="solid"/>
          </a:ln>
        </p:spPr>
      </p:sp>
      <p:sp>
        <p:nvSpPr>
          <p:cNvPr id="33" name="Shape 31"/>
          <p:cNvSpPr/>
          <p:nvPr/>
        </p:nvSpPr>
        <p:spPr>
          <a:xfrm>
            <a:off x="502920" y="4590288"/>
            <a:ext cx="11201400" cy="0"/>
          </a:xfrm>
          <a:prstGeom prst="line">
            <a:avLst/>
          </a:prstGeom>
          <a:noFill/>
          <a:ln w="5080">
            <a:solidFill>
              <a:srgbClr val="0B304B">
                <a:alpha val="12000"/>
              </a:srgbClr>
            </a:solidFill>
            <a:prstDash val="solid"/>
          </a:ln>
        </p:spPr>
      </p:sp>
      <p:sp>
        <p:nvSpPr>
          <p:cNvPr id="34" name="Shape 32"/>
          <p:cNvSpPr/>
          <p:nvPr/>
        </p:nvSpPr>
        <p:spPr>
          <a:xfrm>
            <a:off x="502920" y="5093208"/>
            <a:ext cx="11201400" cy="0"/>
          </a:xfrm>
          <a:prstGeom prst="line">
            <a:avLst/>
          </a:prstGeom>
          <a:noFill/>
          <a:ln w="5080">
            <a:solidFill>
              <a:srgbClr val="0B304B">
                <a:alpha val="12000"/>
              </a:srgbClr>
            </a:solidFill>
            <a:prstDash val="solid"/>
          </a:ln>
        </p:spPr>
      </p:sp>
      <p:sp>
        <p:nvSpPr>
          <p:cNvPr id="35" name="Shape 33"/>
          <p:cNvSpPr/>
          <p:nvPr/>
        </p:nvSpPr>
        <p:spPr>
          <a:xfrm>
            <a:off x="502920" y="5596128"/>
            <a:ext cx="11201400" cy="0"/>
          </a:xfrm>
          <a:prstGeom prst="line">
            <a:avLst/>
          </a:prstGeom>
          <a:noFill/>
          <a:ln w="5080">
            <a:solidFill>
              <a:srgbClr val="0B304B">
                <a:alpha val="12000"/>
              </a:srgbClr>
            </a:solidFill>
            <a:prstDash val="solid"/>
          </a:ln>
        </p:spPr>
      </p:sp>
      <p:sp>
        <p:nvSpPr>
          <p:cNvPr id="36" name="Shape 34"/>
          <p:cNvSpPr/>
          <p:nvPr/>
        </p:nvSpPr>
        <p:spPr>
          <a:xfrm>
            <a:off x="502920" y="6099048"/>
            <a:ext cx="11201400" cy="0"/>
          </a:xfrm>
          <a:prstGeom prst="line">
            <a:avLst/>
          </a:prstGeom>
          <a:noFill/>
          <a:ln w="5080">
            <a:solidFill>
              <a:srgbClr val="0B304B">
                <a:alpha val="12000"/>
              </a:srgbClr>
            </a:solidFill>
            <a:prstDash val="solid"/>
          </a:ln>
        </p:spPr>
      </p:sp>
      <p:sp>
        <p:nvSpPr>
          <p:cNvPr id="37" name="Shape 35"/>
          <p:cNvSpPr/>
          <p:nvPr/>
        </p:nvSpPr>
        <p:spPr>
          <a:xfrm>
            <a:off x="502920" y="320040"/>
            <a:ext cx="1417320" cy="256032"/>
          </a:xfrm>
          <a:prstGeom prst="roundRect">
            <a:avLst>
              <a:gd name="adj" fmla="val 17857"/>
            </a:avLst>
          </a:prstGeom>
          <a:solidFill>
            <a:srgbClr val="09273D"/>
          </a:solidFill>
          <a:ln w="10160">
            <a:solidFill>
              <a:srgbClr val="FFB22C">
                <a:alpha val="65000"/>
              </a:srgbClr>
            </a:solidFill>
            <a:prstDash val="solid"/>
          </a:ln>
        </p:spPr>
      </p:sp>
      <p:sp>
        <p:nvSpPr>
          <p:cNvPr id="38"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FFB22C"/>
                </a:solidFill>
                <a:latin typeface="Aptos" pitchFamily="34" charset="0"/>
                <a:ea typeface="Aptos" pitchFamily="34" charset="-122"/>
                <a:cs typeface="Aptos" pitchFamily="34" charset="-120"/>
              </a:rPr>
              <a:t>SEVERITY</a:t>
            </a:r>
            <a:endParaRPr lang="en-US" sz="560" dirty="0"/>
          </a:p>
        </p:txBody>
      </p:sp>
      <p:sp>
        <p:nvSpPr>
          <p:cNvPr id="39"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Accident Severity Classes</a:t>
            </a:r>
            <a:endParaRPr lang="en-US" sz="2350" dirty="0"/>
          </a:p>
        </p:txBody>
      </p:sp>
      <p:pic>
        <p:nvPicPr>
          <p:cNvPr id="40" name="Image 0" descr="/mnt/data/radar_sweep.gif"/>
          <p:cNvPicPr>
            <a:picLocks noChangeAspect="1"/>
          </p:cNvPicPr>
          <p:nvPr/>
        </p:nvPicPr>
        <p:blipFill>
          <a:blip r:embed="rId3"/>
          <a:stretch>
            <a:fillRect/>
          </a:stretch>
        </p:blipFill>
        <p:spPr>
          <a:xfrm>
            <a:off x="10625328" y="621792"/>
            <a:ext cx="713232" cy="713232"/>
          </a:xfrm>
          <a:prstGeom prst="rect">
            <a:avLst/>
          </a:prstGeom>
        </p:spPr>
      </p:pic>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621792" y="1517904"/>
          <a:ext cx="10954512" cy="4334256"/>
        </p:xfrm>
        <a:graphic>
          <a:graphicData uri="http://schemas.openxmlformats.org/drawingml/2006/table">
            <a:tbl>
              <a:tblPr/>
              <a:tblGrid>
                <a:gridCol w="28346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685800">
                <a:tc>
                  <a:txBody>
                    <a:bodyPr/>
                    <a:lstStyle/>
                    <a:p>
                      <a:pPr marL="0" indent="0">
                        <a:buNone/>
                      </a:pPr>
                      <a:r>
                        <a:rPr lang="en-US" sz="960" dirty="0">
                          <a:solidFill>
                            <a:srgbClr val="DDEAF2"/>
                          </a:solidFill>
                          <a:latin typeface="Aptos" pitchFamily="34" charset="0"/>
                          <a:ea typeface="Aptos" pitchFamily="34" charset="-122"/>
                          <a:cs typeface="Aptos" pitchFamily="34" charset="-120"/>
                        </a:rPr>
                        <a:t>Primary Objective/ GoalCla</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Resources Assigned</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Investigation Focus</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Class Level</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extLst>
                  <a:ext uri="{0D108BD9-81ED-4DB2-BD59-A6C34878D82A}">
                    <a16:rowId xmlns:a16="http://schemas.microsoft.com/office/drawing/2014/main" val="10000"/>
                  </a:ext>
                </a:extLst>
              </a:tr>
              <a:tr h="685800">
                <a:tc>
                  <a:txBody>
                    <a:bodyPr/>
                    <a:lstStyle/>
                    <a:p>
                      <a:pPr marL="0" indent="0">
                        <a:buNone/>
                      </a:pPr>
                      <a:r>
                        <a:rPr lang="en-US" sz="960" dirty="0">
                          <a:solidFill>
                            <a:srgbClr val="DDEAF2"/>
                          </a:solidFill>
                          <a:latin typeface="Aptos" pitchFamily="34" charset="0"/>
                          <a:ea typeface="Aptos" pitchFamily="34" charset="-122"/>
                          <a:cs typeface="Aptos" pitchFamily="34" charset="-120"/>
                        </a:rPr>
                        <a:t>In-depth probable cause &amp; systemic safety fixes</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Full NTSB Go Team + Industry Parties.</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Major transport airliner crashes with fatal casualties.</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Class 1</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extLst>
                  <a:ext uri="{0D108BD9-81ED-4DB2-BD59-A6C34878D82A}">
                    <a16:rowId xmlns:a16="http://schemas.microsoft.com/office/drawing/2014/main" val="10001"/>
                  </a:ext>
                </a:extLst>
              </a:tr>
              <a:tr h="685800">
                <a:tc>
                  <a:txBody>
                    <a:bodyPr/>
                    <a:lstStyle/>
                    <a:p>
                      <a:pPr marL="0" indent="0">
                        <a:buNone/>
                      </a:pPr>
                      <a:r>
                        <a:rPr lang="en-US" sz="960" dirty="0">
                          <a:solidFill>
                            <a:srgbClr val="DDEAF2"/>
                          </a:solidFill>
                          <a:latin typeface="Aptos" pitchFamily="34" charset="0"/>
                          <a:ea typeface="Aptos" pitchFamily="34" charset="-122"/>
                          <a:cs typeface="Aptos" pitchFamily="34" charset="-120"/>
                        </a:rPr>
                        <a:t>Identify safety factors &amp; recurring failure trends.</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Senior Regional Investigator led team.</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Significant accidents involving notable damage/injuries.</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Class 2</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extLst>
                  <a:ext uri="{0D108BD9-81ED-4DB2-BD59-A6C34878D82A}">
                    <a16:rowId xmlns:a16="http://schemas.microsoft.com/office/drawing/2014/main" val="10002"/>
                  </a:ext>
                </a:extLst>
              </a:tr>
              <a:tr h="685800">
                <a:tc>
                  <a:txBody>
                    <a:bodyPr/>
                    <a:lstStyle/>
                    <a:p>
                      <a:pPr marL="0" indent="0">
                        <a:buNone/>
                      </a:pPr>
                      <a:r>
                        <a:rPr lang="en-US" sz="960" dirty="0">
                          <a:solidFill>
                            <a:srgbClr val="DDEAF2"/>
                          </a:solidFill>
                          <a:latin typeface="Aptos" pitchFamily="34" charset="0"/>
                          <a:ea typeface="Aptos" pitchFamily="34" charset="-122"/>
                          <a:cs typeface="Aptos" pitchFamily="34" charset="-120"/>
                        </a:rPr>
                        <a:t>Develop preventative industry safety messages</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Specialized Subject Matter Experts</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Incidents revealing specific underlying risk issues.</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Class 3</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extLst>
                  <a:ext uri="{0D108BD9-81ED-4DB2-BD59-A6C34878D82A}">
                    <a16:rowId xmlns:a16="http://schemas.microsoft.com/office/drawing/2014/main" val="10003"/>
                  </a:ext>
                </a:extLst>
              </a:tr>
              <a:tr h="685800">
                <a:tc>
                  <a:txBody>
                    <a:bodyPr/>
                    <a:lstStyle/>
                    <a:p>
                      <a:pPr marL="0" indent="0">
                        <a:buNone/>
                      </a:pPr>
                      <a:r>
                        <a:rPr lang="en-US" sz="960" dirty="0">
                          <a:solidFill>
                            <a:srgbClr val="DDEAF2"/>
                          </a:solidFill>
                          <a:latin typeface="Aptos" pitchFamily="34" charset="0"/>
                          <a:ea typeface="Aptos" pitchFamily="34" charset="-122"/>
                          <a:cs typeface="Aptos" pitchFamily="34" charset="-120"/>
                        </a:rPr>
                        <a:t>Quick factual reporting within 6 months.</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Single Investigator (mostly remote)</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Limited-scope general aviation incidents</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tc>
                  <a:txBody>
                    <a:bodyPr/>
                    <a:lstStyle/>
                    <a:p>
                      <a:pPr marL="0" indent="0">
                        <a:buNone/>
                      </a:pPr>
                      <a:r>
                        <a:rPr lang="en-US" sz="960" dirty="0">
                          <a:solidFill>
                            <a:srgbClr val="DDEAF2"/>
                          </a:solidFill>
                          <a:latin typeface="Aptos" pitchFamily="34" charset="0"/>
                          <a:ea typeface="Aptos" pitchFamily="34" charset="-122"/>
                          <a:cs typeface="Aptos" pitchFamily="34" charset="-120"/>
                        </a:rPr>
                        <a:t>Class 4 </a:t>
                      </a:r>
                      <a:endParaRPr lang="en-US" sz="960" dirty="0">
                        <a:latin typeface="Aptos" charset="0"/>
                        <a:ea typeface="Aptos" charset="0"/>
                        <a:cs typeface="Aptos" charset="0"/>
                      </a:endParaRPr>
                    </a:p>
                  </a:txBody>
                  <a:tcPr marL="73152" marR="73152" marT="73152" marB="73152">
                    <a:lnL w="10160" cap="flat" cmpd="sng" algn="ctr">
                      <a:solidFill>
                        <a:srgbClr val="1C4A64"/>
                      </a:solidFill>
                      <a:prstDash val="solid"/>
                      <a:round/>
                      <a:headEnd type="none" w="med" len="med"/>
                      <a:tailEnd type="none" w="med" len="med"/>
                    </a:lnL>
                    <a:lnR w="10160" cap="flat" cmpd="sng" algn="ctr">
                      <a:solidFill>
                        <a:srgbClr val="1C4A64"/>
                      </a:solidFill>
                      <a:prstDash val="solid"/>
                      <a:round/>
                      <a:headEnd type="none" w="med" len="med"/>
                      <a:tailEnd type="none" w="med" len="med"/>
                    </a:lnR>
                    <a:lnT w="10160" cap="flat" cmpd="sng" algn="ctr">
                      <a:solidFill>
                        <a:srgbClr val="1C4A64"/>
                      </a:solidFill>
                      <a:prstDash val="solid"/>
                      <a:round/>
                      <a:headEnd type="none" w="med" len="med"/>
                      <a:tailEnd type="none" w="med" len="med"/>
                    </a:lnT>
                    <a:lnB w="10160" cap="flat" cmpd="sng" algn="ctr">
                      <a:solidFill>
                        <a:srgbClr val="1C4A64"/>
                      </a:solidFill>
                      <a:prstDash val="solid"/>
                      <a:round/>
                      <a:headEnd type="none" w="med" len="med"/>
                      <a:tailEnd type="none" w="med" len="med"/>
                    </a:lnB>
                    <a:solidFill>
                      <a:srgbClr val="0B2238"/>
                    </a:solidFill>
                  </a:tcPr>
                </a:tc>
                <a:extLst>
                  <a:ext uri="{0D108BD9-81ED-4DB2-BD59-A6C34878D82A}">
                    <a16:rowId xmlns:a16="http://schemas.microsoft.com/office/drawing/2014/main" val="10004"/>
                  </a:ext>
                </a:extLst>
              </a:tr>
            </a:tbl>
          </a:graphicData>
        </a:graphic>
      </p:graphicFrame>
      <p:sp>
        <p:nvSpPr>
          <p:cNvPr id="42" name="Shape 38"/>
          <p:cNvSpPr/>
          <p:nvPr/>
        </p:nvSpPr>
        <p:spPr>
          <a:xfrm>
            <a:off x="621792" y="1517904"/>
            <a:ext cx="10954512" cy="685800"/>
          </a:xfrm>
          <a:prstGeom prst="rect">
            <a:avLst/>
          </a:prstGeom>
          <a:solidFill>
            <a:srgbClr val="0D5872"/>
          </a:solidFill>
          <a:ln w="12700">
            <a:solidFill>
              <a:srgbClr val="0D5872"/>
            </a:solidFill>
            <a:prstDash val="solid"/>
          </a:ln>
        </p:spPr>
      </p:sp>
      <p:sp>
        <p:nvSpPr>
          <p:cNvPr id="43" name="Text 39"/>
          <p:cNvSpPr/>
          <p:nvPr/>
        </p:nvSpPr>
        <p:spPr>
          <a:xfrm>
            <a:off x="694944" y="1755648"/>
            <a:ext cx="2688336" cy="164592"/>
          </a:xfrm>
          <a:prstGeom prst="rect">
            <a:avLst/>
          </a:prstGeom>
          <a:noFill/>
          <a:ln/>
        </p:spPr>
        <p:txBody>
          <a:bodyPr wrap="square" lIns="0" tIns="0" rIns="0" bIns="0" rtlCol="0" anchor="ctr">
            <a:normAutofit/>
          </a:bodyPr>
          <a:lstStyle/>
          <a:p>
            <a:pPr marL="0" indent="0" algn="l">
              <a:buNone/>
            </a:pPr>
            <a:r>
              <a:rPr lang="en-US" sz="860" b="1" dirty="0">
                <a:solidFill>
                  <a:srgbClr val="F5FAFE"/>
                </a:solidFill>
              </a:rPr>
              <a:t>Primary Objective/ GoalCla</a:t>
            </a:r>
            <a:endParaRPr lang="en-US" sz="860" dirty="0"/>
          </a:p>
        </p:txBody>
      </p:sp>
      <p:sp>
        <p:nvSpPr>
          <p:cNvPr id="44" name="Text 40"/>
          <p:cNvSpPr/>
          <p:nvPr/>
        </p:nvSpPr>
        <p:spPr>
          <a:xfrm>
            <a:off x="3529584" y="1755648"/>
            <a:ext cx="2414016" cy="164592"/>
          </a:xfrm>
          <a:prstGeom prst="rect">
            <a:avLst/>
          </a:prstGeom>
          <a:noFill/>
          <a:ln/>
        </p:spPr>
        <p:txBody>
          <a:bodyPr wrap="square" lIns="0" tIns="0" rIns="0" bIns="0" rtlCol="0" anchor="ctr">
            <a:normAutofit/>
          </a:bodyPr>
          <a:lstStyle/>
          <a:p>
            <a:pPr marL="0" indent="0" algn="l">
              <a:buNone/>
            </a:pPr>
            <a:r>
              <a:rPr lang="en-US" sz="860" b="1" dirty="0">
                <a:solidFill>
                  <a:srgbClr val="F5FAFE"/>
                </a:solidFill>
              </a:rPr>
              <a:t>Resources Assigned</a:t>
            </a:r>
            <a:endParaRPr lang="en-US" sz="860" dirty="0"/>
          </a:p>
        </p:txBody>
      </p:sp>
      <p:sp>
        <p:nvSpPr>
          <p:cNvPr id="45" name="Text 41"/>
          <p:cNvSpPr/>
          <p:nvPr/>
        </p:nvSpPr>
        <p:spPr>
          <a:xfrm>
            <a:off x="6089904" y="1755648"/>
            <a:ext cx="3511296" cy="164592"/>
          </a:xfrm>
          <a:prstGeom prst="rect">
            <a:avLst/>
          </a:prstGeom>
          <a:noFill/>
          <a:ln/>
        </p:spPr>
        <p:txBody>
          <a:bodyPr wrap="square" lIns="0" tIns="0" rIns="0" bIns="0" rtlCol="0" anchor="ctr">
            <a:normAutofit/>
          </a:bodyPr>
          <a:lstStyle/>
          <a:p>
            <a:pPr marL="0" indent="0" algn="l">
              <a:buNone/>
            </a:pPr>
            <a:r>
              <a:rPr lang="en-US" sz="860" b="1" dirty="0">
                <a:solidFill>
                  <a:srgbClr val="F5FAFE"/>
                </a:solidFill>
              </a:rPr>
              <a:t>Investigation Focus</a:t>
            </a:r>
            <a:endParaRPr lang="en-US" sz="860" dirty="0"/>
          </a:p>
        </p:txBody>
      </p:sp>
      <p:sp>
        <p:nvSpPr>
          <p:cNvPr id="46" name="Text 42"/>
          <p:cNvSpPr/>
          <p:nvPr/>
        </p:nvSpPr>
        <p:spPr>
          <a:xfrm>
            <a:off x="9747504" y="1755648"/>
            <a:ext cx="1755648" cy="164592"/>
          </a:xfrm>
          <a:prstGeom prst="rect">
            <a:avLst/>
          </a:prstGeom>
          <a:noFill/>
          <a:ln/>
        </p:spPr>
        <p:txBody>
          <a:bodyPr wrap="square" lIns="0" tIns="0" rIns="0" bIns="0" rtlCol="0" anchor="ctr">
            <a:normAutofit/>
          </a:bodyPr>
          <a:lstStyle/>
          <a:p>
            <a:pPr marL="0" indent="0" algn="ctr">
              <a:buNone/>
            </a:pPr>
            <a:r>
              <a:rPr lang="en-US" sz="860" b="1" dirty="0">
                <a:solidFill>
                  <a:srgbClr val="F5FAFE"/>
                </a:solidFill>
              </a:rPr>
              <a:t>Class Level</a:t>
            </a:r>
            <a:endParaRPr lang="en-US" sz="860" dirty="0"/>
          </a:p>
        </p:txBody>
      </p:sp>
      <p:sp>
        <p:nvSpPr>
          <p:cNvPr id="47" name="Shape 43"/>
          <p:cNvSpPr/>
          <p:nvPr/>
        </p:nvSpPr>
        <p:spPr>
          <a:xfrm>
            <a:off x="10241280" y="2395728"/>
            <a:ext cx="795528" cy="310896"/>
          </a:xfrm>
          <a:prstGeom prst="roundRect">
            <a:avLst>
              <a:gd name="adj" fmla="val 17647"/>
            </a:avLst>
          </a:prstGeom>
          <a:solidFill>
            <a:srgbClr val="FF5D7A"/>
          </a:solidFill>
          <a:ln w="12700">
            <a:solidFill>
              <a:srgbClr val="333333">
                <a:alpha val="0"/>
              </a:srgbClr>
            </a:solidFill>
            <a:prstDash val="solid"/>
          </a:ln>
        </p:spPr>
      </p:sp>
      <p:sp>
        <p:nvSpPr>
          <p:cNvPr id="48" name="Text 44"/>
          <p:cNvSpPr/>
          <p:nvPr/>
        </p:nvSpPr>
        <p:spPr>
          <a:xfrm>
            <a:off x="10241280" y="2478024"/>
            <a:ext cx="795528" cy="109728"/>
          </a:xfrm>
          <a:prstGeom prst="rect">
            <a:avLst/>
          </a:prstGeom>
          <a:noFill/>
          <a:ln/>
        </p:spPr>
        <p:txBody>
          <a:bodyPr wrap="square" lIns="0" tIns="0" rIns="0" bIns="0" rtlCol="0" anchor="ctr"/>
          <a:lstStyle/>
          <a:p>
            <a:pPr marL="0" indent="0" algn="ctr">
              <a:buNone/>
            </a:pPr>
            <a:r>
              <a:rPr lang="en-US" sz="680" b="1" dirty="0">
                <a:solidFill>
                  <a:srgbClr val="061525"/>
                </a:solidFill>
              </a:rPr>
              <a:t>Class 1</a:t>
            </a:r>
            <a:endParaRPr lang="en-US" sz="680" dirty="0"/>
          </a:p>
        </p:txBody>
      </p:sp>
      <p:sp>
        <p:nvSpPr>
          <p:cNvPr id="49" name="Shape 45"/>
          <p:cNvSpPr/>
          <p:nvPr/>
        </p:nvSpPr>
        <p:spPr>
          <a:xfrm>
            <a:off x="10241280" y="3227832"/>
            <a:ext cx="795528" cy="310896"/>
          </a:xfrm>
          <a:prstGeom prst="roundRect">
            <a:avLst>
              <a:gd name="adj" fmla="val 17647"/>
            </a:avLst>
          </a:prstGeom>
          <a:solidFill>
            <a:srgbClr val="FFB22C"/>
          </a:solidFill>
          <a:ln w="12700">
            <a:solidFill>
              <a:srgbClr val="333333">
                <a:alpha val="0"/>
              </a:srgbClr>
            </a:solidFill>
            <a:prstDash val="solid"/>
          </a:ln>
        </p:spPr>
      </p:sp>
      <p:sp>
        <p:nvSpPr>
          <p:cNvPr id="50" name="Text 46"/>
          <p:cNvSpPr/>
          <p:nvPr/>
        </p:nvSpPr>
        <p:spPr>
          <a:xfrm>
            <a:off x="10241280" y="3310128"/>
            <a:ext cx="795528" cy="109728"/>
          </a:xfrm>
          <a:prstGeom prst="rect">
            <a:avLst/>
          </a:prstGeom>
          <a:noFill/>
          <a:ln/>
        </p:spPr>
        <p:txBody>
          <a:bodyPr wrap="square" lIns="0" tIns="0" rIns="0" bIns="0" rtlCol="0" anchor="ctr"/>
          <a:lstStyle/>
          <a:p>
            <a:pPr marL="0" indent="0" algn="ctr">
              <a:buNone/>
            </a:pPr>
            <a:r>
              <a:rPr lang="en-US" sz="680" b="1" dirty="0">
                <a:solidFill>
                  <a:srgbClr val="061525"/>
                </a:solidFill>
              </a:rPr>
              <a:t>Class 2</a:t>
            </a:r>
            <a:endParaRPr lang="en-US" sz="680" dirty="0"/>
          </a:p>
        </p:txBody>
      </p:sp>
      <p:sp>
        <p:nvSpPr>
          <p:cNvPr id="51" name="Shape 47"/>
          <p:cNvSpPr/>
          <p:nvPr/>
        </p:nvSpPr>
        <p:spPr>
          <a:xfrm>
            <a:off x="10241280" y="4059936"/>
            <a:ext cx="795528" cy="310896"/>
          </a:xfrm>
          <a:prstGeom prst="roundRect">
            <a:avLst>
              <a:gd name="adj" fmla="val 17647"/>
            </a:avLst>
          </a:prstGeom>
          <a:solidFill>
            <a:srgbClr val="3FE0B5"/>
          </a:solidFill>
          <a:ln w="12700">
            <a:solidFill>
              <a:srgbClr val="333333">
                <a:alpha val="0"/>
              </a:srgbClr>
            </a:solidFill>
            <a:prstDash val="solid"/>
          </a:ln>
        </p:spPr>
      </p:sp>
      <p:sp>
        <p:nvSpPr>
          <p:cNvPr id="52" name="Text 48"/>
          <p:cNvSpPr/>
          <p:nvPr/>
        </p:nvSpPr>
        <p:spPr>
          <a:xfrm>
            <a:off x="10241280" y="4142232"/>
            <a:ext cx="795528" cy="109728"/>
          </a:xfrm>
          <a:prstGeom prst="rect">
            <a:avLst/>
          </a:prstGeom>
          <a:noFill/>
          <a:ln/>
        </p:spPr>
        <p:txBody>
          <a:bodyPr wrap="square" lIns="0" tIns="0" rIns="0" bIns="0" rtlCol="0" anchor="ctr"/>
          <a:lstStyle/>
          <a:p>
            <a:pPr marL="0" indent="0" algn="ctr">
              <a:buNone/>
            </a:pPr>
            <a:r>
              <a:rPr lang="en-US" sz="680" b="1" dirty="0">
                <a:solidFill>
                  <a:srgbClr val="061525"/>
                </a:solidFill>
              </a:rPr>
              <a:t>Class 3</a:t>
            </a:r>
            <a:endParaRPr lang="en-US" sz="680" dirty="0"/>
          </a:p>
        </p:txBody>
      </p:sp>
      <p:sp>
        <p:nvSpPr>
          <p:cNvPr id="53" name="Shape 49"/>
          <p:cNvSpPr/>
          <p:nvPr/>
        </p:nvSpPr>
        <p:spPr>
          <a:xfrm>
            <a:off x="10241280" y="4892040"/>
            <a:ext cx="795528" cy="310896"/>
          </a:xfrm>
          <a:prstGeom prst="roundRect">
            <a:avLst>
              <a:gd name="adj" fmla="val 17647"/>
            </a:avLst>
          </a:prstGeom>
          <a:solidFill>
            <a:srgbClr val="4B91FF"/>
          </a:solidFill>
          <a:ln w="12700">
            <a:solidFill>
              <a:srgbClr val="333333">
                <a:alpha val="0"/>
              </a:srgbClr>
            </a:solidFill>
            <a:prstDash val="solid"/>
          </a:ln>
        </p:spPr>
      </p:sp>
      <p:sp>
        <p:nvSpPr>
          <p:cNvPr id="54" name="Text 50"/>
          <p:cNvSpPr/>
          <p:nvPr/>
        </p:nvSpPr>
        <p:spPr>
          <a:xfrm>
            <a:off x="10241280" y="4974336"/>
            <a:ext cx="795528" cy="109728"/>
          </a:xfrm>
          <a:prstGeom prst="rect">
            <a:avLst/>
          </a:prstGeom>
          <a:noFill/>
          <a:ln/>
        </p:spPr>
        <p:txBody>
          <a:bodyPr wrap="square" lIns="0" tIns="0" rIns="0" bIns="0" rtlCol="0" anchor="ctr"/>
          <a:lstStyle/>
          <a:p>
            <a:pPr marL="0" indent="0" algn="ctr">
              <a:buNone/>
            </a:pPr>
            <a:r>
              <a:rPr lang="en-US" sz="680" b="1" dirty="0">
                <a:solidFill>
                  <a:srgbClr val="061525"/>
                </a:solidFill>
              </a:rPr>
              <a:t>Class 4</a:t>
            </a:r>
            <a:endParaRPr lang="en-US" sz="680" dirty="0"/>
          </a:p>
        </p:txBody>
      </p:sp>
      <p:sp>
        <p:nvSpPr>
          <p:cNvPr id="55" name="Shape 51">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56" name="Text 52">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57" name="Shape 53">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58" name="Text 54">
            <a:hlinkClick r:id="rId5" action="ppaction://hlinksldjump"/>
          </p:cNvPr>
          <p:cNvSpPr/>
          <p:nvPr/>
        </p:nvSpPr>
        <p:spPr>
          <a:xfrm>
            <a:off x="10936224"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59"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8000"/>
              </a:srgbClr>
            </a:solidFill>
            <a:prstDash val="solid"/>
          </a:ln>
        </p:spPr>
      </p:sp>
      <p:sp>
        <p:nvSpPr>
          <p:cNvPr id="3" name="Shape 1"/>
          <p:cNvSpPr/>
          <p:nvPr/>
        </p:nvSpPr>
        <p:spPr>
          <a:xfrm>
            <a:off x="1051560" y="502920"/>
            <a:ext cx="0" cy="5715000"/>
          </a:xfrm>
          <a:prstGeom prst="line">
            <a:avLst/>
          </a:prstGeom>
          <a:noFill/>
          <a:ln w="5080">
            <a:solidFill>
              <a:srgbClr val="0B304B">
                <a:alpha val="8000"/>
              </a:srgbClr>
            </a:solidFill>
            <a:prstDash val="solid"/>
          </a:ln>
        </p:spPr>
      </p:sp>
      <p:sp>
        <p:nvSpPr>
          <p:cNvPr id="4" name="Shape 2"/>
          <p:cNvSpPr/>
          <p:nvPr/>
        </p:nvSpPr>
        <p:spPr>
          <a:xfrm>
            <a:off x="1554480" y="502920"/>
            <a:ext cx="0" cy="5715000"/>
          </a:xfrm>
          <a:prstGeom prst="line">
            <a:avLst/>
          </a:prstGeom>
          <a:noFill/>
          <a:ln w="5080">
            <a:solidFill>
              <a:srgbClr val="0B304B">
                <a:alpha val="8000"/>
              </a:srgbClr>
            </a:solidFill>
            <a:prstDash val="solid"/>
          </a:ln>
        </p:spPr>
      </p:sp>
      <p:sp>
        <p:nvSpPr>
          <p:cNvPr id="5" name="Shape 3"/>
          <p:cNvSpPr/>
          <p:nvPr/>
        </p:nvSpPr>
        <p:spPr>
          <a:xfrm>
            <a:off x="2057400" y="502920"/>
            <a:ext cx="0" cy="5715000"/>
          </a:xfrm>
          <a:prstGeom prst="line">
            <a:avLst/>
          </a:prstGeom>
          <a:noFill/>
          <a:ln w="5080">
            <a:solidFill>
              <a:srgbClr val="0B304B">
                <a:alpha val="8000"/>
              </a:srgbClr>
            </a:solidFill>
            <a:prstDash val="solid"/>
          </a:ln>
        </p:spPr>
      </p:sp>
      <p:sp>
        <p:nvSpPr>
          <p:cNvPr id="6" name="Shape 4"/>
          <p:cNvSpPr/>
          <p:nvPr/>
        </p:nvSpPr>
        <p:spPr>
          <a:xfrm>
            <a:off x="2560320" y="502920"/>
            <a:ext cx="0" cy="5715000"/>
          </a:xfrm>
          <a:prstGeom prst="line">
            <a:avLst/>
          </a:prstGeom>
          <a:noFill/>
          <a:ln w="5080">
            <a:solidFill>
              <a:srgbClr val="0B304B">
                <a:alpha val="8000"/>
              </a:srgbClr>
            </a:solidFill>
            <a:prstDash val="solid"/>
          </a:ln>
        </p:spPr>
      </p:sp>
      <p:sp>
        <p:nvSpPr>
          <p:cNvPr id="7" name="Shape 5"/>
          <p:cNvSpPr/>
          <p:nvPr/>
        </p:nvSpPr>
        <p:spPr>
          <a:xfrm>
            <a:off x="3063240" y="502920"/>
            <a:ext cx="0" cy="5715000"/>
          </a:xfrm>
          <a:prstGeom prst="line">
            <a:avLst/>
          </a:prstGeom>
          <a:noFill/>
          <a:ln w="5080">
            <a:solidFill>
              <a:srgbClr val="0B304B">
                <a:alpha val="8000"/>
              </a:srgbClr>
            </a:solidFill>
            <a:prstDash val="solid"/>
          </a:ln>
        </p:spPr>
      </p:sp>
      <p:sp>
        <p:nvSpPr>
          <p:cNvPr id="8" name="Shape 6"/>
          <p:cNvSpPr/>
          <p:nvPr/>
        </p:nvSpPr>
        <p:spPr>
          <a:xfrm>
            <a:off x="3566160" y="502920"/>
            <a:ext cx="0" cy="5715000"/>
          </a:xfrm>
          <a:prstGeom prst="line">
            <a:avLst/>
          </a:prstGeom>
          <a:noFill/>
          <a:ln w="5080">
            <a:solidFill>
              <a:srgbClr val="0B304B">
                <a:alpha val="8000"/>
              </a:srgbClr>
            </a:solidFill>
            <a:prstDash val="solid"/>
          </a:ln>
        </p:spPr>
      </p:sp>
      <p:sp>
        <p:nvSpPr>
          <p:cNvPr id="9" name="Shape 7"/>
          <p:cNvSpPr/>
          <p:nvPr/>
        </p:nvSpPr>
        <p:spPr>
          <a:xfrm>
            <a:off x="4069080" y="502920"/>
            <a:ext cx="0" cy="5715000"/>
          </a:xfrm>
          <a:prstGeom prst="line">
            <a:avLst/>
          </a:prstGeom>
          <a:noFill/>
          <a:ln w="5080">
            <a:solidFill>
              <a:srgbClr val="0B304B">
                <a:alpha val="8000"/>
              </a:srgbClr>
            </a:solidFill>
            <a:prstDash val="solid"/>
          </a:ln>
        </p:spPr>
      </p:sp>
      <p:sp>
        <p:nvSpPr>
          <p:cNvPr id="10" name="Shape 8"/>
          <p:cNvSpPr/>
          <p:nvPr/>
        </p:nvSpPr>
        <p:spPr>
          <a:xfrm>
            <a:off x="4572000" y="502920"/>
            <a:ext cx="0" cy="5715000"/>
          </a:xfrm>
          <a:prstGeom prst="line">
            <a:avLst/>
          </a:prstGeom>
          <a:noFill/>
          <a:ln w="5080">
            <a:solidFill>
              <a:srgbClr val="0B304B">
                <a:alpha val="8000"/>
              </a:srgbClr>
            </a:solidFill>
            <a:prstDash val="solid"/>
          </a:ln>
        </p:spPr>
      </p:sp>
      <p:sp>
        <p:nvSpPr>
          <p:cNvPr id="11" name="Shape 9"/>
          <p:cNvSpPr/>
          <p:nvPr/>
        </p:nvSpPr>
        <p:spPr>
          <a:xfrm>
            <a:off x="5074920" y="502920"/>
            <a:ext cx="0" cy="5715000"/>
          </a:xfrm>
          <a:prstGeom prst="line">
            <a:avLst/>
          </a:prstGeom>
          <a:noFill/>
          <a:ln w="5080">
            <a:solidFill>
              <a:srgbClr val="0B304B">
                <a:alpha val="8000"/>
              </a:srgbClr>
            </a:solidFill>
            <a:prstDash val="solid"/>
          </a:ln>
        </p:spPr>
      </p:sp>
      <p:sp>
        <p:nvSpPr>
          <p:cNvPr id="12" name="Shape 10"/>
          <p:cNvSpPr/>
          <p:nvPr/>
        </p:nvSpPr>
        <p:spPr>
          <a:xfrm>
            <a:off x="5577840" y="502920"/>
            <a:ext cx="0" cy="5715000"/>
          </a:xfrm>
          <a:prstGeom prst="line">
            <a:avLst/>
          </a:prstGeom>
          <a:noFill/>
          <a:ln w="5080">
            <a:solidFill>
              <a:srgbClr val="0B304B">
                <a:alpha val="8000"/>
              </a:srgbClr>
            </a:solidFill>
            <a:prstDash val="solid"/>
          </a:ln>
        </p:spPr>
      </p:sp>
      <p:sp>
        <p:nvSpPr>
          <p:cNvPr id="13" name="Shape 11"/>
          <p:cNvSpPr/>
          <p:nvPr/>
        </p:nvSpPr>
        <p:spPr>
          <a:xfrm>
            <a:off x="6080760" y="502920"/>
            <a:ext cx="0" cy="5715000"/>
          </a:xfrm>
          <a:prstGeom prst="line">
            <a:avLst/>
          </a:prstGeom>
          <a:noFill/>
          <a:ln w="5080">
            <a:solidFill>
              <a:srgbClr val="0B304B">
                <a:alpha val="8000"/>
              </a:srgbClr>
            </a:solidFill>
            <a:prstDash val="solid"/>
          </a:ln>
        </p:spPr>
      </p:sp>
      <p:sp>
        <p:nvSpPr>
          <p:cNvPr id="14" name="Shape 12"/>
          <p:cNvSpPr/>
          <p:nvPr/>
        </p:nvSpPr>
        <p:spPr>
          <a:xfrm>
            <a:off x="6583680" y="502920"/>
            <a:ext cx="0" cy="5715000"/>
          </a:xfrm>
          <a:prstGeom prst="line">
            <a:avLst/>
          </a:prstGeom>
          <a:noFill/>
          <a:ln w="5080">
            <a:solidFill>
              <a:srgbClr val="0B304B">
                <a:alpha val="8000"/>
              </a:srgbClr>
            </a:solidFill>
            <a:prstDash val="solid"/>
          </a:ln>
        </p:spPr>
      </p:sp>
      <p:sp>
        <p:nvSpPr>
          <p:cNvPr id="15" name="Shape 13"/>
          <p:cNvSpPr/>
          <p:nvPr/>
        </p:nvSpPr>
        <p:spPr>
          <a:xfrm>
            <a:off x="7086600" y="502920"/>
            <a:ext cx="0" cy="5715000"/>
          </a:xfrm>
          <a:prstGeom prst="line">
            <a:avLst/>
          </a:prstGeom>
          <a:noFill/>
          <a:ln w="5080">
            <a:solidFill>
              <a:srgbClr val="0B304B">
                <a:alpha val="8000"/>
              </a:srgbClr>
            </a:solidFill>
            <a:prstDash val="solid"/>
          </a:ln>
        </p:spPr>
      </p:sp>
      <p:sp>
        <p:nvSpPr>
          <p:cNvPr id="16" name="Shape 14"/>
          <p:cNvSpPr/>
          <p:nvPr/>
        </p:nvSpPr>
        <p:spPr>
          <a:xfrm>
            <a:off x="7589520" y="502920"/>
            <a:ext cx="0" cy="5715000"/>
          </a:xfrm>
          <a:prstGeom prst="line">
            <a:avLst/>
          </a:prstGeom>
          <a:noFill/>
          <a:ln w="5080">
            <a:solidFill>
              <a:srgbClr val="0B304B">
                <a:alpha val="8000"/>
              </a:srgbClr>
            </a:solidFill>
            <a:prstDash val="solid"/>
          </a:ln>
        </p:spPr>
      </p:sp>
      <p:sp>
        <p:nvSpPr>
          <p:cNvPr id="17" name="Shape 15"/>
          <p:cNvSpPr/>
          <p:nvPr/>
        </p:nvSpPr>
        <p:spPr>
          <a:xfrm>
            <a:off x="8092440" y="502920"/>
            <a:ext cx="0" cy="5715000"/>
          </a:xfrm>
          <a:prstGeom prst="line">
            <a:avLst/>
          </a:prstGeom>
          <a:noFill/>
          <a:ln w="5080">
            <a:solidFill>
              <a:srgbClr val="0B304B">
                <a:alpha val="8000"/>
              </a:srgbClr>
            </a:solidFill>
            <a:prstDash val="solid"/>
          </a:ln>
        </p:spPr>
      </p:sp>
      <p:sp>
        <p:nvSpPr>
          <p:cNvPr id="18" name="Shape 16"/>
          <p:cNvSpPr/>
          <p:nvPr/>
        </p:nvSpPr>
        <p:spPr>
          <a:xfrm>
            <a:off x="8595360" y="502920"/>
            <a:ext cx="0" cy="5715000"/>
          </a:xfrm>
          <a:prstGeom prst="line">
            <a:avLst/>
          </a:prstGeom>
          <a:noFill/>
          <a:ln w="5080">
            <a:solidFill>
              <a:srgbClr val="0B304B">
                <a:alpha val="8000"/>
              </a:srgbClr>
            </a:solidFill>
            <a:prstDash val="solid"/>
          </a:ln>
        </p:spPr>
      </p:sp>
      <p:sp>
        <p:nvSpPr>
          <p:cNvPr id="19" name="Shape 17"/>
          <p:cNvSpPr/>
          <p:nvPr/>
        </p:nvSpPr>
        <p:spPr>
          <a:xfrm>
            <a:off x="9098280" y="502920"/>
            <a:ext cx="0" cy="5715000"/>
          </a:xfrm>
          <a:prstGeom prst="line">
            <a:avLst/>
          </a:prstGeom>
          <a:noFill/>
          <a:ln w="5080">
            <a:solidFill>
              <a:srgbClr val="0B304B">
                <a:alpha val="8000"/>
              </a:srgbClr>
            </a:solidFill>
            <a:prstDash val="solid"/>
          </a:ln>
        </p:spPr>
      </p:sp>
      <p:sp>
        <p:nvSpPr>
          <p:cNvPr id="20" name="Shape 18"/>
          <p:cNvSpPr/>
          <p:nvPr/>
        </p:nvSpPr>
        <p:spPr>
          <a:xfrm>
            <a:off x="9601200" y="502920"/>
            <a:ext cx="0" cy="5715000"/>
          </a:xfrm>
          <a:prstGeom prst="line">
            <a:avLst/>
          </a:prstGeom>
          <a:noFill/>
          <a:ln w="5080">
            <a:solidFill>
              <a:srgbClr val="0B304B">
                <a:alpha val="8000"/>
              </a:srgbClr>
            </a:solidFill>
            <a:prstDash val="solid"/>
          </a:ln>
        </p:spPr>
      </p:sp>
      <p:sp>
        <p:nvSpPr>
          <p:cNvPr id="21" name="Shape 19"/>
          <p:cNvSpPr/>
          <p:nvPr/>
        </p:nvSpPr>
        <p:spPr>
          <a:xfrm>
            <a:off x="10104120" y="502920"/>
            <a:ext cx="0" cy="5715000"/>
          </a:xfrm>
          <a:prstGeom prst="line">
            <a:avLst/>
          </a:prstGeom>
          <a:noFill/>
          <a:ln w="5080">
            <a:solidFill>
              <a:srgbClr val="0B304B">
                <a:alpha val="8000"/>
              </a:srgbClr>
            </a:solidFill>
            <a:prstDash val="solid"/>
          </a:ln>
        </p:spPr>
      </p:sp>
      <p:sp>
        <p:nvSpPr>
          <p:cNvPr id="22" name="Shape 20"/>
          <p:cNvSpPr/>
          <p:nvPr/>
        </p:nvSpPr>
        <p:spPr>
          <a:xfrm>
            <a:off x="10607040" y="502920"/>
            <a:ext cx="0" cy="5715000"/>
          </a:xfrm>
          <a:prstGeom prst="line">
            <a:avLst/>
          </a:prstGeom>
          <a:noFill/>
          <a:ln w="5080">
            <a:solidFill>
              <a:srgbClr val="0B304B">
                <a:alpha val="8000"/>
              </a:srgbClr>
            </a:solidFill>
            <a:prstDash val="solid"/>
          </a:ln>
        </p:spPr>
      </p:sp>
      <p:sp>
        <p:nvSpPr>
          <p:cNvPr id="23" name="Shape 21"/>
          <p:cNvSpPr/>
          <p:nvPr/>
        </p:nvSpPr>
        <p:spPr>
          <a:xfrm>
            <a:off x="11109960" y="502920"/>
            <a:ext cx="0" cy="5715000"/>
          </a:xfrm>
          <a:prstGeom prst="line">
            <a:avLst/>
          </a:prstGeom>
          <a:noFill/>
          <a:ln w="5080">
            <a:solidFill>
              <a:srgbClr val="0B304B">
                <a:alpha val="8000"/>
              </a:srgbClr>
            </a:solidFill>
            <a:prstDash val="solid"/>
          </a:ln>
        </p:spPr>
      </p:sp>
      <p:sp>
        <p:nvSpPr>
          <p:cNvPr id="24" name="Shape 22"/>
          <p:cNvSpPr/>
          <p:nvPr/>
        </p:nvSpPr>
        <p:spPr>
          <a:xfrm>
            <a:off x="11612880" y="502920"/>
            <a:ext cx="0" cy="5715000"/>
          </a:xfrm>
          <a:prstGeom prst="line">
            <a:avLst/>
          </a:prstGeom>
          <a:noFill/>
          <a:ln w="5080">
            <a:solidFill>
              <a:srgbClr val="0B304B">
                <a:alpha val="8000"/>
              </a:srgbClr>
            </a:solidFill>
            <a:prstDash val="solid"/>
          </a:ln>
        </p:spPr>
      </p:sp>
      <p:sp>
        <p:nvSpPr>
          <p:cNvPr id="25" name="Shape 23"/>
          <p:cNvSpPr/>
          <p:nvPr/>
        </p:nvSpPr>
        <p:spPr>
          <a:xfrm>
            <a:off x="502920" y="566928"/>
            <a:ext cx="11201400" cy="0"/>
          </a:xfrm>
          <a:prstGeom prst="line">
            <a:avLst/>
          </a:prstGeom>
          <a:noFill/>
          <a:ln w="5080">
            <a:solidFill>
              <a:srgbClr val="0B304B">
                <a:alpha val="8000"/>
              </a:srgbClr>
            </a:solidFill>
            <a:prstDash val="solid"/>
          </a:ln>
        </p:spPr>
      </p:sp>
      <p:sp>
        <p:nvSpPr>
          <p:cNvPr id="26" name="Shape 24"/>
          <p:cNvSpPr/>
          <p:nvPr/>
        </p:nvSpPr>
        <p:spPr>
          <a:xfrm>
            <a:off x="502920" y="1069848"/>
            <a:ext cx="11201400" cy="0"/>
          </a:xfrm>
          <a:prstGeom prst="line">
            <a:avLst/>
          </a:prstGeom>
          <a:noFill/>
          <a:ln w="5080">
            <a:solidFill>
              <a:srgbClr val="0B304B">
                <a:alpha val="8000"/>
              </a:srgbClr>
            </a:solidFill>
            <a:prstDash val="solid"/>
          </a:ln>
        </p:spPr>
      </p:sp>
      <p:sp>
        <p:nvSpPr>
          <p:cNvPr id="27" name="Shape 25"/>
          <p:cNvSpPr/>
          <p:nvPr/>
        </p:nvSpPr>
        <p:spPr>
          <a:xfrm>
            <a:off x="502920" y="1572768"/>
            <a:ext cx="11201400" cy="0"/>
          </a:xfrm>
          <a:prstGeom prst="line">
            <a:avLst/>
          </a:prstGeom>
          <a:noFill/>
          <a:ln w="5080">
            <a:solidFill>
              <a:srgbClr val="0B304B">
                <a:alpha val="8000"/>
              </a:srgbClr>
            </a:solidFill>
            <a:prstDash val="solid"/>
          </a:ln>
        </p:spPr>
      </p:sp>
      <p:sp>
        <p:nvSpPr>
          <p:cNvPr id="28" name="Shape 26"/>
          <p:cNvSpPr/>
          <p:nvPr/>
        </p:nvSpPr>
        <p:spPr>
          <a:xfrm>
            <a:off x="502920" y="2075688"/>
            <a:ext cx="11201400" cy="0"/>
          </a:xfrm>
          <a:prstGeom prst="line">
            <a:avLst/>
          </a:prstGeom>
          <a:noFill/>
          <a:ln w="5080">
            <a:solidFill>
              <a:srgbClr val="0B304B">
                <a:alpha val="8000"/>
              </a:srgbClr>
            </a:solidFill>
            <a:prstDash val="solid"/>
          </a:ln>
        </p:spPr>
      </p:sp>
      <p:sp>
        <p:nvSpPr>
          <p:cNvPr id="29" name="Shape 27"/>
          <p:cNvSpPr/>
          <p:nvPr/>
        </p:nvSpPr>
        <p:spPr>
          <a:xfrm>
            <a:off x="502920" y="2578608"/>
            <a:ext cx="11201400" cy="0"/>
          </a:xfrm>
          <a:prstGeom prst="line">
            <a:avLst/>
          </a:prstGeom>
          <a:noFill/>
          <a:ln w="5080">
            <a:solidFill>
              <a:srgbClr val="0B304B">
                <a:alpha val="8000"/>
              </a:srgbClr>
            </a:solidFill>
            <a:prstDash val="solid"/>
          </a:ln>
        </p:spPr>
      </p:sp>
      <p:sp>
        <p:nvSpPr>
          <p:cNvPr id="30" name="Shape 28"/>
          <p:cNvSpPr/>
          <p:nvPr/>
        </p:nvSpPr>
        <p:spPr>
          <a:xfrm>
            <a:off x="502920" y="3081528"/>
            <a:ext cx="11201400" cy="0"/>
          </a:xfrm>
          <a:prstGeom prst="line">
            <a:avLst/>
          </a:prstGeom>
          <a:noFill/>
          <a:ln w="5080">
            <a:solidFill>
              <a:srgbClr val="0B304B">
                <a:alpha val="8000"/>
              </a:srgbClr>
            </a:solidFill>
            <a:prstDash val="solid"/>
          </a:ln>
        </p:spPr>
      </p:sp>
      <p:sp>
        <p:nvSpPr>
          <p:cNvPr id="31" name="Shape 29"/>
          <p:cNvSpPr/>
          <p:nvPr/>
        </p:nvSpPr>
        <p:spPr>
          <a:xfrm>
            <a:off x="502920" y="3584448"/>
            <a:ext cx="11201400" cy="0"/>
          </a:xfrm>
          <a:prstGeom prst="line">
            <a:avLst/>
          </a:prstGeom>
          <a:noFill/>
          <a:ln w="5080">
            <a:solidFill>
              <a:srgbClr val="0B304B">
                <a:alpha val="8000"/>
              </a:srgbClr>
            </a:solidFill>
            <a:prstDash val="solid"/>
          </a:ln>
        </p:spPr>
      </p:sp>
      <p:sp>
        <p:nvSpPr>
          <p:cNvPr id="32" name="Shape 30"/>
          <p:cNvSpPr/>
          <p:nvPr/>
        </p:nvSpPr>
        <p:spPr>
          <a:xfrm>
            <a:off x="502920" y="4087368"/>
            <a:ext cx="11201400" cy="0"/>
          </a:xfrm>
          <a:prstGeom prst="line">
            <a:avLst/>
          </a:prstGeom>
          <a:noFill/>
          <a:ln w="5080">
            <a:solidFill>
              <a:srgbClr val="0B304B">
                <a:alpha val="8000"/>
              </a:srgbClr>
            </a:solidFill>
            <a:prstDash val="solid"/>
          </a:ln>
        </p:spPr>
      </p:sp>
      <p:sp>
        <p:nvSpPr>
          <p:cNvPr id="33" name="Shape 31"/>
          <p:cNvSpPr/>
          <p:nvPr/>
        </p:nvSpPr>
        <p:spPr>
          <a:xfrm>
            <a:off x="502920" y="4590288"/>
            <a:ext cx="11201400" cy="0"/>
          </a:xfrm>
          <a:prstGeom prst="line">
            <a:avLst/>
          </a:prstGeom>
          <a:noFill/>
          <a:ln w="5080">
            <a:solidFill>
              <a:srgbClr val="0B304B">
                <a:alpha val="8000"/>
              </a:srgbClr>
            </a:solidFill>
            <a:prstDash val="solid"/>
          </a:ln>
        </p:spPr>
      </p:sp>
      <p:sp>
        <p:nvSpPr>
          <p:cNvPr id="34" name="Shape 32"/>
          <p:cNvSpPr/>
          <p:nvPr/>
        </p:nvSpPr>
        <p:spPr>
          <a:xfrm>
            <a:off x="502920" y="5093208"/>
            <a:ext cx="11201400" cy="0"/>
          </a:xfrm>
          <a:prstGeom prst="line">
            <a:avLst/>
          </a:prstGeom>
          <a:noFill/>
          <a:ln w="5080">
            <a:solidFill>
              <a:srgbClr val="0B304B">
                <a:alpha val="8000"/>
              </a:srgbClr>
            </a:solidFill>
            <a:prstDash val="solid"/>
          </a:ln>
        </p:spPr>
      </p:sp>
      <p:sp>
        <p:nvSpPr>
          <p:cNvPr id="35" name="Shape 33"/>
          <p:cNvSpPr/>
          <p:nvPr/>
        </p:nvSpPr>
        <p:spPr>
          <a:xfrm>
            <a:off x="502920" y="5596128"/>
            <a:ext cx="11201400" cy="0"/>
          </a:xfrm>
          <a:prstGeom prst="line">
            <a:avLst/>
          </a:prstGeom>
          <a:noFill/>
          <a:ln w="5080">
            <a:solidFill>
              <a:srgbClr val="0B304B">
                <a:alpha val="8000"/>
              </a:srgbClr>
            </a:solidFill>
            <a:prstDash val="solid"/>
          </a:ln>
        </p:spPr>
      </p:sp>
      <p:sp>
        <p:nvSpPr>
          <p:cNvPr id="36" name="Shape 34"/>
          <p:cNvSpPr/>
          <p:nvPr/>
        </p:nvSpPr>
        <p:spPr>
          <a:xfrm>
            <a:off x="502920" y="6099048"/>
            <a:ext cx="11201400" cy="0"/>
          </a:xfrm>
          <a:prstGeom prst="line">
            <a:avLst/>
          </a:prstGeom>
          <a:noFill/>
          <a:ln w="5080">
            <a:solidFill>
              <a:srgbClr val="0B304B">
                <a:alpha val="8000"/>
              </a:srgbClr>
            </a:solidFill>
            <a:prstDash val="solid"/>
          </a:ln>
        </p:spPr>
      </p:sp>
      <p:sp>
        <p:nvSpPr>
          <p:cNvPr id="37" name="Shape 35"/>
          <p:cNvSpPr/>
          <p:nvPr/>
        </p:nvSpPr>
        <p:spPr>
          <a:xfrm>
            <a:off x="502920" y="320040"/>
            <a:ext cx="1417320" cy="256032"/>
          </a:xfrm>
          <a:prstGeom prst="roundRect">
            <a:avLst>
              <a:gd name="adj" fmla="val 17857"/>
            </a:avLst>
          </a:prstGeom>
          <a:solidFill>
            <a:srgbClr val="09273D"/>
          </a:solidFill>
          <a:ln w="10160">
            <a:solidFill>
              <a:srgbClr val="16DFF7">
                <a:alpha val="65000"/>
              </a:srgbClr>
            </a:solidFill>
            <a:prstDash val="solid"/>
          </a:ln>
        </p:spPr>
      </p:sp>
      <p:sp>
        <p:nvSpPr>
          <p:cNvPr id="38"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16DFF7"/>
                </a:solidFill>
                <a:latin typeface="Aptos" pitchFamily="34" charset="0"/>
                <a:ea typeface="Aptos" pitchFamily="34" charset="-122"/>
                <a:cs typeface="Aptos" pitchFamily="34" charset="-120"/>
              </a:rPr>
              <a:t>PYTHON DATA ANALYSIS</a:t>
            </a:r>
            <a:endParaRPr lang="en-US" sz="560" dirty="0"/>
          </a:p>
        </p:txBody>
      </p:sp>
      <p:sp>
        <p:nvSpPr>
          <p:cNvPr id="39"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Python Data Analysis – Airline Accidents Dataset</a:t>
            </a:r>
            <a:endParaRPr lang="en-US" sz="2350" dirty="0"/>
          </a:p>
        </p:txBody>
      </p:sp>
      <p:pic>
        <p:nvPicPr>
          <p:cNvPr id="40" name="Image 0" descr="/mnt/data/radar_sweep.gif"/>
          <p:cNvPicPr>
            <a:picLocks noChangeAspect="1"/>
          </p:cNvPicPr>
          <p:nvPr/>
        </p:nvPicPr>
        <p:blipFill>
          <a:blip r:embed="rId3"/>
          <a:stretch>
            <a:fillRect/>
          </a:stretch>
        </p:blipFill>
        <p:spPr>
          <a:xfrm>
            <a:off x="10625328" y="621792"/>
            <a:ext cx="713232" cy="713232"/>
          </a:xfrm>
          <a:prstGeom prst="rect">
            <a:avLst/>
          </a:prstGeom>
        </p:spPr>
      </p:pic>
      <p:sp>
        <p:nvSpPr>
          <p:cNvPr id="41" name="Shape 38"/>
          <p:cNvSpPr/>
          <p:nvPr/>
        </p:nvSpPr>
        <p:spPr>
          <a:xfrm>
            <a:off x="621792" y="1490472"/>
            <a:ext cx="3438144" cy="1435608"/>
          </a:xfrm>
          <a:prstGeom prst="roundRect">
            <a:avLst>
              <a:gd name="adj" fmla="val 5096"/>
            </a:avLst>
          </a:prstGeom>
          <a:solidFill>
            <a:srgbClr val="0A2035"/>
          </a:solidFill>
          <a:ln w="11430">
            <a:solidFill>
              <a:srgbClr val="163F5D">
                <a:alpha val="90000"/>
              </a:srgbClr>
            </a:solidFill>
            <a:prstDash val="solid"/>
          </a:ln>
        </p:spPr>
      </p:sp>
      <p:sp>
        <p:nvSpPr>
          <p:cNvPr id="42" name="Shape 39"/>
          <p:cNvSpPr/>
          <p:nvPr/>
        </p:nvSpPr>
        <p:spPr>
          <a:xfrm>
            <a:off x="621792" y="1490472"/>
            <a:ext cx="41148" cy="1435608"/>
          </a:xfrm>
          <a:prstGeom prst="rect">
            <a:avLst/>
          </a:prstGeom>
          <a:solidFill>
            <a:srgbClr val="16DFF7"/>
          </a:solidFill>
          <a:ln w="12700">
            <a:solidFill>
              <a:srgbClr val="16DFF7"/>
            </a:solidFill>
            <a:prstDash val="solid"/>
          </a:ln>
        </p:spPr>
      </p:sp>
      <p:sp>
        <p:nvSpPr>
          <p:cNvPr id="43" name="Text 40"/>
          <p:cNvSpPr/>
          <p:nvPr/>
        </p:nvSpPr>
        <p:spPr>
          <a:xfrm>
            <a:off x="841248" y="1655064"/>
            <a:ext cx="3035808" cy="292608"/>
          </a:xfrm>
          <a:prstGeom prst="rect">
            <a:avLst/>
          </a:prstGeom>
          <a:noFill/>
          <a:ln/>
        </p:spPr>
        <p:txBody>
          <a:bodyPr wrap="square" lIns="0" tIns="0" rIns="0" bIns="0" rtlCol="0" anchor="ctr">
            <a:normAutofit/>
          </a:bodyPr>
          <a:lstStyle/>
          <a:p>
            <a:pPr marL="0" indent="0">
              <a:buNone/>
            </a:pPr>
            <a:r>
              <a:rPr lang="en-US" sz="1150" b="1" dirty="0">
                <a:solidFill>
                  <a:srgbClr val="16DFF7"/>
                </a:solidFill>
              </a:rPr>
              <a:t>1. Data Loading</a:t>
            </a:r>
            <a:endParaRPr lang="en-US" sz="1150" dirty="0"/>
          </a:p>
        </p:txBody>
      </p:sp>
      <p:sp>
        <p:nvSpPr>
          <p:cNvPr id="44" name="Text 41"/>
          <p:cNvSpPr/>
          <p:nvPr/>
        </p:nvSpPr>
        <p:spPr>
          <a:xfrm>
            <a:off x="841248" y="2048256"/>
            <a:ext cx="3017520" cy="722376"/>
          </a:xfrm>
          <a:prstGeom prst="rect">
            <a:avLst/>
          </a:prstGeom>
          <a:noFill/>
          <a:ln/>
        </p:spPr>
        <p:txBody>
          <a:bodyPr wrap="square" lIns="254" tIns="254" rIns="254" bIns="254" rtlCol="0" anchor="t">
            <a:normAutofit/>
          </a:bodyPr>
          <a:lstStyle/>
          <a:p>
            <a:pPr marL="0" indent="0">
              <a:buNone/>
            </a:pPr>
            <a:r>
              <a:rPr lang="en-US" sz="890" dirty="0">
                <a:solidFill>
                  <a:srgbClr val="DDEAF2"/>
                </a:solidFill>
              </a:rPr>
              <a:t>I loaded the airline accidents dataset using Pandas and checked its shape, columns, and sample records to understand the dataset before starting the cleaning process.</a:t>
            </a:r>
            <a:endParaRPr lang="en-US" sz="890" dirty="0"/>
          </a:p>
        </p:txBody>
      </p:sp>
      <p:sp>
        <p:nvSpPr>
          <p:cNvPr id="45" name="Shape 42"/>
          <p:cNvSpPr/>
          <p:nvPr/>
        </p:nvSpPr>
        <p:spPr>
          <a:xfrm>
            <a:off x="4361688" y="1490472"/>
            <a:ext cx="3438144" cy="1435608"/>
          </a:xfrm>
          <a:prstGeom prst="roundRect">
            <a:avLst>
              <a:gd name="adj" fmla="val 5096"/>
            </a:avLst>
          </a:prstGeom>
          <a:solidFill>
            <a:srgbClr val="0A2035"/>
          </a:solidFill>
          <a:ln w="11430">
            <a:solidFill>
              <a:srgbClr val="163F5D">
                <a:alpha val="90000"/>
              </a:srgbClr>
            </a:solidFill>
            <a:prstDash val="solid"/>
          </a:ln>
        </p:spPr>
      </p:sp>
      <p:sp>
        <p:nvSpPr>
          <p:cNvPr id="46" name="Shape 43"/>
          <p:cNvSpPr/>
          <p:nvPr/>
        </p:nvSpPr>
        <p:spPr>
          <a:xfrm>
            <a:off x="4361688" y="1490472"/>
            <a:ext cx="41148" cy="1435608"/>
          </a:xfrm>
          <a:prstGeom prst="rect">
            <a:avLst/>
          </a:prstGeom>
          <a:solidFill>
            <a:srgbClr val="3FE0B5"/>
          </a:solidFill>
          <a:ln w="12700">
            <a:solidFill>
              <a:srgbClr val="3FE0B5"/>
            </a:solidFill>
            <a:prstDash val="solid"/>
          </a:ln>
        </p:spPr>
      </p:sp>
      <p:sp>
        <p:nvSpPr>
          <p:cNvPr id="47" name="Text 44"/>
          <p:cNvSpPr/>
          <p:nvPr/>
        </p:nvSpPr>
        <p:spPr>
          <a:xfrm>
            <a:off x="4581144" y="1655064"/>
            <a:ext cx="3035808" cy="292608"/>
          </a:xfrm>
          <a:prstGeom prst="rect">
            <a:avLst/>
          </a:prstGeom>
          <a:noFill/>
          <a:ln/>
        </p:spPr>
        <p:txBody>
          <a:bodyPr wrap="square" lIns="0" tIns="0" rIns="0" bIns="0" rtlCol="0" anchor="ctr">
            <a:normAutofit/>
          </a:bodyPr>
          <a:lstStyle/>
          <a:p>
            <a:pPr marL="0" indent="0">
              <a:buNone/>
            </a:pPr>
            <a:r>
              <a:rPr lang="en-US" sz="1150" b="1" dirty="0">
                <a:solidFill>
                  <a:srgbClr val="3FE0B5"/>
                </a:solidFill>
              </a:rPr>
              <a:t>2. Data Cleaning</a:t>
            </a:r>
            <a:endParaRPr lang="en-US" sz="1150" dirty="0"/>
          </a:p>
        </p:txBody>
      </p:sp>
      <p:sp>
        <p:nvSpPr>
          <p:cNvPr id="48" name="Text 45"/>
          <p:cNvSpPr/>
          <p:nvPr/>
        </p:nvSpPr>
        <p:spPr>
          <a:xfrm>
            <a:off x="4581144" y="2048256"/>
            <a:ext cx="3017520" cy="722376"/>
          </a:xfrm>
          <a:prstGeom prst="rect">
            <a:avLst/>
          </a:prstGeom>
          <a:noFill/>
          <a:ln/>
        </p:spPr>
        <p:txBody>
          <a:bodyPr wrap="square" lIns="254" tIns="254" rIns="254" bIns="254" rtlCol="0" anchor="t">
            <a:normAutofit/>
          </a:bodyPr>
          <a:lstStyle/>
          <a:p>
            <a:pPr marL="0" indent="0">
              <a:buNone/>
            </a:pPr>
            <a:r>
              <a:rPr lang="en-US" sz="890" dirty="0">
                <a:solidFill>
                  <a:srgbClr val="DDEAF2"/>
                </a:solidFill>
              </a:rPr>
              <a:t>I cleaned the text columns by removing extra spaces and converting blank values and common missing-value placeholders such as "NA", "N/A", "None", and "null" into proper missing values.</a:t>
            </a:r>
            <a:endParaRPr lang="en-US" sz="890" dirty="0"/>
          </a:p>
        </p:txBody>
      </p:sp>
      <p:sp>
        <p:nvSpPr>
          <p:cNvPr id="49" name="Shape 46"/>
          <p:cNvSpPr/>
          <p:nvPr/>
        </p:nvSpPr>
        <p:spPr>
          <a:xfrm>
            <a:off x="8110728" y="1490472"/>
            <a:ext cx="3438144" cy="1435608"/>
          </a:xfrm>
          <a:prstGeom prst="roundRect">
            <a:avLst>
              <a:gd name="adj" fmla="val 5096"/>
            </a:avLst>
          </a:prstGeom>
          <a:solidFill>
            <a:srgbClr val="0A2035"/>
          </a:solidFill>
          <a:ln w="11430">
            <a:solidFill>
              <a:srgbClr val="163F5D">
                <a:alpha val="90000"/>
              </a:srgbClr>
            </a:solidFill>
            <a:prstDash val="solid"/>
          </a:ln>
        </p:spPr>
      </p:sp>
      <p:sp>
        <p:nvSpPr>
          <p:cNvPr id="50" name="Shape 47"/>
          <p:cNvSpPr/>
          <p:nvPr/>
        </p:nvSpPr>
        <p:spPr>
          <a:xfrm>
            <a:off x="8110728" y="1490472"/>
            <a:ext cx="41148" cy="1435608"/>
          </a:xfrm>
          <a:prstGeom prst="rect">
            <a:avLst/>
          </a:prstGeom>
          <a:solidFill>
            <a:srgbClr val="FFB22C"/>
          </a:solidFill>
          <a:ln w="12700">
            <a:solidFill>
              <a:srgbClr val="FFB22C"/>
            </a:solidFill>
            <a:prstDash val="solid"/>
          </a:ln>
        </p:spPr>
      </p:sp>
      <p:sp>
        <p:nvSpPr>
          <p:cNvPr id="51" name="Text 48"/>
          <p:cNvSpPr/>
          <p:nvPr/>
        </p:nvSpPr>
        <p:spPr>
          <a:xfrm>
            <a:off x="8330184" y="1655064"/>
            <a:ext cx="3035808" cy="292608"/>
          </a:xfrm>
          <a:prstGeom prst="rect">
            <a:avLst/>
          </a:prstGeom>
          <a:noFill/>
          <a:ln/>
        </p:spPr>
        <p:txBody>
          <a:bodyPr wrap="square" lIns="0" tIns="0" rIns="0" bIns="0" rtlCol="0" anchor="ctr">
            <a:normAutofit/>
          </a:bodyPr>
          <a:lstStyle/>
          <a:p>
            <a:pPr marL="0" indent="0">
              <a:buNone/>
            </a:pPr>
            <a:r>
              <a:rPr lang="en-US" sz="1150" b="1" dirty="0">
                <a:solidFill>
                  <a:srgbClr val="FFB22C"/>
                </a:solidFill>
              </a:rPr>
              <a:t>3. Data Type Conversion</a:t>
            </a:r>
            <a:endParaRPr lang="en-US" sz="1150" dirty="0"/>
          </a:p>
        </p:txBody>
      </p:sp>
      <p:sp>
        <p:nvSpPr>
          <p:cNvPr id="52" name="Text 49"/>
          <p:cNvSpPr/>
          <p:nvPr/>
        </p:nvSpPr>
        <p:spPr>
          <a:xfrm>
            <a:off x="8330184" y="2048256"/>
            <a:ext cx="3017520" cy="722376"/>
          </a:xfrm>
          <a:prstGeom prst="rect">
            <a:avLst/>
          </a:prstGeom>
          <a:noFill/>
          <a:ln/>
        </p:spPr>
        <p:txBody>
          <a:bodyPr wrap="square" lIns="254" tIns="254" rIns="254" bIns="254" rtlCol="0" anchor="t">
            <a:normAutofit/>
          </a:bodyPr>
          <a:lstStyle/>
          <a:p>
            <a:pPr marL="0" indent="0">
              <a:buNone/>
            </a:pPr>
            <a:r>
              <a:rPr lang="en-US" sz="890" dirty="0">
                <a:solidFill>
                  <a:srgbClr val="DDEAF2"/>
                </a:solidFill>
              </a:rPr>
              <a:t>I converted date columns into DateTime format and numeric columns such as injuries, coordinates, and number of engines into numeric data types to make the data easier to analyze.</a:t>
            </a:r>
            <a:endParaRPr lang="en-US" sz="890" dirty="0"/>
          </a:p>
        </p:txBody>
      </p:sp>
      <p:sp>
        <p:nvSpPr>
          <p:cNvPr id="53" name="Shape 50"/>
          <p:cNvSpPr/>
          <p:nvPr/>
        </p:nvSpPr>
        <p:spPr>
          <a:xfrm>
            <a:off x="621792" y="3182112"/>
            <a:ext cx="5248656" cy="2157984"/>
          </a:xfrm>
          <a:prstGeom prst="roundRect">
            <a:avLst>
              <a:gd name="adj" fmla="val 3390"/>
            </a:avLst>
          </a:prstGeom>
          <a:solidFill>
            <a:srgbClr val="0A2035"/>
          </a:solidFill>
          <a:ln w="11430">
            <a:solidFill>
              <a:srgbClr val="163F5D">
                <a:alpha val="90000"/>
              </a:srgbClr>
            </a:solidFill>
            <a:prstDash val="solid"/>
          </a:ln>
        </p:spPr>
      </p:sp>
      <p:sp>
        <p:nvSpPr>
          <p:cNvPr id="54" name="Shape 51"/>
          <p:cNvSpPr/>
          <p:nvPr/>
        </p:nvSpPr>
        <p:spPr>
          <a:xfrm>
            <a:off x="621792" y="3182112"/>
            <a:ext cx="41148" cy="2157984"/>
          </a:xfrm>
          <a:prstGeom prst="rect">
            <a:avLst/>
          </a:prstGeom>
          <a:solidFill>
            <a:srgbClr val="FF5D7A"/>
          </a:solidFill>
          <a:ln w="12700">
            <a:solidFill>
              <a:srgbClr val="FF5D7A"/>
            </a:solidFill>
            <a:prstDash val="solid"/>
          </a:ln>
        </p:spPr>
      </p:sp>
      <p:sp>
        <p:nvSpPr>
          <p:cNvPr id="55" name="Text 52"/>
          <p:cNvSpPr/>
          <p:nvPr/>
        </p:nvSpPr>
        <p:spPr>
          <a:xfrm>
            <a:off x="841248" y="3346704"/>
            <a:ext cx="4846320" cy="292608"/>
          </a:xfrm>
          <a:prstGeom prst="rect">
            <a:avLst/>
          </a:prstGeom>
          <a:noFill/>
          <a:ln/>
        </p:spPr>
        <p:txBody>
          <a:bodyPr wrap="square" lIns="0" tIns="0" rIns="0" bIns="0" rtlCol="0" anchor="ctr">
            <a:normAutofit/>
          </a:bodyPr>
          <a:lstStyle/>
          <a:p>
            <a:pPr marL="0" indent="0">
              <a:buNone/>
            </a:pPr>
            <a:r>
              <a:rPr lang="en-US" sz="1150" b="1" dirty="0">
                <a:solidFill>
                  <a:srgbClr val="FF5D7A"/>
                </a:solidFill>
              </a:rPr>
              <a:t>4. Injury Data Cleaning</a:t>
            </a:r>
            <a:endParaRPr lang="en-US" sz="1150" dirty="0"/>
          </a:p>
        </p:txBody>
      </p:sp>
      <p:sp>
        <p:nvSpPr>
          <p:cNvPr id="56" name="Text 53"/>
          <p:cNvSpPr/>
          <p:nvPr/>
        </p:nvSpPr>
        <p:spPr>
          <a:xfrm>
            <a:off x="841248" y="3739896"/>
            <a:ext cx="4828032" cy="1444752"/>
          </a:xfrm>
          <a:prstGeom prst="rect">
            <a:avLst/>
          </a:prstGeom>
          <a:noFill/>
          <a:ln/>
        </p:spPr>
        <p:txBody>
          <a:bodyPr wrap="square" lIns="254" tIns="254" rIns="254" bIns="254" rtlCol="0" anchor="t">
            <a:normAutofit/>
          </a:bodyPr>
          <a:lstStyle/>
          <a:p>
            <a:pPr marL="0" indent="0">
              <a:buNone/>
            </a:pPr>
            <a:r>
              <a:rPr lang="en-US" sz="890" dirty="0">
                <a:solidFill>
                  <a:srgbClr val="DDEAF2"/>
                </a:solidFill>
              </a:rPr>
              <a:t>I checked the injury columns for invalid negative values and corrected missing fatal injury values based on the "Injury Severity" column.</a:t>
            </a:r>
            <a:endParaRPr lang="en-US" sz="890" dirty="0"/>
          </a:p>
          <a:p>
            <a:pPr marL="0" indent="0">
              <a:buNone/>
            </a:pPr>
            <a:r>
              <a:rPr lang="en-US" sz="890" dirty="0">
                <a:solidFill>
                  <a:srgbClr val="DDEAF2"/>
                </a:solidFill>
              </a:rPr>
              <a:t>For example, values such as "Fatal(3)" were matched with "3" fatal injuries, while non-fatal records with missing fatal injuries were set to "0".</a:t>
            </a:r>
            <a:endParaRPr lang="en-US" sz="890" dirty="0"/>
          </a:p>
        </p:txBody>
      </p:sp>
      <p:sp>
        <p:nvSpPr>
          <p:cNvPr id="57" name="Shape 54"/>
          <p:cNvSpPr/>
          <p:nvPr/>
        </p:nvSpPr>
        <p:spPr>
          <a:xfrm>
            <a:off x="6163056" y="3182112"/>
            <a:ext cx="5385816" cy="2157984"/>
          </a:xfrm>
          <a:prstGeom prst="roundRect">
            <a:avLst>
              <a:gd name="adj" fmla="val 3390"/>
            </a:avLst>
          </a:prstGeom>
          <a:solidFill>
            <a:srgbClr val="0A2035"/>
          </a:solidFill>
          <a:ln w="11430">
            <a:solidFill>
              <a:srgbClr val="163F5D">
                <a:alpha val="90000"/>
              </a:srgbClr>
            </a:solidFill>
            <a:prstDash val="solid"/>
          </a:ln>
        </p:spPr>
      </p:sp>
      <p:sp>
        <p:nvSpPr>
          <p:cNvPr id="58" name="Shape 55"/>
          <p:cNvSpPr/>
          <p:nvPr/>
        </p:nvSpPr>
        <p:spPr>
          <a:xfrm>
            <a:off x="6163056" y="3182112"/>
            <a:ext cx="41148" cy="2157984"/>
          </a:xfrm>
          <a:prstGeom prst="rect">
            <a:avLst/>
          </a:prstGeom>
          <a:solidFill>
            <a:srgbClr val="4B91FF"/>
          </a:solidFill>
          <a:ln w="12700">
            <a:solidFill>
              <a:srgbClr val="4B91FF"/>
            </a:solidFill>
            <a:prstDash val="solid"/>
          </a:ln>
        </p:spPr>
      </p:sp>
      <p:sp>
        <p:nvSpPr>
          <p:cNvPr id="59" name="Text 56"/>
          <p:cNvSpPr/>
          <p:nvPr/>
        </p:nvSpPr>
        <p:spPr>
          <a:xfrm>
            <a:off x="6382512" y="3346704"/>
            <a:ext cx="4983480" cy="292608"/>
          </a:xfrm>
          <a:prstGeom prst="rect">
            <a:avLst/>
          </a:prstGeom>
          <a:noFill/>
          <a:ln/>
        </p:spPr>
        <p:txBody>
          <a:bodyPr wrap="square" lIns="0" tIns="0" rIns="0" bIns="0" rtlCol="0" anchor="ctr">
            <a:normAutofit/>
          </a:bodyPr>
          <a:lstStyle/>
          <a:p>
            <a:pPr marL="0" indent="0">
              <a:buNone/>
            </a:pPr>
            <a:r>
              <a:rPr lang="en-US" sz="1150" b="1" dirty="0">
                <a:solidFill>
                  <a:srgbClr val="4B91FF"/>
                </a:solidFill>
              </a:rPr>
              <a:t>5. Text Standardization</a:t>
            </a:r>
            <a:endParaRPr lang="en-US" sz="1150" dirty="0"/>
          </a:p>
        </p:txBody>
      </p:sp>
      <p:sp>
        <p:nvSpPr>
          <p:cNvPr id="60" name="Text 57"/>
          <p:cNvSpPr/>
          <p:nvPr/>
        </p:nvSpPr>
        <p:spPr>
          <a:xfrm>
            <a:off x="6382512" y="3739896"/>
            <a:ext cx="4965192" cy="1444752"/>
          </a:xfrm>
          <a:prstGeom prst="rect">
            <a:avLst/>
          </a:prstGeom>
          <a:noFill/>
          <a:ln/>
        </p:spPr>
        <p:txBody>
          <a:bodyPr wrap="square" lIns="254" tIns="254" rIns="254" bIns="254" rtlCol="0" anchor="t">
            <a:normAutofit/>
          </a:bodyPr>
          <a:lstStyle/>
          <a:p>
            <a:pPr marL="0" indent="0">
              <a:buNone/>
            </a:pPr>
            <a:r>
              <a:rPr lang="en-US" sz="890" dirty="0">
                <a:solidFill>
                  <a:srgbClr val="DDEAF2"/>
                </a:solidFill>
              </a:rPr>
              <a:t>I standardized inconsistent values across the dataset.</a:t>
            </a:r>
            <a:endParaRPr lang="en-US" sz="890" dirty="0"/>
          </a:p>
          <a:p>
            <a:pPr marL="0" indent="0">
              <a:buNone/>
            </a:pPr>
            <a:r>
              <a:rPr lang="en-US" sz="890" dirty="0">
                <a:solidFill>
                  <a:srgbClr val="DDEAF2"/>
                </a:solidFill>
              </a:rPr>
              <a:t>For example, different forms of "Unknown" were unified, weather abbreviations such as "VMC" and "IMC" were expanded, and common aircraft manufacturer abbreviations were standardized.</a:t>
            </a:r>
            <a:endParaRPr lang="en-US" sz="890" dirty="0"/>
          </a:p>
        </p:txBody>
      </p:sp>
      <p:sp>
        <p:nvSpPr>
          <p:cNvPr id="61" name="Shape 58">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62" name="Text 59">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63" name="Shape 60">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64" name="Text 61">
            <a:hlinkClick r:id="rId5" action="ppaction://hlinksldjump"/>
          </p:cNvPr>
          <p:cNvSpPr/>
          <p:nvPr/>
        </p:nvSpPr>
        <p:spPr>
          <a:xfrm>
            <a:off x="10936224"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65"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8000"/>
              </a:srgbClr>
            </a:solidFill>
            <a:prstDash val="solid"/>
          </a:ln>
        </p:spPr>
      </p:sp>
      <p:sp>
        <p:nvSpPr>
          <p:cNvPr id="3" name="Shape 1"/>
          <p:cNvSpPr/>
          <p:nvPr/>
        </p:nvSpPr>
        <p:spPr>
          <a:xfrm>
            <a:off x="1051560" y="502920"/>
            <a:ext cx="0" cy="5715000"/>
          </a:xfrm>
          <a:prstGeom prst="line">
            <a:avLst/>
          </a:prstGeom>
          <a:noFill/>
          <a:ln w="5080">
            <a:solidFill>
              <a:srgbClr val="0B304B">
                <a:alpha val="8000"/>
              </a:srgbClr>
            </a:solidFill>
            <a:prstDash val="solid"/>
          </a:ln>
        </p:spPr>
      </p:sp>
      <p:sp>
        <p:nvSpPr>
          <p:cNvPr id="4" name="Shape 2"/>
          <p:cNvSpPr/>
          <p:nvPr/>
        </p:nvSpPr>
        <p:spPr>
          <a:xfrm>
            <a:off x="1554480" y="502920"/>
            <a:ext cx="0" cy="5715000"/>
          </a:xfrm>
          <a:prstGeom prst="line">
            <a:avLst/>
          </a:prstGeom>
          <a:noFill/>
          <a:ln w="5080">
            <a:solidFill>
              <a:srgbClr val="0B304B">
                <a:alpha val="8000"/>
              </a:srgbClr>
            </a:solidFill>
            <a:prstDash val="solid"/>
          </a:ln>
        </p:spPr>
      </p:sp>
      <p:sp>
        <p:nvSpPr>
          <p:cNvPr id="5" name="Shape 3"/>
          <p:cNvSpPr/>
          <p:nvPr/>
        </p:nvSpPr>
        <p:spPr>
          <a:xfrm>
            <a:off x="2057400" y="502920"/>
            <a:ext cx="0" cy="5715000"/>
          </a:xfrm>
          <a:prstGeom prst="line">
            <a:avLst/>
          </a:prstGeom>
          <a:noFill/>
          <a:ln w="5080">
            <a:solidFill>
              <a:srgbClr val="0B304B">
                <a:alpha val="8000"/>
              </a:srgbClr>
            </a:solidFill>
            <a:prstDash val="solid"/>
          </a:ln>
        </p:spPr>
      </p:sp>
      <p:sp>
        <p:nvSpPr>
          <p:cNvPr id="6" name="Shape 4"/>
          <p:cNvSpPr/>
          <p:nvPr/>
        </p:nvSpPr>
        <p:spPr>
          <a:xfrm>
            <a:off x="2560320" y="502920"/>
            <a:ext cx="0" cy="5715000"/>
          </a:xfrm>
          <a:prstGeom prst="line">
            <a:avLst/>
          </a:prstGeom>
          <a:noFill/>
          <a:ln w="5080">
            <a:solidFill>
              <a:srgbClr val="0B304B">
                <a:alpha val="8000"/>
              </a:srgbClr>
            </a:solidFill>
            <a:prstDash val="solid"/>
          </a:ln>
        </p:spPr>
      </p:sp>
      <p:sp>
        <p:nvSpPr>
          <p:cNvPr id="7" name="Shape 5"/>
          <p:cNvSpPr/>
          <p:nvPr/>
        </p:nvSpPr>
        <p:spPr>
          <a:xfrm>
            <a:off x="3063240" y="502920"/>
            <a:ext cx="0" cy="5715000"/>
          </a:xfrm>
          <a:prstGeom prst="line">
            <a:avLst/>
          </a:prstGeom>
          <a:noFill/>
          <a:ln w="5080">
            <a:solidFill>
              <a:srgbClr val="0B304B">
                <a:alpha val="8000"/>
              </a:srgbClr>
            </a:solidFill>
            <a:prstDash val="solid"/>
          </a:ln>
        </p:spPr>
      </p:sp>
      <p:sp>
        <p:nvSpPr>
          <p:cNvPr id="8" name="Shape 6"/>
          <p:cNvSpPr/>
          <p:nvPr/>
        </p:nvSpPr>
        <p:spPr>
          <a:xfrm>
            <a:off x="3566160" y="502920"/>
            <a:ext cx="0" cy="5715000"/>
          </a:xfrm>
          <a:prstGeom prst="line">
            <a:avLst/>
          </a:prstGeom>
          <a:noFill/>
          <a:ln w="5080">
            <a:solidFill>
              <a:srgbClr val="0B304B">
                <a:alpha val="8000"/>
              </a:srgbClr>
            </a:solidFill>
            <a:prstDash val="solid"/>
          </a:ln>
        </p:spPr>
      </p:sp>
      <p:sp>
        <p:nvSpPr>
          <p:cNvPr id="9" name="Shape 7"/>
          <p:cNvSpPr/>
          <p:nvPr/>
        </p:nvSpPr>
        <p:spPr>
          <a:xfrm>
            <a:off x="4069080" y="502920"/>
            <a:ext cx="0" cy="5715000"/>
          </a:xfrm>
          <a:prstGeom prst="line">
            <a:avLst/>
          </a:prstGeom>
          <a:noFill/>
          <a:ln w="5080">
            <a:solidFill>
              <a:srgbClr val="0B304B">
                <a:alpha val="8000"/>
              </a:srgbClr>
            </a:solidFill>
            <a:prstDash val="solid"/>
          </a:ln>
        </p:spPr>
      </p:sp>
      <p:sp>
        <p:nvSpPr>
          <p:cNvPr id="10" name="Shape 8"/>
          <p:cNvSpPr/>
          <p:nvPr/>
        </p:nvSpPr>
        <p:spPr>
          <a:xfrm>
            <a:off x="4572000" y="502920"/>
            <a:ext cx="0" cy="5715000"/>
          </a:xfrm>
          <a:prstGeom prst="line">
            <a:avLst/>
          </a:prstGeom>
          <a:noFill/>
          <a:ln w="5080">
            <a:solidFill>
              <a:srgbClr val="0B304B">
                <a:alpha val="8000"/>
              </a:srgbClr>
            </a:solidFill>
            <a:prstDash val="solid"/>
          </a:ln>
        </p:spPr>
      </p:sp>
      <p:sp>
        <p:nvSpPr>
          <p:cNvPr id="11" name="Shape 9"/>
          <p:cNvSpPr/>
          <p:nvPr/>
        </p:nvSpPr>
        <p:spPr>
          <a:xfrm>
            <a:off x="5074920" y="502920"/>
            <a:ext cx="0" cy="5715000"/>
          </a:xfrm>
          <a:prstGeom prst="line">
            <a:avLst/>
          </a:prstGeom>
          <a:noFill/>
          <a:ln w="5080">
            <a:solidFill>
              <a:srgbClr val="0B304B">
                <a:alpha val="8000"/>
              </a:srgbClr>
            </a:solidFill>
            <a:prstDash val="solid"/>
          </a:ln>
        </p:spPr>
      </p:sp>
      <p:sp>
        <p:nvSpPr>
          <p:cNvPr id="12" name="Shape 10"/>
          <p:cNvSpPr/>
          <p:nvPr/>
        </p:nvSpPr>
        <p:spPr>
          <a:xfrm>
            <a:off x="5577840" y="502920"/>
            <a:ext cx="0" cy="5715000"/>
          </a:xfrm>
          <a:prstGeom prst="line">
            <a:avLst/>
          </a:prstGeom>
          <a:noFill/>
          <a:ln w="5080">
            <a:solidFill>
              <a:srgbClr val="0B304B">
                <a:alpha val="8000"/>
              </a:srgbClr>
            </a:solidFill>
            <a:prstDash val="solid"/>
          </a:ln>
        </p:spPr>
      </p:sp>
      <p:sp>
        <p:nvSpPr>
          <p:cNvPr id="13" name="Shape 11"/>
          <p:cNvSpPr/>
          <p:nvPr/>
        </p:nvSpPr>
        <p:spPr>
          <a:xfrm>
            <a:off x="6080760" y="502920"/>
            <a:ext cx="0" cy="5715000"/>
          </a:xfrm>
          <a:prstGeom prst="line">
            <a:avLst/>
          </a:prstGeom>
          <a:noFill/>
          <a:ln w="5080">
            <a:solidFill>
              <a:srgbClr val="0B304B">
                <a:alpha val="8000"/>
              </a:srgbClr>
            </a:solidFill>
            <a:prstDash val="solid"/>
          </a:ln>
        </p:spPr>
      </p:sp>
      <p:sp>
        <p:nvSpPr>
          <p:cNvPr id="14" name="Shape 12"/>
          <p:cNvSpPr/>
          <p:nvPr/>
        </p:nvSpPr>
        <p:spPr>
          <a:xfrm>
            <a:off x="6583680" y="502920"/>
            <a:ext cx="0" cy="5715000"/>
          </a:xfrm>
          <a:prstGeom prst="line">
            <a:avLst/>
          </a:prstGeom>
          <a:noFill/>
          <a:ln w="5080">
            <a:solidFill>
              <a:srgbClr val="0B304B">
                <a:alpha val="8000"/>
              </a:srgbClr>
            </a:solidFill>
            <a:prstDash val="solid"/>
          </a:ln>
        </p:spPr>
      </p:sp>
      <p:sp>
        <p:nvSpPr>
          <p:cNvPr id="15" name="Shape 13"/>
          <p:cNvSpPr/>
          <p:nvPr/>
        </p:nvSpPr>
        <p:spPr>
          <a:xfrm>
            <a:off x="7086600" y="502920"/>
            <a:ext cx="0" cy="5715000"/>
          </a:xfrm>
          <a:prstGeom prst="line">
            <a:avLst/>
          </a:prstGeom>
          <a:noFill/>
          <a:ln w="5080">
            <a:solidFill>
              <a:srgbClr val="0B304B">
                <a:alpha val="8000"/>
              </a:srgbClr>
            </a:solidFill>
            <a:prstDash val="solid"/>
          </a:ln>
        </p:spPr>
      </p:sp>
      <p:sp>
        <p:nvSpPr>
          <p:cNvPr id="16" name="Shape 14"/>
          <p:cNvSpPr/>
          <p:nvPr/>
        </p:nvSpPr>
        <p:spPr>
          <a:xfrm>
            <a:off x="7589520" y="502920"/>
            <a:ext cx="0" cy="5715000"/>
          </a:xfrm>
          <a:prstGeom prst="line">
            <a:avLst/>
          </a:prstGeom>
          <a:noFill/>
          <a:ln w="5080">
            <a:solidFill>
              <a:srgbClr val="0B304B">
                <a:alpha val="8000"/>
              </a:srgbClr>
            </a:solidFill>
            <a:prstDash val="solid"/>
          </a:ln>
        </p:spPr>
      </p:sp>
      <p:sp>
        <p:nvSpPr>
          <p:cNvPr id="17" name="Shape 15"/>
          <p:cNvSpPr/>
          <p:nvPr/>
        </p:nvSpPr>
        <p:spPr>
          <a:xfrm>
            <a:off x="8092440" y="502920"/>
            <a:ext cx="0" cy="5715000"/>
          </a:xfrm>
          <a:prstGeom prst="line">
            <a:avLst/>
          </a:prstGeom>
          <a:noFill/>
          <a:ln w="5080">
            <a:solidFill>
              <a:srgbClr val="0B304B">
                <a:alpha val="8000"/>
              </a:srgbClr>
            </a:solidFill>
            <a:prstDash val="solid"/>
          </a:ln>
        </p:spPr>
      </p:sp>
      <p:sp>
        <p:nvSpPr>
          <p:cNvPr id="18" name="Shape 16"/>
          <p:cNvSpPr/>
          <p:nvPr/>
        </p:nvSpPr>
        <p:spPr>
          <a:xfrm>
            <a:off x="8595360" y="502920"/>
            <a:ext cx="0" cy="5715000"/>
          </a:xfrm>
          <a:prstGeom prst="line">
            <a:avLst/>
          </a:prstGeom>
          <a:noFill/>
          <a:ln w="5080">
            <a:solidFill>
              <a:srgbClr val="0B304B">
                <a:alpha val="8000"/>
              </a:srgbClr>
            </a:solidFill>
            <a:prstDash val="solid"/>
          </a:ln>
        </p:spPr>
      </p:sp>
      <p:sp>
        <p:nvSpPr>
          <p:cNvPr id="19" name="Shape 17"/>
          <p:cNvSpPr/>
          <p:nvPr/>
        </p:nvSpPr>
        <p:spPr>
          <a:xfrm>
            <a:off x="9098280" y="502920"/>
            <a:ext cx="0" cy="5715000"/>
          </a:xfrm>
          <a:prstGeom prst="line">
            <a:avLst/>
          </a:prstGeom>
          <a:noFill/>
          <a:ln w="5080">
            <a:solidFill>
              <a:srgbClr val="0B304B">
                <a:alpha val="8000"/>
              </a:srgbClr>
            </a:solidFill>
            <a:prstDash val="solid"/>
          </a:ln>
        </p:spPr>
      </p:sp>
      <p:sp>
        <p:nvSpPr>
          <p:cNvPr id="20" name="Shape 18"/>
          <p:cNvSpPr/>
          <p:nvPr/>
        </p:nvSpPr>
        <p:spPr>
          <a:xfrm>
            <a:off x="9601200" y="502920"/>
            <a:ext cx="0" cy="5715000"/>
          </a:xfrm>
          <a:prstGeom prst="line">
            <a:avLst/>
          </a:prstGeom>
          <a:noFill/>
          <a:ln w="5080">
            <a:solidFill>
              <a:srgbClr val="0B304B">
                <a:alpha val="8000"/>
              </a:srgbClr>
            </a:solidFill>
            <a:prstDash val="solid"/>
          </a:ln>
        </p:spPr>
      </p:sp>
      <p:sp>
        <p:nvSpPr>
          <p:cNvPr id="21" name="Shape 19"/>
          <p:cNvSpPr/>
          <p:nvPr/>
        </p:nvSpPr>
        <p:spPr>
          <a:xfrm>
            <a:off x="10104120" y="502920"/>
            <a:ext cx="0" cy="5715000"/>
          </a:xfrm>
          <a:prstGeom prst="line">
            <a:avLst/>
          </a:prstGeom>
          <a:noFill/>
          <a:ln w="5080">
            <a:solidFill>
              <a:srgbClr val="0B304B">
                <a:alpha val="8000"/>
              </a:srgbClr>
            </a:solidFill>
            <a:prstDash val="solid"/>
          </a:ln>
        </p:spPr>
      </p:sp>
      <p:sp>
        <p:nvSpPr>
          <p:cNvPr id="22" name="Shape 20"/>
          <p:cNvSpPr/>
          <p:nvPr/>
        </p:nvSpPr>
        <p:spPr>
          <a:xfrm>
            <a:off x="10607040" y="502920"/>
            <a:ext cx="0" cy="5715000"/>
          </a:xfrm>
          <a:prstGeom prst="line">
            <a:avLst/>
          </a:prstGeom>
          <a:noFill/>
          <a:ln w="5080">
            <a:solidFill>
              <a:srgbClr val="0B304B">
                <a:alpha val="8000"/>
              </a:srgbClr>
            </a:solidFill>
            <a:prstDash val="solid"/>
          </a:ln>
        </p:spPr>
      </p:sp>
      <p:sp>
        <p:nvSpPr>
          <p:cNvPr id="23" name="Shape 21"/>
          <p:cNvSpPr/>
          <p:nvPr/>
        </p:nvSpPr>
        <p:spPr>
          <a:xfrm>
            <a:off x="11109960" y="502920"/>
            <a:ext cx="0" cy="5715000"/>
          </a:xfrm>
          <a:prstGeom prst="line">
            <a:avLst/>
          </a:prstGeom>
          <a:noFill/>
          <a:ln w="5080">
            <a:solidFill>
              <a:srgbClr val="0B304B">
                <a:alpha val="8000"/>
              </a:srgbClr>
            </a:solidFill>
            <a:prstDash val="solid"/>
          </a:ln>
        </p:spPr>
      </p:sp>
      <p:sp>
        <p:nvSpPr>
          <p:cNvPr id="24" name="Shape 22"/>
          <p:cNvSpPr/>
          <p:nvPr/>
        </p:nvSpPr>
        <p:spPr>
          <a:xfrm>
            <a:off x="11612880" y="502920"/>
            <a:ext cx="0" cy="5715000"/>
          </a:xfrm>
          <a:prstGeom prst="line">
            <a:avLst/>
          </a:prstGeom>
          <a:noFill/>
          <a:ln w="5080">
            <a:solidFill>
              <a:srgbClr val="0B304B">
                <a:alpha val="8000"/>
              </a:srgbClr>
            </a:solidFill>
            <a:prstDash val="solid"/>
          </a:ln>
        </p:spPr>
      </p:sp>
      <p:sp>
        <p:nvSpPr>
          <p:cNvPr id="25" name="Shape 23"/>
          <p:cNvSpPr/>
          <p:nvPr/>
        </p:nvSpPr>
        <p:spPr>
          <a:xfrm>
            <a:off x="502920" y="566928"/>
            <a:ext cx="11201400" cy="0"/>
          </a:xfrm>
          <a:prstGeom prst="line">
            <a:avLst/>
          </a:prstGeom>
          <a:noFill/>
          <a:ln w="5080">
            <a:solidFill>
              <a:srgbClr val="0B304B">
                <a:alpha val="8000"/>
              </a:srgbClr>
            </a:solidFill>
            <a:prstDash val="solid"/>
          </a:ln>
        </p:spPr>
      </p:sp>
      <p:sp>
        <p:nvSpPr>
          <p:cNvPr id="26" name="Shape 24"/>
          <p:cNvSpPr/>
          <p:nvPr/>
        </p:nvSpPr>
        <p:spPr>
          <a:xfrm>
            <a:off x="502920" y="1069848"/>
            <a:ext cx="11201400" cy="0"/>
          </a:xfrm>
          <a:prstGeom prst="line">
            <a:avLst/>
          </a:prstGeom>
          <a:noFill/>
          <a:ln w="5080">
            <a:solidFill>
              <a:srgbClr val="0B304B">
                <a:alpha val="8000"/>
              </a:srgbClr>
            </a:solidFill>
            <a:prstDash val="solid"/>
          </a:ln>
        </p:spPr>
      </p:sp>
      <p:sp>
        <p:nvSpPr>
          <p:cNvPr id="27" name="Shape 25"/>
          <p:cNvSpPr/>
          <p:nvPr/>
        </p:nvSpPr>
        <p:spPr>
          <a:xfrm>
            <a:off x="502920" y="1572768"/>
            <a:ext cx="11201400" cy="0"/>
          </a:xfrm>
          <a:prstGeom prst="line">
            <a:avLst/>
          </a:prstGeom>
          <a:noFill/>
          <a:ln w="5080">
            <a:solidFill>
              <a:srgbClr val="0B304B">
                <a:alpha val="8000"/>
              </a:srgbClr>
            </a:solidFill>
            <a:prstDash val="solid"/>
          </a:ln>
        </p:spPr>
      </p:sp>
      <p:sp>
        <p:nvSpPr>
          <p:cNvPr id="28" name="Shape 26"/>
          <p:cNvSpPr/>
          <p:nvPr/>
        </p:nvSpPr>
        <p:spPr>
          <a:xfrm>
            <a:off x="502920" y="2075688"/>
            <a:ext cx="11201400" cy="0"/>
          </a:xfrm>
          <a:prstGeom prst="line">
            <a:avLst/>
          </a:prstGeom>
          <a:noFill/>
          <a:ln w="5080">
            <a:solidFill>
              <a:srgbClr val="0B304B">
                <a:alpha val="8000"/>
              </a:srgbClr>
            </a:solidFill>
            <a:prstDash val="solid"/>
          </a:ln>
        </p:spPr>
      </p:sp>
      <p:sp>
        <p:nvSpPr>
          <p:cNvPr id="29" name="Shape 27"/>
          <p:cNvSpPr/>
          <p:nvPr/>
        </p:nvSpPr>
        <p:spPr>
          <a:xfrm>
            <a:off x="502920" y="2578608"/>
            <a:ext cx="11201400" cy="0"/>
          </a:xfrm>
          <a:prstGeom prst="line">
            <a:avLst/>
          </a:prstGeom>
          <a:noFill/>
          <a:ln w="5080">
            <a:solidFill>
              <a:srgbClr val="0B304B">
                <a:alpha val="8000"/>
              </a:srgbClr>
            </a:solidFill>
            <a:prstDash val="solid"/>
          </a:ln>
        </p:spPr>
      </p:sp>
      <p:sp>
        <p:nvSpPr>
          <p:cNvPr id="30" name="Shape 28"/>
          <p:cNvSpPr/>
          <p:nvPr/>
        </p:nvSpPr>
        <p:spPr>
          <a:xfrm>
            <a:off x="502920" y="3081528"/>
            <a:ext cx="11201400" cy="0"/>
          </a:xfrm>
          <a:prstGeom prst="line">
            <a:avLst/>
          </a:prstGeom>
          <a:noFill/>
          <a:ln w="5080">
            <a:solidFill>
              <a:srgbClr val="0B304B">
                <a:alpha val="8000"/>
              </a:srgbClr>
            </a:solidFill>
            <a:prstDash val="solid"/>
          </a:ln>
        </p:spPr>
      </p:sp>
      <p:sp>
        <p:nvSpPr>
          <p:cNvPr id="31" name="Shape 29"/>
          <p:cNvSpPr/>
          <p:nvPr/>
        </p:nvSpPr>
        <p:spPr>
          <a:xfrm>
            <a:off x="502920" y="3584448"/>
            <a:ext cx="11201400" cy="0"/>
          </a:xfrm>
          <a:prstGeom prst="line">
            <a:avLst/>
          </a:prstGeom>
          <a:noFill/>
          <a:ln w="5080">
            <a:solidFill>
              <a:srgbClr val="0B304B">
                <a:alpha val="8000"/>
              </a:srgbClr>
            </a:solidFill>
            <a:prstDash val="solid"/>
          </a:ln>
        </p:spPr>
      </p:sp>
      <p:sp>
        <p:nvSpPr>
          <p:cNvPr id="32" name="Shape 30"/>
          <p:cNvSpPr/>
          <p:nvPr/>
        </p:nvSpPr>
        <p:spPr>
          <a:xfrm>
            <a:off x="502920" y="4087368"/>
            <a:ext cx="11201400" cy="0"/>
          </a:xfrm>
          <a:prstGeom prst="line">
            <a:avLst/>
          </a:prstGeom>
          <a:noFill/>
          <a:ln w="5080">
            <a:solidFill>
              <a:srgbClr val="0B304B">
                <a:alpha val="8000"/>
              </a:srgbClr>
            </a:solidFill>
            <a:prstDash val="solid"/>
          </a:ln>
        </p:spPr>
      </p:sp>
      <p:sp>
        <p:nvSpPr>
          <p:cNvPr id="33" name="Shape 31"/>
          <p:cNvSpPr/>
          <p:nvPr/>
        </p:nvSpPr>
        <p:spPr>
          <a:xfrm>
            <a:off x="502920" y="4590288"/>
            <a:ext cx="11201400" cy="0"/>
          </a:xfrm>
          <a:prstGeom prst="line">
            <a:avLst/>
          </a:prstGeom>
          <a:noFill/>
          <a:ln w="5080">
            <a:solidFill>
              <a:srgbClr val="0B304B">
                <a:alpha val="8000"/>
              </a:srgbClr>
            </a:solidFill>
            <a:prstDash val="solid"/>
          </a:ln>
        </p:spPr>
      </p:sp>
      <p:sp>
        <p:nvSpPr>
          <p:cNvPr id="34" name="Shape 32"/>
          <p:cNvSpPr/>
          <p:nvPr/>
        </p:nvSpPr>
        <p:spPr>
          <a:xfrm>
            <a:off x="502920" y="5093208"/>
            <a:ext cx="11201400" cy="0"/>
          </a:xfrm>
          <a:prstGeom prst="line">
            <a:avLst/>
          </a:prstGeom>
          <a:noFill/>
          <a:ln w="5080">
            <a:solidFill>
              <a:srgbClr val="0B304B">
                <a:alpha val="8000"/>
              </a:srgbClr>
            </a:solidFill>
            <a:prstDash val="solid"/>
          </a:ln>
        </p:spPr>
      </p:sp>
      <p:sp>
        <p:nvSpPr>
          <p:cNvPr id="35" name="Shape 33"/>
          <p:cNvSpPr/>
          <p:nvPr/>
        </p:nvSpPr>
        <p:spPr>
          <a:xfrm>
            <a:off x="502920" y="5596128"/>
            <a:ext cx="11201400" cy="0"/>
          </a:xfrm>
          <a:prstGeom prst="line">
            <a:avLst/>
          </a:prstGeom>
          <a:noFill/>
          <a:ln w="5080">
            <a:solidFill>
              <a:srgbClr val="0B304B">
                <a:alpha val="8000"/>
              </a:srgbClr>
            </a:solidFill>
            <a:prstDash val="solid"/>
          </a:ln>
        </p:spPr>
      </p:sp>
      <p:sp>
        <p:nvSpPr>
          <p:cNvPr id="36" name="Shape 34"/>
          <p:cNvSpPr/>
          <p:nvPr/>
        </p:nvSpPr>
        <p:spPr>
          <a:xfrm>
            <a:off x="502920" y="6099048"/>
            <a:ext cx="11201400" cy="0"/>
          </a:xfrm>
          <a:prstGeom prst="line">
            <a:avLst/>
          </a:prstGeom>
          <a:noFill/>
          <a:ln w="5080">
            <a:solidFill>
              <a:srgbClr val="0B304B">
                <a:alpha val="8000"/>
              </a:srgbClr>
            </a:solidFill>
            <a:prstDash val="solid"/>
          </a:ln>
        </p:spPr>
      </p:sp>
      <p:sp>
        <p:nvSpPr>
          <p:cNvPr id="37" name="Shape 35"/>
          <p:cNvSpPr/>
          <p:nvPr/>
        </p:nvSpPr>
        <p:spPr>
          <a:xfrm>
            <a:off x="502920" y="320040"/>
            <a:ext cx="1417320" cy="256032"/>
          </a:xfrm>
          <a:prstGeom prst="roundRect">
            <a:avLst>
              <a:gd name="adj" fmla="val 17857"/>
            </a:avLst>
          </a:prstGeom>
          <a:solidFill>
            <a:srgbClr val="09273D"/>
          </a:solidFill>
          <a:ln w="10160">
            <a:solidFill>
              <a:srgbClr val="16DFF7">
                <a:alpha val="65000"/>
              </a:srgbClr>
            </a:solidFill>
            <a:prstDash val="solid"/>
          </a:ln>
        </p:spPr>
      </p:sp>
      <p:sp>
        <p:nvSpPr>
          <p:cNvPr id="38"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16DFF7"/>
                </a:solidFill>
                <a:latin typeface="Aptos" pitchFamily="34" charset="0"/>
                <a:ea typeface="Aptos" pitchFamily="34" charset="-122"/>
                <a:cs typeface="Aptos" pitchFamily="34" charset="-120"/>
              </a:rPr>
              <a:t>PYTHON DATA ANALYSIS</a:t>
            </a:r>
            <a:endParaRPr lang="en-US" sz="560" dirty="0"/>
          </a:p>
        </p:txBody>
      </p:sp>
      <p:sp>
        <p:nvSpPr>
          <p:cNvPr id="39"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Python Data Analysis – Airline Accidents Dataset</a:t>
            </a:r>
            <a:endParaRPr lang="en-US" sz="2350" dirty="0"/>
          </a:p>
        </p:txBody>
      </p:sp>
      <p:pic>
        <p:nvPicPr>
          <p:cNvPr id="40" name="Image 0" descr="/mnt/data/radar_sweep.gif"/>
          <p:cNvPicPr>
            <a:picLocks noChangeAspect="1"/>
          </p:cNvPicPr>
          <p:nvPr/>
        </p:nvPicPr>
        <p:blipFill>
          <a:blip r:embed="rId3"/>
          <a:stretch>
            <a:fillRect/>
          </a:stretch>
        </p:blipFill>
        <p:spPr>
          <a:xfrm>
            <a:off x="10625328" y="621792"/>
            <a:ext cx="713232" cy="713232"/>
          </a:xfrm>
          <a:prstGeom prst="rect">
            <a:avLst/>
          </a:prstGeom>
        </p:spPr>
      </p:pic>
      <p:sp>
        <p:nvSpPr>
          <p:cNvPr id="41" name="Shape 38"/>
          <p:cNvSpPr/>
          <p:nvPr/>
        </p:nvSpPr>
        <p:spPr>
          <a:xfrm>
            <a:off x="612648" y="1417320"/>
            <a:ext cx="3429000" cy="1170432"/>
          </a:xfrm>
          <a:prstGeom prst="roundRect">
            <a:avLst>
              <a:gd name="adj" fmla="val 6250"/>
            </a:avLst>
          </a:prstGeom>
          <a:solidFill>
            <a:srgbClr val="0A2035"/>
          </a:solidFill>
          <a:ln w="11430">
            <a:solidFill>
              <a:srgbClr val="163F5D">
                <a:alpha val="90000"/>
              </a:srgbClr>
            </a:solidFill>
            <a:prstDash val="solid"/>
          </a:ln>
        </p:spPr>
      </p:sp>
      <p:sp>
        <p:nvSpPr>
          <p:cNvPr id="42" name="Shape 39"/>
          <p:cNvSpPr/>
          <p:nvPr/>
        </p:nvSpPr>
        <p:spPr>
          <a:xfrm>
            <a:off x="612648" y="1417320"/>
            <a:ext cx="41148" cy="1170432"/>
          </a:xfrm>
          <a:prstGeom prst="rect">
            <a:avLst/>
          </a:prstGeom>
          <a:solidFill>
            <a:srgbClr val="16DFF7"/>
          </a:solidFill>
          <a:ln w="12700">
            <a:solidFill>
              <a:srgbClr val="16DFF7"/>
            </a:solidFill>
            <a:prstDash val="solid"/>
          </a:ln>
        </p:spPr>
      </p:sp>
      <p:sp>
        <p:nvSpPr>
          <p:cNvPr id="43" name="Text 40"/>
          <p:cNvSpPr/>
          <p:nvPr/>
        </p:nvSpPr>
        <p:spPr>
          <a:xfrm>
            <a:off x="841248" y="1609344"/>
            <a:ext cx="1554480" cy="274320"/>
          </a:xfrm>
          <a:prstGeom prst="rect">
            <a:avLst/>
          </a:prstGeom>
          <a:noFill/>
          <a:ln/>
        </p:spPr>
        <p:txBody>
          <a:bodyPr wrap="square" lIns="0" tIns="0" rIns="0" bIns="0" rtlCol="0" anchor="ctr"/>
          <a:lstStyle/>
          <a:p>
            <a:pPr marL="0" indent="0">
              <a:buNone/>
            </a:pPr>
            <a:r>
              <a:rPr lang="en-US" sz="1170" b="1" dirty="0">
                <a:solidFill>
                  <a:srgbClr val="16DFF7"/>
                </a:solidFill>
              </a:rPr>
              <a:t>6. Validation</a:t>
            </a:r>
            <a:endParaRPr lang="en-US" sz="1170" dirty="0"/>
          </a:p>
        </p:txBody>
      </p:sp>
      <p:sp>
        <p:nvSpPr>
          <p:cNvPr id="44" name="Text 41"/>
          <p:cNvSpPr/>
          <p:nvPr/>
        </p:nvSpPr>
        <p:spPr>
          <a:xfrm>
            <a:off x="841248" y="1956816"/>
            <a:ext cx="2788920" cy="438912"/>
          </a:xfrm>
          <a:prstGeom prst="rect">
            <a:avLst/>
          </a:prstGeom>
          <a:noFill/>
          <a:ln/>
        </p:spPr>
        <p:txBody>
          <a:bodyPr wrap="square" lIns="254" tIns="254" rIns="254" bIns="254" rtlCol="0" anchor="ctr">
            <a:normAutofit/>
          </a:bodyPr>
          <a:lstStyle/>
          <a:p>
            <a:pPr marL="0" indent="0">
              <a:buNone/>
            </a:pPr>
            <a:r>
              <a:rPr lang="en-US" sz="855" dirty="0">
                <a:solidFill>
                  <a:srgbClr val="DDEAF2"/>
                </a:solidFill>
              </a:rPr>
              <a:t>I validated important numeric values by checking that latitude and longitude were within valid geographic ranges and that the number of engines was a valid whole number.</a:t>
            </a:r>
            <a:endParaRPr lang="en-US" sz="855" dirty="0"/>
          </a:p>
        </p:txBody>
      </p:sp>
      <p:sp>
        <p:nvSpPr>
          <p:cNvPr id="45" name="Shape 42"/>
          <p:cNvSpPr/>
          <p:nvPr/>
        </p:nvSpPr>
        <p:spPr>
          <a:xfrm>
            <a:off x="4279392" y="1417320"/>
            <a:ext cx="3429000" cy="1170432"/>
          </a:xfrm>
          <a:prstGeom prst="roundRect">
            <a:avLst>
              <a:gd name="adj" fmla="val 6250"/>
            </a:avLst>
          </a:prstGeom>
          <a:solidFill>
            <a:srgbClr val="0A2035"/>
          </a:solidFill>
          <a:ln w="11430">
            <a:solidFill>
              <a:srgbClr val="163F5D">
                <a:alpha val="90000"/>
              </a:srgbClr>
            </a:solidFill>
            <a:prstDash val="solid"/>
          </a:ln>
        </p:spPr>
      </p:sp>
      <p:sp>
        <p:nvSpPr>
          <p:cNvPr id="46" name="Shape 43"/>
          <p:cNvSpPr/>
          <p:nvPr/>
        </p:nvSpPr>
        <p:spPr>
          <a:xfrm>
            <a:off x="4279392" y="1417320"/>
            <a:ext cx="41148" cy="1170432"/>
          </a:xfrm>
          <a:prstGeom prst="rect">
            <a:avLst/>
          </a:prstGeom>
          <a:solidFill>
            <a:srgbClr val="3FE0B5"/>
          </a:solidFill>
          <a:ln w="12700">
            <a:solidFill>
              <a:srgbClr val="3FE0B5"/>
            </a:solidFill>
            <a:prstDash val="solid"/>
          </a:ln>
        </p:spPr>
      </p:sp>
      <p:sp>
        <p:nvSpPr>
          <p:cNvPr id="47" name="Text 44"/>
          <p:cNvSpPr/>
          <p:nvPr/>
        </p:nvSpPr>
        <p:spPr>
          <a:xfrm>
            <a:off x="4507992" y="1609344"/>
            <a:ext cx="1965960" cy="274320"/>
          </a:xfrm>
          <a:prstGeom prst="rect">
            <a:avLst/>
          </a:prstGeom>
          <a:noFill/>
          <a:ln/>
        </p:spPr>
        <p:txBody>
          <a:bodyPr wrap="square" lIns="0" tIns="0" rIns="0" bIns="0" rtlCol="0" anchor="ctr"/>
          <a:lstStyle/>
          <a:p>
            <a:pPr marL="0" indent="0">
              <a:buNone/>
            </a:pPr>
            <a:r>
              <a:rPr lang="en-US" sz="1170" b="1" dirty="0">
                <a:solidFill>
                  <a:srgbClr val="3FE0B5"/>
                </a:solidFill>
              </a:rPr>
              <a:t>7. Feature Engineering</a:t>
            </a:r>
            <a:endParaRPr lang="en-US" sz="1170" dirty="0"/>
          </a:p>
        </p:txBody>
      </p:sp>
      <p:sp>
        <p:nvSpPr>
          <p:cNvPr id="48" name="Text 45"/>
          <p:cNvSpPr/>
          <p:nvPr/>
        </p:nvSpPr>
        <p:spPr>
          <a:xfrm>
            <a:off x="4507992" y="1956816"/>
            <a:ext cx="2788920" cy="438912"/>
          </a:xfrm>
          <a:prstGeom prst="rect">
            <a:avLst/>
          </a:prstGeom>
          <a:noFill/>
          <a:ln/>
        </p:spPr>
        <p:txBody>
          <a:bodyPr wrap="square" lIns="254" tIns="254" rIns="254" bIns="254" rtlCol="0" anchor="ctr">
            <a:normAutofit/>
          </a:bodyPr>
          <a:lstStyle/>
          <a:p>
            <a:pPr marL="0" indent="0">
              <a:buNone/>
            </a:pPr>
            <a:r>
              <a:rPr lang="en-US" sz="855" dirty="0">
                <a:solidFill>
                  <a:srgbClr val="DDEAF2"/>
                </a:solidFill>
              </a:rPr>
              <a:t>I created a new "Total Injuries" column by adding fatal, serious, and minor injuries for each record.</a:t>
            </a:r>
            <a:endParaRPr lang="en-US" sz="855" dirty="0"/>
          </a:p>
        </p:txBody>
      </p:sp>
      <p:sp>
        <p:nvSpPr>
          <p:cNvPr id="49" name="Shape 46"/>
          <p:cNvSpPr/>
          <p:nvPr/>
        </p:nvSpPr>
        <p:spPr>
          <a:xfrm>
            <a:off x="7955280" y="1417320"/>
            <a:ext cx="3593592" cy="1170432"/>
          </a:xfrm>
          <a:prstGeom prst="roundRect">
            <a:avLst>
              <a:gd name="adj" fmla="val 6250"/>
            </a:avLst>
          </a:prstGeom>
          <a:solidFill>
            <a:srgbClr val="0A2035"/>
          </a:solidFill>
          <a:ln w="11430">
            <a:solidFill>
              <a:srgbClr val="163F5D">
                <a:alpha val="90000"/>
              </a:srgbClr>
            </a:solidFill>
            <a:prstDash val="solid"/>
          </a:ln>
        </p:spPr>
      </p:sp>
      <p:sp>
        <p:nvSpPr>
          <p:cNvPr id="50" name="Shape 47"/>
          <p:cNvSpPr/>
          <p:nvPr/>
        </p:nvSpPr>
        <p:spPr>
          <a:xfrm>
            <a:off x="7955280" y="1417320"/>
            <a:ext cx="41148" cy="1170432"/>
          </a:xfrm>
          <a:prstGeom prst="rect">
            <a:avLst/>
          </a:prstGeom>
          <a:solidFill>
            <a:srgbClr val="FFB22C"/>
          </a:solidFill>
          <a:ln w="12700">
            <a:solidFill>
              <a:srgbClr val="FFB22C"/>
            </a:solidFill>
            <a:prstDash val="solid"/>
          </a:ln>
        </p:spPr>
      </p:sp>
      <p:sp>
        <p:nvSpPr>
          <p:cNvPr id="51" name="Text 48"/>
          <p:cNvSpPr/>
          <p:nvPr/>
        </p:nvSpPr>
        <p:spPr>
          <a:xfrm>
            <a:off x="8183880" y="1609344"/>
            <a:ext cx="2377440" cy="274320"/>
          </a:xfrm>
          <a:prstGeom prst="rect">
            <a:avLst/>
          </a:prstGeom>
          <a:noFill/>
          <a:ln/>
        </p:spPr>
        <p:txBody>
          <a:bodyPr wrap="square" lIns="0" tIns="0" rIns="0" bIns="0" rtlCol="0" anchor="ctr">
            <a:normAutofit/>
          </a:bodyPr>
          <a:lstStyle/>
          <a:p>
            <a:pPr marL="0" indent="0">
              <a:buNone/>
            </a:pPr>
            <a:r>
              <a:rPr lang="en-US" sz="1120" b="1" dirty="0">
                <a:solidFill>
                  <a:srgbClr val="FFB22C"/>
                </a:solidFill>
              </a:rPr>
              <a:t>8. Missing Value Treatment</a:t>
            </a:r>
            <a:endParaRPr lang="en-US" sz="1120" dirty="0"/>
          </a:p>
        </p:txBody>
      </p:sp>
      <p:sp>
        <p:nvSpPr>
          <p:cNvPr id="52" name="Text 49"/>
          <p:cNvSpPr/>
          <p:nvPr/>
        </p:nvSpPr>
        <p:spPr>
          <a:xfrm>
            <a:off x="8183880" y="1956816"/>
            <a:ext cx="2907792" cy="438912"/>
          </a:xfrm>
          <a:prstGeom prst="rect">
            <a:avLst/>
          </a:prstGeom>
          <a:noFill/>
          <a:ln/>
        </p:spPr>
        <p:txBody>
          <a:bodyPr wrap="square" lIns="254" tIns="254" rIns="254" bIns="254" rtlCol="0" anchor="ctr">
            <a:normAutofit/>
          </a:bodyPr>
          <a:lstStyle/>
          <a:p>
            <a:pPr marL="0" indent="0">
              <a:buNone/>
            </a:pPr>
            <a:r>
              <a:rPr lang="en-US" sz="855" dirty="0">
                <a:solidFill>
                  <a:srgbClr val="DDEAF2"/>
                </a:solidFill>
              </a:rPr>
              <a:t>I handled missing values based on the meaning of each column instead of applying the same method to all columns.</a:t>
            </a:r>
            <a:endParaRPr lang="en-US" sz="855" dirty="0"/>
          </a:p>
        </p:txBody>
      </p:sp>
      <p:sp>
        <p:nvSpPr>
          <p:cNvPr id="53" name="Shape 50"/>
          <p:cNvSpPr/>
          <p:nvPr/>
        </p:nvSpPr>
        <p:spPr>
          <a:xfrm>
            <a:off x="612648" y="2816352"/>
            <a:ext cx="5358384" cy="2679192"/>
          </a:xfrm>
          <a:prstGeom prst="roundRect">
            <a:avLst>
              <a:gd name="adj" fmla="val 2730"/>
            </a:avLst>
          </a:prstGeom>
          <a:solidFill>
            <a:srgbClr val="081D31"/>
          </a:solidFill>
          <a:ln w="11430">
            <a:solidFill>
              <a:srgbClr val="163F5D">
                <a:alpha val="90000"/>
              </a:srgbClr>
            </a:solidFill>
            <a:prstDash val="solid"/>
          </a:ln>
        </p:spPr>
      </p:sp>
      <p:sp>
        <p:nvSpPr>
          <p:cNvPr id="54" name="Shape 51"/>
          <p:cNvSpPr/>
          <p:nvPr/>
        </p:nvSpPr>
        <p:spPr>
          <a:xfrm>
            <a:off x="612648" y="2816352"/>
            <a:ext cx="41148" cy="2679192"/>
          </a:xfrm>
          <a:prstGeom prst="rect">
            <a:avLst/>
          </a:prstGeom>
          <a:solidFill>
            <a:srgbClr val="FFB22C"/>
          </a:solidFill>
          <a:ln w="12700">
            <a:solidFill>
              <a:srgbClr val="FFB22C"/>
            </a:solidFill>
            <a:prstDash val="solid"/>
          </a:ln>
        </p:spPr>
      </p:sp>
      <p:sp>
        <p:nvSpPr>
          <p:cNvPr id="55" name="Shape 52"/>
          <p:cNvSpPr/>
          <p:nvPr/>
        </p:nvSpPr>
        <p:spPr>
          <a:xfrm>
            <a:off x="6199632" y="2816352"/>
            <a:ext cx="5349240" cy="2679192"/>
          </a:xfrm>
          <a:prstGeom prst="roundRect">
            <a:avLst>
              <a:gd name="adj" fmla="val 2730"/>
            </a:avLst>
          </a:prstGeom>
          <a:solidFill>
            <a:srgbClr val="081D31"/>
          </a:solidFill>
          <a:ln w="11430">
            <a:solidFill>
              <a:srgbClr val="163F5D">
                <a:alpha val="90000"/>
              </a:srgbClr>
            </a:solidFill>
            <a:prstDash val="solid"/>
          </a:ln>
        </p:spPr>
      </p:sp>
      <p:sp>
        <p:nvSpPr>
          <p:cNvPr id="56" name="Shape 53"/>
          <p:cNvSpPr/>
          <p:nvPr/>
        </p:nvSpPr>
        <p:spPr>
          <a:xfrm>
            <a:off x="6199632" y="2816352"/>
            <a:ext cx="41148" cy="2679192"/>
          </a:xfrm>
          <a:prstGeom prst="rect">
            <a:avLst/>
          </a:prstGeom>
          <a:solidFill>
            <a:srgbClr val="FFB22C"/>
          </a:solidFill>
          <a:ln w="12700">
            <a:solidFill>
              <a:srgbClr val="FFB22C"/>
            </a:solidFill>
            <a:prstDash val="solid"/>
          </a:ln>
        </p:spPr>
      </p:sp>
      <p:sp>
        <p:nvSpPr>
          <p:cNvPr id="57" name="Text 54"/>
          <p:cNvSpPr/>
          <p:nvPr/>
        </p:nvSpPr>
        <p:spPr>
          <a:xfrm>
            <a:off x="850392" y="3072384"/>
            <a:ext cx="4809744" cy="2148840"/>
          </a:xfrm>
          <a:prstGeom prst="rect">
            <a:avLst/>
          </a:prstGeom>
          <a:noFill/>
          <a:ln/>
        </p:spPr>
        <p:txBody>
          <a:bodyPr wrap="square" lIns="1016" tIns="1016" rIns="1016" bIns="1016" rtlCol="0" anchor="t">
            <a:normAutofit/>
          </a:bodyPr>
          <a:lstStyle/>
          <a:p>
            <a:pPr marL="203200" indent="-203200">
              <a:buSzPct val="100000"/>
              <a:buChar char="•"/>
            </a:pPr>
            <a:r>
              <a:rPr lang="en-US" sz="790" dirty="0">
                <a:solidFill>
                  <a:srgbClr val="DDEAF2"/>
                </a:solidFill>
                <a:latin typeface="Aptos" pitchFamily="34" charset="0"/>
                <a:ea typeface="Aptos" pitchFamily="34" charset="-122"/>
                <a:cs typeface="Aptos" pitchFamily="34" charset="-120"/>
              </a:rPr>
              <a:t>"Aircraft Damage" → Missing values were replaced with "Unknown".</a:t>
            </a:r>
            <a:endParaRPr lang="en-US" sz="790" dirty="0"/>
          </a:p>
          <a:p>
            <a:pPr marL="203200" indent="-203200">
              <a:buSzPct val="100000"/>
              <a:buChar char="•"/>
            </a:pPr>
            <a:r>
              <a:rPr lang="en-US" sz="790" dirty="0">
                <a:solidFill>
                  <a:srgbClr val="DDEAF2"/>
                </a:solidFill>
                <a:latin typeface="Aptos" pitchFamily="34" charset="0"/>
                <a:ea typeface="Aptos" pitchFamily="34" charset="-122"/>
                <a:cs typeface="Aptos" pitchFamily="34" charset="-120"/>
              </a:rPr>
              <a:t>"Location" → Missing values were replaced with "Unknown".</a:t>
            </a:r>
            <a:endParaRPr lang="en-US" sz="790" dirty="0"/>
          </a:p>
          <a:p>
            <a:pPr marL="203200" indent="-203200">
              <a:buSzPct val="100000"/>
              <a:buChar char="•"/>
            </a:pPr>
            <a:r>
              <a:rPr lang="en-US" sz="790" dirty="0">
                <a:solidFill>
                  <a:srgbClr val="DDEAF2"/>
                </a:solidFill>
                <a:latin typeface="Aptos" pitchFamily="34" charset="0"/>
                <a:ea typeface="Aptos" pitchFamily="34" charset="-122"/>
                <a:cs typeface="Aptos" pitchFamily="34" charset="-120"/>
              </a:rPr>
              <a:t>"Investigation Type" → Missing values were replaced with "Unknown" because the number of missing values was very high, so using the Mode could distort the original distribution.</a:t>
            </a:r>
            <a:endParaRPr lang="en-US" sz="790" dirty="0"/>
          </a:p>
          <a:p>
            <a:pPr marL="203200" indent="-203200">
              <a:buSzPct val="100000"/>
              <a:buChar char="•"/>
            </a:pPr>
            <a:r>
              <a:rPr lang="en-US" sz="790" dirty="0">
                <a:solidFill>
                  <a:srgbClr val="DDEAF2"/>
                </a:solidFill>
                <a:latin typeface="Aptos" pitchFamily="34" charset="0"/>
                <a:ea typeface="Aptos" pitchFamily="34" charset="-122"/>
                <a:cs typeface="Aptos" pitchFamily="34" charset="-120"/>
              </a:rPr>
              <a:t>"Engine Type" → Missing values were kept as "Unknown".</a:t>
            </a:r>
            <a:endParaRPr lang="en-US" sz="790" dirty="0"/>
          </a:p>
          <a:p>
            <a:pPr marL="203200" indent="-203200">
              <a:buSzPct val="100000"/>
              <a:buChar char="•"/>
            </a:pPr>
            <a:r>
              <a:rPr lang="en-US" sz="790" dirty="0">
                <a:solidFill>
                  <a:srgbClr val="DDEAF2"/>
                </a:solidFill>
                <a:latin typeface="Aptos" pitchFamily="34" charset="0"/>
                <a:ea typeface="Aptos" pitchFamily="34" charset="-122"/>
                <a:cs typeface="Aptos" pitchFamily="34" charset="-120"/>
              </a:rPr>
              <a:t>"Weather Condition" → Missing values were kept as "Unknown".</a:t>
            </a:r>
            <a:endParaRPr lang="en-US" sz="790" dirty="0"/>
          </a:p>
          <a:p>
            <a:pPr marL="203200" indent="-203200">
              <a:buSzPct val="100000"/>
              <a:buChar char="•"/>
            </a:pPr>
            <a:r>
              <a:rPr lang="en-US" sz="790" dirty="0">
                <a:solidFill>
                  <a:srgbClr val="DDEAF2"/>
                </a:solidFill>
                <a:latin typeface="Aptos" pitchFamily="34" charset="0"/>
                <a:ea typeface="Aptos" pitchFamily="34" charset="-122"/>
                <a:cs typeface="Aptos" pitchFamily="34" charset="-120"/>
              </a:rPr>
              <a:t>"Model" → Different forms such as "UNKNOWN" and "UNK" were standardized to "Unknown".</a:t>
            </a:r>
            <a:endParaRPr lang="en-US" sz="790" dirty="0"/>
          </a:p>
        </p:txBody>
      </p:sp>
      <p:sp>
        <p:nvSpPr>
          <p:cNvPr id="58" name="Text 55"/>
          <p:cNvSpPr/>
          <p:nvPr/>
        </p:nvSpPr>
        <p:spPr>
          <a:xfrm>
            <a:off x="6437376" y="3072384"/>
            <a:ext cx="4791456" cy="2148840"/>
          </a:xfrm>
          <a:prstGeom prst="rect">
            <a:avLst/>
          </a:prstGeom>
          <a:noFill/>
          <a:ln/>
        </p:spPr>
        <p:txBody>
          <a:bodyPr wrap="square" lIns="1016" tIns="1016" rIns="1016" bIns="1016" rtlCol="0" anchor="t">
            <a:normAutofit/>
          </a:bodyPr>
          <a:lstStyle/>
          <a:p>
            <a:pPr marL="203200" indent="-203200">
              <a:buSzPct val="100000"/>
              <a:buChar char="•"/>
            </a:pPr>
            <a:r>
              <a:rPr lang="en-US" sz="790" dirty="0">
                <a:solidFill>
                  <a:srgbClr val="DDEAF2"/>
                </a:solidFill>
                <a:latin typeface="Aptos" pitchFamily="34" charset="0"/>
                <a:ea typeface="Aptos" pitchFamily="34" charset="-122"/>
                <a:cs typeface="Aptos" pitchFamily="34" charset="-120"/>
              </a:rPr>
              <a:t>"Purpose of Flight" → "Unknown" and missing values were replaced using the Mode.</a:t>
            </a:r>
            <a:endParaRPr lang="en-US" sz="790" dirty="0"/>
          </a:p>
          <a:p>
            <a:pPr marL="203200" indent="-203200">
              <a:buSzPct val="100000"/>
              <a:buChar char="•"/>
            </a:pPr>
            <a:r>
              <a:rPr lang="en-US" sz="790" dirty="0">
                <a:solidFill>
                  <a:srgbClr val="DDEAF2"/>
                </a:solidFill>
                <a:latin typeface="Aptos" pitchFamily="34" charset="0"/>
                <a:ea typeface="Aptos" pitchFamily="34" charset="-122"/>
                <a:cs typeface="Aptos" pitchFamily="34" charset="-120"/>
              </a:rPr>
              <a:t>"FAR Description" → "Unknown" and missing values were replaced using the Mode.</a:t>
            </a:r>
            <a:endParaRPr lang="en-US" sz="790" dirty="0"/>
          </a:p>
          <a:p>
            <a:pPr marL="203200" indent="-203200">
              <a:buSzPct val="100000"/>
              <a:buChar char="•"/>
            </a:pPr>
            <a:r>
              <a:rPr lang="en-US" sz="790" dirty="0">
                <a:solidFill>
                  <a:srgbClr val="DDEAF2"/>
                </a:solidFill>
                <a:latin typeface="Aptos" pitchFamily="34" charset="0"/>
                <a:ea typeface="Aptos" pitchFamily="34" charset="-122"/>
                <a:cs typeface="Aptos" pitchFamily="34" charset="-120"/>
              </a:rPr>
              <a:t>"Make" → "Unknown" and missing values were replaced using the Mode.</a:t>
            </a:r>
            <a:endParaRPr lang="en-US" sz="790" dirty="0"/>
          </a:p>
          <a:p>
            <a:pPr marL="203200" indent="-203200">
              <a:buSzPct val="100000"/>
              <a:buChar char="•"/>
            </a:pPr>
            <a:r>
              <a:rPr lang="en-US" sz="790" dirty="0">
                <a:solidFill>
                  <a:srgbClr val="DDEAF2"/>
                </a:solidFill>
                <a:latin typeface="Aptos" pitchFamily="34" charset="0"/>
                <a:ea typeface="Aptos" pitchFamily="34" charset="-122"/>
                <a:cs typeface="Aptos" pitchFamily="34" charset="-120"/>
              </a:rPr>
              <a:t>"Broad Phase of Flight" → "Unknown" values were converted to "Other".</a:t>
            </a:r>
            <a:endParaRPr lang="en-US" sz="790" dirty="0"/>
          </a:p>
          <a:p>
            <a:pPr marL="203200" indent="-203200">
              <a:buSzPct val="100000"/>
              <a:buChar char="•"/>
            </a:pPr>
            <a:r>
              <a:rPr lang="en-US" sz="790" dirty="0">
                <a:solidFill>
                  <a:srgbClr val="DDEAF2"/>
                </a:solidFill>
                <a:latin typeface="Aptos" pitchFamily="34" charset="0"/>
                <a:ea typeface="Aptos" pitchFamily="34" charset="-122"/>
                <a:cs typeface="Aptos" pitchFamily="34" charset="-120"/>
              </a:rPr>
              <a:t>"Number of Engines" → Missing values were handled using the Median, and zero values were replaced with the rounded Mean of the positive values.</a:t>
            </a:r>
            <a:endParaRPr lang="en-US" sz="790" dirty="0"/>
          </a:p>
          <a:p>
            <a:pPr marL="203200" indent="-203200">
              <a:buSzPct val="100000"/>
              <a:buChar char="•"/>
            </a:pPr>
            <a:r>
              <a:rPr lang="en-US" sz="790" dirty="0">
                <a:solidFill>
                  <a:srgbClr val="DDEAF2"/>
                </a:solidFill>
                <a:latin typeface="Aptos" pitchFamily="34" charset="0"/>
                <a:ea typeface="Aptos" pitchFamily="34" charset="-122"/>
                <a:cs typeface="Aptos" pitchFamily="34" charset="-120"/>
              </a:rPr>
              <a:t>"Total Injuries" and injury columns → Missing values were replaced with "0".</a:t>
            </a:r>
            <a:endParaRPr lang="en-US" sz="790" dirty="0"/>
          </a:p>
          <a:p>
            <a:pPr marL="203200" indent="-203200">
              <a:buSzPct val="100000"/>
              <a:buChar char="•"/>
            </a:pPr>
            <a:r>
              <a:rPr lang="en-US" sz="790" dirty="0">
                <a:solidFill>
                  <a:srgbClr val="DDEAF2"/>
                </a:solidFill>
                <a:latin typeface="Aptos" pitchFamily="34" charset="0"/>
                <a:ea typeface="Aptos" pitchFamily="34" charset="-122"/>
                <a:cs typeface="Aptos" pitchFamily="34" charset="-120"/>
              </a:rPr>
              <a:t>"Report Publication Date" → Missing dates were labeled as "Not Recorded".</a:t>
            </a:r>
            <a:endParaRPr lang="en-US" sz="790" dirty="0"/>
          </a:p>
        </p:txBody>
      </p:sp>
      <p:sp>
        <p:nvSpPr>
          <p:cNvPr id="59" name="Shape 56">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60" name="Text 57">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61" name="Shape 58">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62" name="Text 59">
            <a:hlinkClick r:id="rId5" action="ppaction://hlinksldjump"/>
          </p:cNvPr>
          <p:cNvSpPr/>
          <p:nvPr/>
        </p:nvSpPr>
        <p:spPr>
          <a:xfrm>
            <a:off x="10936224"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63"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8000"/>
              </a:srgbClr>
            </a:solidFill>
            <a:prstDash val="solid"/>
          </a:ln>
        </p:spPr>
      </p:sp>
      <p:sp>
        <p:nvSpPr>
          <p:cNvPr id="3" name="Shape 1"/>
          <p:cNvSpPr/>
          <p:nvPr/>
        </p:nvSpPr>
        <p:spPr>
          <a:xfrm>
            <a:off x="1051560" y="502920"/>
            <a:ext cx="0" cy="5715000"/>
          </a:xfrm>
          <a:prstGeom prst="line">
            <a:avLst/>
          </a:prstGeom>
          <a:noFill/>
          <a:ln w="5080">
            <a:solidFill>
              <a:srgbClr val="0B304B">
                <a:alpha val="8000"/>
              </a:srgbClr>
            </a:solidFill>
            <a:prstDash val="solid"/>
          </a:ln>
        </p:spPr>
      </p:sp>
      <p:sp>
        <p:nvSpPr>
          <p:cNvPr id="4" name="Shape 2"/>
          <p:cNvSpPr/>
          <p:nvPr/>
        </p:nvSpPr>
        <p:spPr>
          <a:xfrm>
            <a:off x="1554480" y="502920"/>
            <a:ext cx="0" cy="5715000"/>
          </a:xfrm>
          <a:prstGeom prst="line">
            <a:avLst/>
          </a:prstGeom>
          <a:noFill/>
          <a:ln w="5080">
            <a:solidFill>
              <a:srgbClr val="0B304B">
                <a:alpha val="8000"/>
              </a:srgbClr>
            </a:solidFill>
            <a:prstDash val="solid"/>
          </a:ln>
        </p:spPr>
      </p:sp>
      <p:sp>
        <p:nvSpPr>
          <p:cNvPr id="5" name="Shape 3"/>
          <p:cNvSpPr/>
          <p:nvPr/>
        </p:nvSpPr>
        <p:spPr>
          <a:xfrm>
            <a:off x="2057400" y="502920"/>
            <a:ext cx="0" cy="5715000"/>
          </a:xfrm>
          <a:prstGeom prst="line">
            <a:avLst/>
          </a:prstGeom>
          <a:noFill/>
          <a:ln w="5080">
            <a:solidFill>
              <a:srgbClr val="0B304B">
                <a:alpha val="8000"/>
              </a:srgbClr>
            </a:solidFill>
            <a:prstDash val="solid"/>
          </a:ln>
        </p:spPr>
      </p:sp>
      <p:sp>
        <p:nvSpPr>
          <p:cNvPr id="6" name="Shape 4"/>
          <p:cNvSpPr/>
          <p:nvPr/>
        </p:nvSpPr>
        <p:spPr>
          <a:xfrm>
            <a:off x="2560320" y="502920"/>
            <a:ext cx="0" cy="5715000"/>
          </a:xfrm>
          <a:prstGeom prst="line">
            <a:avLst/>
          </a:prstGeom>
          <a:noFill/>
          <a:ln w="5080">
            <a:solidFill>
              <a:srgbClr val="0B304B">
                <a:alpha val="8000"/>
              </a:srgbClr>
            </a:solidFill>
            <a:prstDash val="solid"/>
          </a:ln>
        </p:spPr>
      </p:sp>
      <p:sp>
        <p:nvSpPr>
          <p:cNvPr id="7" name="Shape 5"/>
          <p:cNvSpPr/>
          <p:nvPr/>
        </p:nvSpPr>
        <p:spPr>
          <a:xfrm>
            <a:off x="3063240" y="502920"/>
            <a:ext cx="0" cy="5715000"/>
          </a:xfrm>
          <a:prstGeom prst="line">
            <a:avLst/>
          </a:prstGeom>
          <a:noFill/>
          <a:ln w="5080">
            <a:solidFill>
              <a:srgbClr val="0B304B">
                <a:alpha val="8000"/>
              </a:srgbClr>
            </a:solidFill>
            <a:prstDash val="solid"/>
          </a:ln>
        </p:spPr>
      </p:sp>
      <p:sp>
        <p:nvSpPr>
          <p:cNvPr id="8" name="Shape 6"/>
          <p:cNvSpPr/>
          <p:nvPr/>
        </p:nvSpPr>
        <p:spPr>
          <a:xfrm>
            <a:off x="3566160" y="502920"/>
            <a:ext cx="0" cy="5715000"/>
          </a:xfrm>
          <a:prstGeom prst="line">
            <a:avLst/>
          </a:prstGeom>
          <a:noFill/>
          <a:ln w="5080">
            <a:solidFill>
              <a:srgbClr val="0B304B">
                <a:alpha val="8000"/>
              </a:srgbClr>
            </a:solidFill>
            <a:prstDash val="solid"/>
          </a:ln>
        </p:spPr>
      </p:sp>
      <p:sp>
        <p:nvSpPr>
          <p:cNvPr id="9" name="Shape 7"/>
          <p:cNvSpPr/>
          <p:nvPr/>
        </p:nvSpPr>
        <p:spPr>
          <a:xfrm>
            <a:off x="4069080" y="502920"/>
            <a:ext cx="0" cy="5715000"/>
          </a:xfrm>
          <a:prstGeom prst="line">
            <a:avLst/>
          </a:prstGeom>
          <a:noFill/>
          <a:ln w="5080">
            <a:solidFill>
              <a:srgbClr val="0B304B">
                <a:alpha val="8000"/>
              </a:srgbClr>
            </a:solidFill>
            <a:prstDash val="solid"/>
          </a:ln>
        </p:spPr>
      </p:sp>
      <p:sp>
        <p:nvSpPr>
          <p:cNvPr id="10" name="Shape 8"/>
          <p:cNvSpPr/>
          <p:nvPr/>
        </p:nvSpPr>
        <p:spPr>
          <a:xfrm>
            <a:off x="4572000" y="502920"/>
            <a:ext cx="0" cy="5715000"/>
          </a:xfrm>
          <a:prstGeom prst="line">
            <a:avLst/>
          </a:prstGeom>
          <a:noFill/>
          <a:ln w="5080">
            <a:solidFill>
              <a:srgbClr val="0B304B">
                <a:alpha val="8000"/>
              </a:srgbClr>
            </a:solidFill>
            <a:prstDash val="solid"/>
          </a:ln>
        </p:spPr>
      </p:sp>
      <p:sp>
        <p:nvSpPr>
          <p:cNvPr id="11" name="Shape 9"/>
          <p:cNvSpPr/>
          <p:nvPr/>
        </p:nvSpPr>
        <p:spPr>
          <a:xfrm>
            <a:off x="5074920" y="502920"/>
            <a:ext cx="0" cy="5715000"/>
          </a:xfrm>
          <a:prstGeom prst="line">
            <a:avLst/>
          </a:prstGeom>
          <a:noFill/>
          <a:ln w="5080">
            <a:solidFill>
              <a:srgbClr val="0B304B">
                <a:alpha val="8000"/>
              </a:srgbClr>
            </a:solidFill>
            <a:prstDash val="solid"/>
          </a:ln>
        </p:spPr>
      </p:sp>
      <p:sp>
        <p:nvSpPr>
          <p:cNvPr id="12" name="Shape 10"/>
          <p:cNvSpPr/>
          <p:nvPr/>
        </p:nvSpPr>
        <p:spPr>
          <a:xfrm>
            <a:off x="5577840" y="502920"/>
            <a:ext cx="0" cy="5715000"/>
          </a:xfrm>
          <a:prstGeom prst="line">
            <a:avLst/>
          </a:prstGeom>
          <a:noFill/>
          <a:ln w="5080">
            <a:solidFill>
              <a:srgbClr val="0B304B">
                <a:alpha val="8000"/>
              </a:srgbClr>
            </a:solidFill>
            <a:prstDash val="solid"/>
          </a:ln>
        </p:spPr>
      </p:sp>
      <p:sp>
        <p:nvSpPr>
          <p:cNvPr id="13" name="Shape 11"/>
          <p:cNvSpPr/>
          <p:nvPr/>
        </p:nvSpPr>
        <p:spPr>
          <a:xfrm>
            <a:off x="6080760" y="502920"/>
            <a:ext cx="0" cy="5715000"/>
          </a:xfrm>
          <a:prstGeom prst="line">
            <a:avLst/>
          </a:prstGeom>
          <a:noFill/>
          <a:ln w="5080">
            <a:solidFill>
              <a:srgbClr val="0B304B">
                <a:alpha val="8000"/>
              </a:srgbClr>
            </a:solidFill>
            <a:prstDash val="solid"/>
          </a:ln>
        </p:spPr>
      </p:sp>
      <p:sp>
        <p:nvSpPr>
          <p:cNvPr id="14" name="Shape 12"/>
          <p:cNvSpPr/>
          <p:nvPr/>
        </p:nvSpPr>
        <p:spPr>
          <a:xfrm>
            <a:off x="6583680" y="502920"/>
            <a:ext cx="0" cy="5715000"/>
          </a:xfrm>
          <a:prstGeom prst="line">
            <a:avLst/>
          </a:prstGeom>
          <a:noFill/>
          <a:ln w="5080">
            <a:solidFill>
              <a:srgbClr val="0B304B">
                <a:alpha val="8000"/>
              </a:srgbClr>
            </a:solidFill>
            <a:prstDash val="solid"/>
          </a:ln>
        </p:spPr>
      </p:sp>
      <p:sp>
        <p:nvSpPr>
          <p:cNvPr id="15" name="Shape 13"/>
          <p:cNvSpPr/>
          <p:nvPr/>
        </p:nvSpPr>
        <p:spPr>
          <a:xfrm>
            <a:off x="7086600" y="502920"/>
            <a:ext cx="0" cy="5715000"/>
          </a:xfrm>
          <a:prstGeom prst="line">
            <a:avLst/>
          </a:prstGeom>
          <a:noFill/>
          <a:ln w="5080">
            <a:solidFill>
              <a:srgbClr val="0B304B">
                <a:alpha val="8000"/>
              </a:srgbClr>
            </a:solidFill>
            <a:prstDash val="solid"/>
          </a:ln>
        </p:spPr>
      </p:sp>
      <p:sp>
        <p:nvSpPr>
          <p:cNvPr id="16" name="Shape 14"/>
          <p:cNvSpPr/>
          <p:nvPr/>
        </p:nvSpPr>
        <p:spPr>
          <a:xfrm>
            <a:off x="7589520" y="502920"/>
            <a:ext cx="0" cy="5715000"/>
          </a:xfrm>
          <a:prstGeom prst="line">
            <a:avLst/>
          </a:prstGeom>
          <a:noFill/>
          <a:ln w="5080">
            <a:solidFill>
              <a:srgbClr val="0B304B">
                <a:alpha val="8000"/>
              </a:srgbClr>
            </a:solidFill>
            <a:prstDash val="solid"/>
          </a:ln>
        </p:spPr>
      </p:sp>
      <p:sp>
        <p:nvSpPr>
          <p:cNvPr id="17" name="Shape 15"/>
          <p:cNvSpPr/>
          <p:nvPr/>
        </p:nvSpPr>
        <p:spPr>
          <a:xfrm>
            <a:off x="8092440" y="502920"/>
            <a:ext cx="0" cy="5715000"/>
          </a:xfrm>
          <a:prstGeom prst="line">
            <a:avLst/>
          </a:prstGeom>
          <a:noFill/>
          <a:ln w="5080">
            <a:solidFill>
              <a:srgbClr val="0B304B">
                <a:alpha val="8000"/>
              </a:srgbClr>
            </a:solidFill>
            <a:prstDash val="solid"/>
          </a:ln>
        </p:spPr>
      </p:sp>
      <p:sp>
        <p:nvSpPr>
          <p:cNvPr id="18" name="Shape 16"/>
          <p:cNvSpPr/>
          <p:nvPr/>
        </p:nvSpPr>
        <p:spPr>
          <a:xfrm>
            <a:off x="8595360" y="502920"/>
            <a:ext cx="0" cy="5715000"/>
          </a:xfrm>
          <a:prstGeom prst="line">
            <a:avLst/>
          </a:prstGeom>
          <a:noFill/>
          <a:ln w="5080">
            <a:solidFill>
              <a:srgbClr val="0B304B">
                <a:alpha val="8000"/>
              </a:srgbClr>
            </a:solidFill>
            <a:prstDash val="solid"/>
          </a:ln>
        </p:spPr>
      </p:sp>
      <p:sp>
        <p:nvSpPr>
          <p:cNvPr id="19" name="Shape 17"/>
          <p:cNvSpPr/>
          <p:nvPr/>
        </p:nvSpPr>
        <p:spPr>
          <a:xfrm>
            <a:off x="9098280" y="502920"/>
            <a:ext cx="0" cy="5715000"/>
          </a:xfrm>
          <a:prstGeom prst="line">
            <a:avLst/>
          </a:prstGeom>
          <a:noFill/>
          <a:ln w="5080">
            <a:solidFill>
              <a:srgbClr val="0B304B">
                <a:alpha val="8000"/>
              </a:srgbClr>
            </a:solidFill>
            <a:prstDash val="solid"/>
          </a:ln>
        </p:spPr>
      </p:sp>
      <p:sp>
        <p:nvSpPr>
          <p:cNvPr id="20" name="Shape 18"/>
          <p:cNvSpPr/>
          <p:nvPr/>
        </p:nvSpPr>
        <p:spPr>
          <a:xfrm>
            <a:off x="9601200" y="502920"/>
            <a:ext cx="0" cy="5715000"/>
          </a:xfrm>
          <a:prstGeom prst="line">
            <a:avLst/>
          </a:prstGeom>
          <a:noFill/>
          <a:ln w="5080">
            <a:solidFill>
              <a:srgbClr val="0B304B">
                <a:alpha val="8000"/>
              </a:srgbClr>
            </a:solidFill>
            <a:prstDash val="solid"/>
          </a:ln>
        </p:spPr>
      </p:sp>
      <p:sp>
        <p:nvSpPr>
          <p:cNvPr id="21" name="Shape 19"/>
          <p:cNvSpPr/>
          <p:nvPr/>
        </p:nvSpPr>
        <p:spPr>
          <a:xfrm>
            <a:off x="10104120" y="502920"/>
            <a:ext cx="0" cy="5715000"/>
          </a:xfrm>
          <a:prstGeom prst="line">
            <a:avLst/>
          </a:prstGeom>
          <a:noFill/>
          <a:ln w="5080">
            <a:solidFill>
              <a:srgbClr val="0B304B">
                <a:alpha val="8000"/>
              </a:srgbClr>
            </a:solidFill>
            <a:prstDash val="solid"/>
          </a:ln>
        </p:spPr>
      </p:sp>
      <p:sp>
        <p:nvSpPr>
          <p:cNvPr id="22" name="Shape 20"/>
          <p:cNvSpPr/>
          <p:nvPr/>
        </p:nvSpPr>
        <p:spPr>
          <a:xfrm>
            <a:off x="10607040" y="502920"/>
            <a:ext cx="0" cy="5715000"/>
          </a:xfrm>
          <a:prstGeom prst="line">
            <a:avLst/>
          </a:prstGeom>
          <a:noFill/>
          <a:ln w="5080">
            <a:solidFill>
              <a:srgbClr val="0B304B">
                <a:alpha val="8000"/>
              </a:srgbClr>
            </a:solidFill>
            <a:prstDash val="solid"/>
          </a:ln>
        </p:spPr>
      </p:sp>
      <p:sp>
        <p:nvSpPr>
          <p:cNvPr id="23" name="Shape 21"/>
          <p:cNvSpPr/>
          <p:nvPr/>
        </p:nvSpPr>
        <p:spPr>
          <a:xfrm>
            <a:off x="11109960" y="502920"/>
            <a:ext cx="0" cy="5715000"/>
          </a:xfrm>
          <a:prstGeom prst="line">
            <a:avLst/>
          </a:prstGeom>
          <a:noFill/>
          <a:ln w="5080">
            <a:solidFill>
              <a:srgbClr val="0B304B">
                <a:alpha val="8000"/>
              </a:srgbClr>
            </a:solidFill>
            <a:prstDash val="solid"/>
          </a:ln>
        </p:spPr>
      </p:sp>
      <p:sp>
        <p:nvSpPr>
          <p:cNvPr id="24" name="Shape 22"/>
          <p:cNvSpPr/>
          <p:nvPr/>
        </p:nvSpPr>
        <p:spPr>
          <a:xfrm>
            <a:off x="11612880" y="502920"/>
            <a:ext cx="0" cy="5715000"/>
          </a:xfrm>
          <a:prstGeom prst="line">
            <a:avLst/>
          </a:prstGeom>
          <a:noFill/>
          <a:ln w="5080">
            <a:solidFill>
              <a:srgbClr val="0B304B">
                <a:alpha val="8000"/>
              </a:srgbClr>
            </a:solidFill>
            <a:prstDash val="solid"/>
          </a:ln>
        </p:spPr>
      </p:sp>
      <p:sp>
        <p:nvSpPr>
          <p:cNvPr id="25" name="Shape 23"/>
          <p:cNvSpPr/>
          <p:nvPr/>
        </p:nvSpPr>
        <p:spPr>
          <a:xfrm>
            <a:off x="502920" y="566928"/>
            <a:ext cx="11201400" cy="0"/>
          </a:xfrm>
          <a:prstGeom prst="line">
            <a:avLst/>
          </a:prstGeom>
          <a:noFill/>
          <a:ln w="5080">
            <a:solidFill>
              <a:srgbClr val="0B304B">
                <a:alpha val="8000"/>
              </a:srgbClr>
            </a:solidFill>
            <a:prstDash val="solid"/>
          </a:ln>
        </p:spPr>
      </p:sp>
      <p:sp>
        <p:nvSpPr>
          <p:cNvPr id="26" name="Shape 24"/>
          <p:cNvSpPr/>
          <p:nvPr/>
        </p:nvSpPr>
        <p:spPr>
          <a:xfrm>
            <a:off x="502920" y="1069848"/>
            <a:ext cx="11201400" cy="0"/>
          </a:xfrm>
          <a:prstGeom prst="line">
            <a:avLst/>
          </a:prstGeom>
          <a:noFill/>
          <a:ln w="5080">
            <a:solidFill>
              <a:srgbClr val="0B304B">
                <a:alpha val="8000"/>
              </a:srgbClr>
            </a:solidFill>
            <a:prstDash val="solid"/>
          </a:ln>
        </p:spPr>
      </p:sp>
      <p:sp>
        <p:nvSpPr>
          <p:cNvPr id="27" name="Shape 25"/>
          <p:cNvSpPr/>
          <p:nvPr/>
        </p:nvSpPr>
        <p:spPr>
          <a:xfrm>
            <a:off x="502920" y="1572768"/>
            <a:ext cx="11201400" cy="0"/>
          </a:xfrm>
          <a:prstGeom prst="line">
            <a:avLst/>
          </a:prstGeom>
          <a:noFill/>
          <a:ln w="5080">
            <a:solidFill>
              <a:srgbClr val="0B304B">
                <a:alpha val="8000"/>
              </a:srgbClr>
            </a:solidFill>
            <a:prstDash val="solid"/>
          </a:ln>
        </p:spPr>
      </p:sp>
      <p:sp>
        <p:nvSpPr>
          <p:cNvPr id="28" name="Shape 26"/>
          <p:cNvSpPr/>
          <p:nvPr/>
        </p:nvSpPr>
        <p:spPr>
          <a:xfrm>
            <a:off x="502920" y="2075688"/>
            <a:ext cx="11201400" cy="0"/>
          </a:xfrm>
          <a:prstGeom prst="line">
            <a:avLst/>
          </a:prstGeom>
          <a:noFill/>
          <a:ln w="5080">
            <a:solidFill>
              <a:srgbClr val="0B304B">
                <a:alpha val="8000"/>
              </a:srgbClr>
            </a:solidFill>
            <a:prstDash val="solid"/>
          </a:ln>
        </p:spPr>
      </p:sp>
      <p:sp>
        <p:nvSpPr>
          <p:cNvPr id="29" name="Shape 27"/>
          <p:cNvSpPr/>
          <p:nvPr/>
        </p:nvSpPr>
        <p:spPr>
          <a:xfrm>
            <a:off x="502920" y="2578608"/>
            <a:ext cx="11201400" cy="0"/>
          </a:xfrm>
          <a:prstGeom prst="line">
            <a:avLst/>
          </a:prstGeom>
          <a:noFill/>
          <a:ln w="5080">
            <a:solidFill>
              <a:srgbClr val="0B304B">
                <a:alpha val="8000"/>
              </a:srgbClr>
            </a:solidFill>
            <a:prstDash val="solid"/>
          </a:ln>
        </p:spPr>
      </p:sp>
      <p:sp>
        <p:nvSpPr>
          <p:cNvPr id="30" name="Shape 28"/>
          <p:cNvSpPr/>
          <p:nvPr/>
        </p:nvSpPr>
        <p:spPr>
          <a:xfrm>
            <a:off x="502920" y="3081528"/>
            <a:ext cx="11201400" cy="0"/>
          </a:xfrm>
          <a:prstGeom prst="line">
            <a:avLst/>
          </a:prstGeom>
          <a:noFill/>
          <a:ln w="5080">
            <a:solidFill>
              <a:srgbClr val="0B304B">
                <a:alpha val="8000"/>
              </a:srgbClr>
            </a:solidFill>
            <a:prstDash val="solid"/>
          </a:ln>
        </p:spPr>
      </p:sp>
      <p:sp>
        <p:nvSpPr>
          <p:cNvPr id="31" name="Shape 29"/>
          <p:cNvSpPr/>
          <p:nvPr/>
        </p:nvSpPr>
        <p:spPr>
          <a:xfrm>
            <a:off x="502920" y="3584448"/>
            <a:ext cx="11201400" cy="0"/>
          </a:xfrm>
          <a:prstGeom prst="line">
            <a:avLst/>
          </a:prstGeom>
          <a:noFill/>
          <a:ln w="5080">
            <a:solidFill>
              <a:srgbClr val="0B304B">
                <a:alpha val="8000"/>
              </a:srgbClr>
            </a:solidFill>
            <a:prstDash val="solid"/>
          </a:ln>
        </p:spPr>
      </p:sp>
      <p:sp>
        <p:nvSpPr>
          <p:cNvPr id="32" name="Shape 30"/>
          <p:cNvSpPr/>
          <p:nvPr/>
        </p:nvSpPr>
        <p:spPr>
          <a:xfrm>
            <a:off x="502920" y="4087368"/>
            <a:ext cx="11201400" cy="0"/>
          </a:xfrm>
          <a:prstGeom prst="line">
            <a:avLst/>
          </a:prstGeom>
          <a:noFill/>
          <a:ln w="5080">
            <a:solidFill>
              <a:srgbClr val="0B304B">
                <a:alpha val="8000"/>
              </a:srgbClr>
            </a:solidFill>
            <a:prstDash val="solid"/>
          </a:ln>
        </p:spPr>
      </p:sp>
      <p:sp>
        <p:nvSpPr>
          <p:cNvPr id="33" name="Shape 31"/>
          <p:cNvSpPr/>
          <p:nvPr/>
        </p:nvSpPr>
        <p:spPr>
          <a:xfrm>
            <a:off x="502920" y="4590288"/>
            <a:ext cx="11201400" cy="0"/>
          </a:xfrm>
          <a:prstGeom prst="line">
            <a:avLst/>
          </a:prstGeom>
          <a:noFill/>
          <a:ln w="5080">
            <a:solidFill>
              <a:srgbClr val="0B304B">
                <a:alpha val="8000"/>
              </a:srgbClr>
            </a:solidFill>
            <a:prstDash val="solid"/>
          </a:ln>
        </p:spPr>
      </p:sp>
      <p:sp>
        <p:nvSpPr>
          <p:cNvPr id="34" name="Shape 32"/>
          <p:cNvSpPr/>
          <p:nvPr/>
        </p:nvSpPr>
        <p:spPr>
          <a:xfrm>
            <a:off x="502920" y="5093208"/>
            <a:ext cx="11201400" cy="0"/>
          </a:xfrm>
          <a:prstGeom prst="line">
            <a:avLst/>
          </a:prstGeom>
          <a:noFill/>
          <a:ln w="5080">
            <a:solidFill>
              <a:srgbClr val="0B304B">
                <a:alpha val="8000"/>
              </a:srgbClr>
            </a:solidFill>
            <a:prstDash val="solid"/>
          </a:ln>
        </p:spPr>
      </p:sp>
      <p:sp>
        <p:nvSpPr>
          <p:cNvPr id="35" name="Shape 33"/>
          <p:cNvSpPr/>
          <p:nvPr/>
        </p:nvSpPr>
        <p:spPr>
          <a:xfrm>
            <a:off x="502920" y="5596128"/>
            <a:ext cx="11201400" cy="0"/>
          </a:xfrm>
          <a:prstGeom prst="line">
            <a:avLst/>
          </a:prstGeom>
          <a:noFill/>
          <a:ln w="5080">
            <a:solidFill>
              <a:srgbClr val="0B304B">
                <a:alpha val="8000"/>
              </a:srgbClr>
            </a:solidFill>
            <a:prstDash val="solid"/>
          </a:ln>
        </p:spPr>
      </p:sp>
      <p:sp>
        <p:nvSpPr>
          <p:cNvPr id="36" name="Shape 34"/>
          <p:cNvSpPr/>
          <p:nvPr/>
        </p:nvSpPr>
        <p:spPr>
          <a:xfrm>
            <a:off x="502920" y="6099048"/>
            <a:ext cx="11201400" cy="0"/>
          </a:xfrm>
          <a:prstGeom prst="line">
            <a:avLst/>
          </a:prstGeom>
          <a:noFill/>
          <a:ln w="5080">
            <a:solidFill>
              <a:srgbClr val="0B304B">
                <a:alpha val="8000"/>
              </a:srgbClr>
            </a:solidFill>
            <a:prstDash val="solid"/>
          </a:ln>
        </p:spPr>
      </p:sp>
      <p:sp>
        <p:nvSpPr>
          <p:cNvPr id="37" name="Shape 35"/>
          <p:cNvSpPr/>
          <p:nvPr/>
        </p:nvSpPr>
        <p:spPr>
          <a:xfrm>
            <a:off x="502920" y="320040"/>
            <a:ext cx="1417320" cy="256032"/>
          </a:xfrm>
          <a:prstGeom prst="roundRect">
            <a:avLst>
              <a:gd name="adj" fmla="val 17857"/>
            </a:avLst>
          </a:prstGeom>
          <a:solidFill>
            <a:srgbClr val="09273D"/>
          </a:solidFill>
          <a:ln w="10160">
            <a:solidFill>
              <a:srgbClr val="16DFF7">
                <a:alpha val="65000"/>
              </a:srgbClr>
            </a:solidFill>
            <a:prstDash val="solid"/>
          </a:ln>
        </p:spPr>
      </p:sp>
      <p:sp>
        <p:nvSpPr>
          <p:cNvPr id="38"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16DFF7"/>
                </a:solidFill>
                <a:latin typeface="Aptos" pitchFamily="34" charset="0"/>
                <a:ea typeface="Aptos" pitchFamily="34" charset="-122"/>
                <a:cs typeface="Aptos" pitchFamily="34" charset="-120"/>
              </a:rPr>
              <a:t>PYTHON DATA ANALYSIS</a:t>
            </a:r>
            <a:endParaRPr lang="en-US" sz="560" dirty="0"/>
          </a:p>
        </p:txBody>
      </p:sp>
      <p:sp>
        <p:nvSpPr>
          <p:cNvPr id="39"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Python Data Analysis – Airline Accidents Dataset</a:t>
            </a:r>
            <a:endParaRPr lang="en-US" sz="2350" dirty="0"/>
          </a:p>
        </p:txBody>
      </p:sp>
      <p:pic>
        <p:nvPicPr>
          <p:cNvPr id="40" name="Image 0" descr="/mnt/data/radar_sweep.gif"/>
          <p:cNvPicPr>
            <a:picLocks noChangeAspect="1"/>
          </p:cNvPicPr>
          <p:nvPr/>
        </p:nvPicPr>
        <p:blipFill>
          <a:blip r:embed="rId3"/>
          <a:stretch>
            <a:fillRect/>
          </a:stretch>
        </p:blipFill>
        <p:spPr>
          <a:xfrm>
            <a:off x="10625328" y="621792"/>
            <a:ext cx="713232" cy="713232"/>
          </a:xfrm>
          <a:prstGeom prst="rect">
            <a:avLst/>
          </a:prstGeom>
        </p:spPr>
      </p:pic>
      <p:sp>
        <p:nvSpPr>
          <p:cNvPr id="41" name="Shape 38"/>
          <p:cNvSpPr/>
          <p:nvPr/>
        </p:nvSpPr>
        <p:spPr>
          <a:xfrm>
            <a:off x="621792" y="1490472"/>
            <a:ext cx="3438144" cy="1435608"/>
          </a:xfrm>
          <a:prstGeom prst="roundRect">
            <a:avLst>
              <a:gd name="adj" fmla="val 5096"/>
            </a:avLst>
          </a:prstGeom>
          <a:solidFill>
            <a:srgbClr val="0A2035"/>
          </a:solidFill>
          <a:ln w="11430">
            <a:solidFill>
              <a:srgbClr val="163F5D">
                <a:alpha val="90000"/>
              </a:srgbClr>
            </a:solidFill>
            <a:prstDash val="solid"/>
          </a:ln>
        </p:spPr>
      </p:sp>
      <p:sp>
        <p:nvSpPr>
          <p:cNvPr id="42" name="Shape 39"/>
          <p:cNvSpPr/>
          <p:nvPr/>
        </p:nvSpPr>
        <p:spPr>
          <a:xfrm>
            <a:off x="621792" y="1490472"/>
            <a:ext cx="41148" cy="1435608"/>
          </a:xfrm>
          <a:prstGeom prst="rect">
            <a:avLst/>
          </a:prstGeom>
          <a:solidFill>
            <a:srgbClr val="FF5D7A"/>
          </a:solidFill>
          <a:ln w="12700">
            <a:solidFill>
              <a:srgbClr val="FF5D7A"/>
            </a:solidFill>
            <a:prstDash val="solid"/>
          </a:ln>
        </p:spPr>
      </p:sp>
      <p:sp>
        <p:nvSpPr>
          <p:cNvPr id="43" name="Text 40"/>
          <p:cNvSpPr/>
          <p:nvPr/>
        </p:nvSpPr>
        <p:spPr>
          <a:xfrm>
            <a:off x="841248" y="1655064"/>
            <a:ext cx="3035808" cy="292608"/>
          </a:xfrm>
          <a:prstGeom prst="rect">
            <a:avLst/>
          </a:prstGeom>
          <a:noFill/>
          <a:ln/>
        </p:spPr>
        <p:txBody>
          <a:bodyPr wrap="square" lIns="0" tIns="0" rIns="0" bIns="0" rtlCol="0" anchor="ctr">
            <a:normAutofit/>
          </a:bodyPr>
          <a:lstStyle/>
          <a:p>
            <a:pPr marL="0" indent="0">
              <a:buNone/>
            </a:pPr>
            <a:r>
              <a:rPr lang="en-US" sz="1120" b="1" dirty="0">
                <a:solidFill>
                  <a:srgbClr val="FF5D7A"/>
                </a:solidFill>
              </a:rPr>
              <a:t>9. Event Date Treatment</a:t>
            </a:r>
            <a:endParaRPr lang="en-US" sz="1120" dirty="0"/>
          </a:p>
        </p:txBody>
      </p:sp>
      <p:sp>
        <p:nvSpPr>
          <p:cNvPr id="44" name="Text 41"/>
          <p:cNvSpPr/>
          <p:nvPr/>
        </p:nvSpPr>
        <p:spPr>
          <a:xfrm>
            <a:off x="841248" y="2048256"/>
            <a:ext cx="3017520" cy="722376"/>
          </a:xfrm>
          <a:prstGeom prst="rect">
            <a:avLst/>
          </a:prstGeom>
          <a:noFill/>
          <a:ln/>
        </p:spPr>
        <p:txBody>
          <a:bodyPr wrap="square" lIns="254" tIns="254" rIns="254" bIns="254" rtlCol="0" anchor="t">
            <a:normAutofit/>
          </a:bodyPr>
          <a:lstStyle/>
          <a:p>
            <a:pPr marL="0" indent="0">
              <a:buNone/>
            </a:pPr>
            <a:r>
              <a:rPr lang="en-US" sz="880" dirty="0">
                <a:solidFill>
                  <a:srgbClr val="DDEAF2"/>
                </a:solidFill>
              </a:rPr>
              <a:t>There were only 7 records with missing "Event Date".</a:t>
            </a:r>
            <a:endParaRPr lang="en-US" sz="880" dirty="0"/>
          </a:p>
          <a:p>
            <a:pPr marL="0" indent="0">
              <a:buNone/>
            </a:pPr>
            <a:r>
              <a:rPr lang="en-US" sz="880" dirty="0">
                <a:solidFill>
                  <a:srgbClr val="DDEAF2"/>
                </a:solidFill>
              </a:rPr>
              <a:t>Since the exact date could not be reliably determined, these 7 records were removed because the event date is important for time-based analysis.</a:t>
            </a:r>
            <a:endParaRPr lang="en-US" sz="880" dirty="0"/>
          </a:p>
        </p:txBody>
      </p:sp>
      <p:sp>
        <p:nvSpPr>
          <p:cNvPr id="45" name="Shape 42"/>
          <p:cNvSpPr/>
          <p:nvPr/>
        </p:nvSpPr>
        <p:spPr>
          <a:xfrm>
            <a:off x="4361688" y="1490472"/>
            <a:ext cx="3438144" cy="1435608"/>
          </a:xfrm>
          <a:prstGeom prst="roundRect">
            <a:avLst>
              <a:gd name="adj" fmla="val 5096"/>
            </a:avLst>
          </a:prstGeom>
          <a:solidFill>
            <a:srgbClr val="0A2035"/>
          </a:solidFill>
          <a:ln w="11430">
            <a:solidFill>
              <a:srgbClr val="163F5D">
                <a:alpha val="90000"/>
              </a:srgbClr>
            </a:solidFill>
            <a:prstDash val="solid"/>
          </a:ln>
        </p:spPr>
      </p:sp>
      <p:sp>
        <p:nvSpPr>
          <p:cNvPr id="46" name="Shape 43"/>
          <p:cNvSpPr/>
          <p:nvPr/>
        </p:nvSpPr>
        <p:spPr>
          <a:xfrm>
            <a:off x="4361688" y="1490472"/>
            <a:ext cx="41148" cy="1435608"/>
          </a:xfrm>
          <a:prstGeom prst="rect">
            <a:avLst/>
          </a:prstGeom>
          <a:solidFill>
            <a:srgbClr val="16DFF7"/>
          </a:solidFill>
          <a:ln w="12700">
            <a:solidFill>
              <a:srgbClr val="16DFF7"/>
            </a:solidFill>
            <a:prstDash val="solid"/>
          </a:ln>
        </p:spPr>
      </p:sp>
      <p:sp>
        <p:nvSpPr>
          <p:cNvPr id="47" name="Text 44"/>
          <p:cNvSpPr/>
          <p:nvPr/>
        </p:nvSpPr>
        <p:spPr>
          <a:xfrm>
            <a:off x="4581144" y="1655064"/>
            <a:ext cx="3035808" cy="292608"/>
          </a:xfrm>
          <a:prstGeom prst="rect">
            <a:avLst/>
          </a:prstGeom>
          <a:noFill/>
          <a:ln/>
        </p:spPr>
        <p:txBody>
          <a:bodyPr wrap="square" lIns="0" tIns="0" rIns="0" bIns="0" rtlCol="0" anchor="ctr">
            <a:normAutofit/>
          </a:bodyPr>
          <a:lstStyle/>
          <a:p>
            <a:pPr marL="0" indent="0">
              <a:buNone/>
            </a:pPr>
            <a:r>
              <a:rPr lang="en-US" sz="1120" b="1" dirty="0">
                <a:solidFill>
                  <a:srgbClr val="16DFF7"/>
                </a:solidFill>
              </a:rPr>
              <a:t>10. Duplicate Removal</a:t>
            </a:r>
            <a:endParaRPr lang="en-US" sz="1120" dirty="0"/>
          </a:p>
        </p:txBody>
      </p:sp>
      <p:sp>
        <p:nvSpPr>
          <p:cNvPr id="48" name="Text 45"/>
          <p:cNvSpPr/>
          <p:nvPr/>
        </p:nvSpPr>
        <p:spPr>
          <a:xfrm>
            <a:off x="4581144" y="2048256"/>
            <a:ext cx="3017520" cy="722376"/>
          </a:xfrm>
          <a:prstGeom prst="rect">
            <a:avLst/>
          </a:prstGeom>
          <a:noFill/>
          <a:ln/>
        </p:spPr>
        <p:txBody>
          <a:bodyPr wrap="square" lIns="254" tIns="254" rIns="254" bIns="254" rtlCol="0" anchor="t">
            <a:normAutofit/>
          </a:bodyPr>
          <a:lstStyle/>
          <a:p>
            <a:pPr marL="0" indent="0">
              <a:buNone/>
            </a:pPr>
            <a:r>
              <a:rPr lang="en-US" sz="880" dirty="0">
                <a:solidFill>
                  <a:srgbClr val="DDEAF2"/>
                </a:solidFill>
              </a:rPr>
              <a:t>I checked for duplicate records and removed exact duplicate rows to avoid counting the same accident more than once.</a:t>
            </a:r>
            <a:endParaRPr lang="en-US" sz="880" dirty="0"/>
          </a:p>
        </p:txBody>
      </p:sp>
      <p:sp>
        <p:nvSpPr>
          <p:cNvPr id="49" name="Shape 46"/>
          <p:cNvSpPr/>
          <p:nvPr/>
        </p:nvSpPr>
        <p:spPr>
          <a:xfrm>
            <a:off x="8110728" y="1490472"/>
            <a:ext cx="3438144" cy="1435608"/>
          </a:xfrm>
          <a:prstGeom prst="roundRect">
            <a:avLst>
              <a:gd name="adj" fmla="val 5096"/>
            </a:avLst>
          </a:prstGeom>
          <a:solidFill>
            <a:srgbClr val="0A2035"/>
          </a:solidFill>
          <a:ln w="11430">
            <a:solidFill>
              <a:srgbClr val="163F5D">
                <a:alpha val="90000"/>
              </a:srgbClr>
            </a:solidFill>
            <a:prstDash val="solid"/>
          </a:ln>
        </p:spPr>
      </p:sp>
      <p:sp>
        <p:nvSpPr>
          <p:cNvPr id="50" name="Shape 47"/>
          <p:cNvSpPr/>
          <p:nvPr/>
        </p:nvSpPr>
        <p:spPr>
          <a:xfrm>
            <a:off x="8110728" y="1490472"/>
            <a:ext cx="41148" cy="1435608"/>
          </a:xfrm>
          <a:prstGeom prst="rect">
            <a:avLst/>
          </a:prstGeom>
          <a:solidFill>
            <a:srgbClr val="FFB22C"/>
          </a:solidFill>
          <a:ln w="12700">
            <a:solidFill>
              <a:srgbClr val="FFB22C"/>
            </a:solidFill>
            <a:prstDash val="solid"/>
          </a:ln>
        </p:spPr>
      </p:sp>
      <p:sp>
        <p:nvSpPr>
          <p:cNvPr id="51" name="Text 48"/>
          <p:cNvSpPr/>
          <p:nvPr/>
        </p:nvSpPr>
        <p:spPr>
          <a:xfrm>
            <a:off x="8330184" y="1655064"/>
            <a:ext cx="3035808" cy="292608"/>
          </a:xfrm>
          <a:prstGeom prst="rect">
            <a:avLst/>
          </a:prstGeom>
          <a:noFill/>
          <a:ln/>
        </p:spPr>
        <p:txBody>
          <a:bodyPr wrap="square" lIns="0" tIns="0" rIns="0" bIns="0" rtlCol="0" anchor="ctr">
            <a:normAutofit/>
          </a:bodyPr>
          <a:lstStyle/>
          <a:p>
            <a:pPr marL="0" indent="0">
              <a:buNone/>
            </a:pPr>
            <a:r>
              <a:rPr lang="en-US" sz="1120" b="1" dirty="0">
                <a:solidFill>
                  <a:srgbClr val="FFB22C"/>
                </a:solidFill>
              </a:rPr>
              <a:t>11. Outlier Analysis</a:t>
            </a:r>
            <a:endParaRPr lang="en-US" sz="1120" dirty="0"/>
          </a:p>
        </p:txBody>
      </p:sp>
      <p:sp>
        <p:nvSpPr>
          <p:cNvPr id="52" name="Text 49"/>
          <p:cNvSpPr/>
          <p:nvPr/>
        </p:nvSpPr>
        <p:spPr>
          <a:xfrm>
            <a:off x="8330184" y="2048256"/>
            <a:ext cx="3017520" cy="722376"/>
          </a:xfrm>
          <a:prstGeom prst="rect">
            <a:avLst/>
          </a:prstGeom>
          <a:noFill/>
          <a:ln/>
        </p:spPr>
        <p:txBody>
          <a:bodyPr wrap="square" lIns="254" tIns="254" rIns="254" bIns="254" rtlCol="0" anchor="t">
            <a:normAutofit/>
          </a:bodyPr>
          <a:lstStyle/>
          <a:p>
            <a:pPr marL="0" indent="0">
              <a:buNone/>
            </a:pPr>
            <a:r>
              <a:rPr lang="en-US" sz="880" dirty="0">
                <a:solidFill>
                  <a:srgbClr val="DDEAF2"/>
                </a:solidFill>
              </a:rPr>
              <a:t>I used the IQR method to detect statistical outliers in the injury columns.</a:t>
            </a:r>
            <a:endParaRPr lang="en-US" sz="880" dirty="0"/>
          </a:p>
          <a:p>
            <a:pPr marL="0" indent="0">
              <a:buNone/>
            </a:pPr>
            <a:r>
              <a:rPr lang="en-US" sz="880" dirty="0">
                <a:solidFill>
                  <a:srgbClr val="DDEAF2"/>
                </a:solidFill>
              </a:rPr>
              <a:t>The detected outliers were kept because they can represent real and valid accident events rather than data-entry errors.</a:t>
            </a:r>
            <a:endParaRPr lang="en-US" sz="880" dirty="0"/>
          </a:p>
        </p:txBody>
      </p:sp>
      <p:sp>
        <p:nvSpPr>
          <p:cNvPr id="53" name="Shape 50"/>
          <p:cNvSpPr/>
          <p:nvPr/>
        </p:nvSpPr>
        <p:spPr>
          <a:xfrm>
            <a:off x="621792" y="3182112"/>
            <a:ext cx="5248656" cy="2157984"/>
          </a:xfrm>
          <a:prstGeom prst="roundRect">
            <a:avLst>
              <a:gd name="adj" fmla="val 3390"/>
            </a:avLst>
          </a:prstGeom>
          <a:solidFill>
            <a:srgbClr val="0A2035"/>
          </a:solidFill>
          <a:ln w="11430">
            <a:solidFill>
              <a:srgbClr val="163F5D">
                <a:alpha val="90000"/>
              </a:srgbClr>
            </a:solidFill>
            <a:prstDash val="solid"/>
          </a:ln>
        </p:spPr>
      </p:sp>
      <p:sp>
        <p:nvSpPr>
          <p:cNvPr id="54" name="Shape 51"/>
          <p:cNvSpPr/>
          <p:nvPr/>
        </p:nvSpPr>
        <p:spPr>
          <a:xfrm>
            <a:off x="621792" y="3182112"/>
            <a:ext cx="41148" cy="2157984"/>
          </a:xfrm>
          <a:prstGeom prst="rect">
            <a:avLst/>
          </a:prstGeom>
          <a:solidFill>
            <a:srgbClr val="3FE0B5"/>
          </a:solidFill>
          <a:ln w="12700">
            <a:solidFill>
              <a:srgbClr val="3FE0B5"/>
            </a:solidFill>
            <a:prstDash val="solid"/>
          </a:ln>
        </p:spPr>
      </p:sp>
      <p:sp>
        <p:nvSpPr>
          <p:cNvPr id="55" name="Text 52"/>
          <p:cNvSpPr/>
          <p:nvPr/>
        </p:nvSpPr>
        <p:spPr>
          <a:xfrm>
            <a:off x="841248" y="3346704"/>
            <a:ext cx="4846320" cy="292608"/>
          </a:xfrm>
          <a:prstGeom prst="rect">
            <a:avLst/>
          </a:prstGeom>
          <a:noFill/>
          <a:ln/>
        </p:spPr>
        <p:txBody>
          <a:bodyPr wrap="square" lIns="0" tIns="0" rIns="0" bIns="0" rtlCol="0" anchor="ctr">
            <a:normAutofit/>
          </a:bodyPr>
          <a:lstStyle/>
          <a:p>
            <a:pPr marL="0" indent="0">
              <a:buNone/>
            </a:pPr>
            <a:r>
              <a:rPr lang="en-US" sz="1120" b="1" dirty="0">
                <a:solidFill>
                  <a:srgbClr val="3FE0B5"/>
                </a:solidFill>
              </a:rPr>
              <a:t>12. Encoding</a:t>
            </a:r>
            <a:endParaRPr lang="en-US" sz="1120" dirty="0"/>
          </a:p>
        </p:txBody>
      </p:sp>
      <p:sp>
        <p:nvSpPr>
          <p:cNvPr id="56" name="Text 53"/>
          <p:cNvSpPr/>
          <p:nvPr/>
        </p:nvSpPr>
        <p:spPr>
          <a:xfrm>
            <a:off x="841248" y="3739896"/>
            <a:ext cx="4828032" cy="1444752"/>
          </a:xfrm>
          <a:prstGeom prst="rect">
            <a:avLst/>
          </a:prstGeom>
          <a:noFill/>
          <a:ln/>
        </p:spPr>
        <p:txBody>
          <a:bodyPr wrap="square" lIns="254" tIns="254" rIns="254" bIns="254" rtlCol="0" anchor="t">
            <a:normAutofit/>
          </a:bodyPr>
          <a:lstStyle/>
          <a:p>
            <a:pPr marL="0" indent="0">
              <a:buNone/>
            </a:pPr>
            <a:r>
              <a:rPr lang="en-US" sz="880" dirty="0">
                <a:solidFill>
                  <a:srgbClr val="DDEAF2"/>
                </a:solidFill>
              </a:rPr>
              <a:t>I applied One-Hot Encoding to categorical columns such as "Investigation Type", "Weather Condition", "Amateur Built", "Engine Type", "Purpose of Flight", and "Broad Phase of Flight" to make them suitable for machine learning and numerical analysis.</a:t>
            </a:r>
            <a:endParaRPr lang="en-US" sz="880" dirty="0"/>
          </a:p>
        </p:txBody>
      </p:sp>
      <p:sp>
        <p:nvSpPr>
          <p:cNvPr id="57" name="Shape 54"/>
          <p:cNvSpPr/>
          <p:nvPr/>
        </p:nvSpPr>
        <p:spPr>
          <a:xfrm>
            <a:off x="6163056" y="3182112"/>
            <a:ext cx="5385816" cy="2157984"/>
          </a:xfrm>
          <a:prstGeom prst="roundRect">
            <a:avLst>
              <a:gd name="adj" fmla="val 3390"/>
            </a:avLst>
          </a:prstGeom>
          <a:solidFill>
            <a:srgbClr val="0A2035"/>
          </a:solidFill>
          <a:ln w="11430">
            <a:solidFill>
              <a:srgbClr val="163F5D">
                <a:alpha val="90000"/>
              </a:srgbClr>
            </a:solidFill>
            <a:prstDash val="solid"/>
          </a:ln>
        </p:spPr>
      </p:sp>
      <p:sp>
        <p:nvSpPr>
          <p:cNvPr id="58" name="Shape 55"/>
          <p:cNvSpPr/>
          <p:nvPr/>
        </p:nvSpPr>
        <p:spPr>
          <a:xfrm>
            <a:off x="6163056" y="3182112"/>
            <a:ext cx="41148" cy="2157984"/>
          </a:xfrm>
          <a:prstGeom prst="rect">
            <a:avLst/>
          </a:prstGeom>
          <a:solidFill>
            <a:srgbClr val="4B91FF"/>
          </a:solidFill>
          <a:ln w="12700">
            <a:solidFill>
              <a:srgbClr val="4B91FF"/>
            </a:solidFill>
            <a:prstDash val="solid"/>
          </a:ln>
        </p:spPr>
      </p:sp>
      <p:sp>
        <p:nvSpPr>
          <p:cNvPr id="59" name="Text 56"/>
          <p:cNvSpPr/>
          <p:nvPr/>
        </p:nvSpPr>
        <p:spPr>
          <a:xfrm>
            <a:off x="6382512" y="3346704"/>
            <a:ext cx="4983480" cy="292608"/>
          </a:xfrm>
          <a:prstGeom prst="rect">
            <a:avLst/>
          </a:prstGeom>
          <a:noFill/>
          <a:ln/>
        </p:spPr>
        <p:txBody>
          <a:bodyPr wrap="square" lIns="0" tIns="0" rIns="0" bIns="0" rtlCol="0" anchor="ctr">
            <a:normAutofit/>
          </a:bodyPr>
          <a:lstStyle/>
          <a:p>
            <a:pPr marL="0" indent="0">
              <a:buNone/>
            </a:pPr>
            <a:r>
              <a:rPr lang="en-US" sz="1120" b="1" dirty="0">
                <a:solidFill>
                  <a:srgbClr val="4B91FF"/>
                </a:solidFill>
              </a:rPr>
              <a:t>13. Normalization</a:t>
            </a:r>
            <a:endParaRPr lang="en-US" sz="1120" dirty="0"/>
          </a:p>
        </p:txBody>
      </p:sp>
      <p:sp>
        <p:nvSpPr>
          <p:cNvPr id="60" name="Text 57"/>
          <p:cNvSpPr/>
          <p:nvPr/>
        </p:nvSpPr>
        <p:spPr>
          <a:xfrm>
            <a:off x="6382512" y="3739896"/>
            <a:ext cx="4965192" cy="1444752"/>
          </a:xfrm>
          <a:prstGeom prst="rect">
            <a:avLst/>
          </a:prstGeom>
          <a:noFill/>
          <a:ln/>
        </p:spPr>
        <p:txBody>
          <a:bodyPr wrap="square" lIns="254" tIns="254" rIns="254" bIns="254" rtlCol="0" anchor="t">
            <a:normAutofit/>
          </a:bodyPr>
          <a:lstStyle/>
          <a:p>
            <a:pPr marL="0" indent="0">
              <a:buNone/>
            </a:pPr>
            <a:r>
              <a:rPr lang="en-US" sz="880" dirty="0">
                <a:solidFill>
                  <a:srgbClr val="DDEAF2"/>
                </a:solidFill>
              </a:rPr>
              <a:t>I applied Min-Max Normalization to numerical features such as coordinates, number of engines, and injury counts so that the values were placed on a similar scale.</a:t>
            </a:r>
            <a:endParaRPr lang="en-US" sz="880" dirty="0"/>
          </a:p>
        </p:txBody>
      </p:sp>
      <p:sp>
        <p:nvSpPr>
          <p:cNvPr id="61" name="Shape 58">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62" name="Text 59">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63" name="Shape 60">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64" name="Text 61">
            <a:hlinkClick r:id="rId5" action="ppaction://hlinksldjump"/>
          </p:cNvPr>
          <p:cNvSpPr/>
          <p:nvPr/>
        </p:nvSpPr>
        <p:spPr>
          <a:xfrm>
            <a:off x="10936224"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65"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8000"/>
              </a:srgbClr>
            </a:solidFill>
            <a:prstDash val="solid"/>
          </a:ln>
        </p:spPr>
      </p:sp>
      <p:sp>
        <p:nvSpPr>
          <p:cNvPr id="3" name="Shape 1"/>
          <p:cNvSpPr/>
          <p:nvPr/>
        </p:nvSpPr>
        <p:spPr>
          <a:xfrm>
            <a:off x="1051560" y="502920"/>
            <a:ext cx="0" cy="5715000"/>
          </a:xfrm>
          <a:prstGeom prst="line">
            <a:avLst/>
          </a:prstGeom>
          <a:noFill/>
          <a:ln w="5080">
            <a:solidFill>
              <a:srgbClr val="0B304B">
                <a:alpha val="8000"/>
              </a:srgbClr>
            </a:solidFill>
            <a:prstDash val="solid"/>
          </a:ln>
        </p:spPr>
      </p:sp>
      <p:sp>
        <p:nvSpPr>
          <p:cNvPr id="4" name="Shape 2"/>
          <p:cNvSpPr/>
          <p:nvPr/>
        </p:nvSpPr>
        <p:spPr>
          <a:xfrm>
            <a:off x="1554480" y="502920"/>
            <a:ext cx="0" cy="5715000"/>
          </a:xfrm>
          <a:prstGeom prst="line">
            <a:avLst/>
          </a:prstGeom>
          <a:noFill/>
          <a:ln w="5080">
            <a:solidFill>
              <a:srgbClr val="0B304B">
                <a:alpha val="8000"/>
              </a:srgbClr>
            </a:solidFill>
            <a:prstDash val="solid"/>
          </a:ln>
        </p:spPr>
      </p:sp>
      <p:sp>
        <p:nvSpPr>
          <p:cNvPr id="5" name="Shape 3"/>
          <p:cNvSpPr/>
          <p:nvPr/>
        </p:nvSpPr>
        <p:spPr>
          <a:xfrm>
            <a:off x="2057400" y="502920"/>
            <a:ext cx="0" cy="5715000"/>
          </a:xfrm>
          <a:prstGeom prst="line">
            <a:avLst/>
          </a:prstGeom>
          <a:noFill/>
          <a:ln w="5080">
            <a:solidFill>
              <a:srgbClr val="0B304B">
                <a:alpha val="8000"/>
              </a:srgbClr>
            </a:solidFill>
            <a:prstDash val="solid"/>
          </a:ln>
        </p:spPr>
      </p:sp>
      <p:sp>
        <p:nvSpPr>
          <p:cNvPr id="6" name="Shape 4"/>
          <p:cNvSpPr/>
          <p:nvPr/>
        </p:nvSpPr>
        <p:spPr>
          <a:xfrm>
            <a:off x="2560320" y="502920"/>
            <a:ext cx="0" cy="5715000"/>
          </a:xfrm>
          <a:prstGeom prst="line">
            <a:avLst/>
          </a:prstGeom>
          <a:noFill/>
          <a:ln w="5080">
            <a:solidFill>
              <a:srgbClr val="0B304B">
                <a:alpha val="8000"/>
              </a:srgbClr>
            </a:solidFill>
            <a:prstDash val="solid"/>
          </a:ln>
        </p:spPr>
      </p:sp>
      <p:sp>
        <p:nvSpPr>
          <p:cNvPr id="7" name="Shape 5"/>
          <p:cNvSpPr/>
          <p:nvPr/>
        </p:nvSpPr>
        <p:spPr>
          <a:xfrm>
            <a:off x="3063240" y="502920"/>
            <a:ext cx="0" cy="5715000"/>
          </a:xfrm>
          <a:prstGeom prst="line">
            <a:avLst/>
          </a:prstGeom>
          <a:noFill/>
          <a:ln w="5080">
            <a:solidFill>
              <a:srgbClr val="0B304B">
                <a:alpha val="8000"/>
              </a:srgbClr>
            </a:solidFill>
            <a:prstDash val="solid"/>
          </a:ln>
        </p:spPr>
      </p:sp>
      <p:sp>
        <p:nvSpPr>
          <p:cNvPr id="8" name="Shape 6"/>
          <p:cNvSpPr/>
          <p:nvPr/>
        </p:nvSpPr>
        <p:spPr>
          <a:xfrm>
            <a:off x="3566160" y="502920"/>
            <a:ext cx="0" cy="5715000"/>
          </a:xfrm>
          <a:prstGeom prst="line">
            <a:avLst/>
          </a:prstGeom>
          <a:noFill/>
          <a:ln w="5080">
            <a:solidFill>
              <a:srgbClr val="0B304B">
                <a:alpha val="8000"/>
              </a:srgbClr>
            </a:solidFill>
            <a:prstDash val="solid"/>
          </a:ln>
        </p:spPr>
      </p:sp>
      <p:sp>
        <p:nvSpPr>
          <p:cNvPr id="9" name="Shape 7"/>
          <p:cNvSpPr/>
          <p:nvPr/>
        </p:nvSpPr>
        <p:spPr>
          <a:xfrm>
            <a:off x="4069080" y="502920"/>
            <a:ext cx="0" cy="5715000"/>
          </a:xfrm>
          <a:prstGeom prst="line">
            <a:avLst/>
          </a:prstGeom>
          <a:noFill/>
          <a:ln w="5080">
            <a:solidFill>
              <a:srgbClr val="0B304B">
                <a:alpha val="8000"/>
              </a:srgbClr>
            </a:solidFill>
            <a:prstDash val="solid"/>
          </a:ln>
        </p:spPr>
      </p:sp>
      <p:sp>
        <p:nvSpPr>
          <p:cNvPr id="10" name="Shape 8"/>
          <p:cNvSpPr/>
          <p:nvPr/>
        </p:nvSpPr>
        <p:spPr>
          <a:xfrm>
            <a:off x="4572000" y="502920"/>
            <a:ext cx="0" cy="5715000"/>
          </a:xfrm>
          <a:prstGeom prst="line">
            <a:avLst/>
          </a:prstGeom>
          <a:noFill/>
          <a:ln w="5080">
            <a:solidFill>
              <a:srgbClr val="0B304B">
                <a:alpha val="8000"/>
              </a:srgbClr>
            </a:solidFill>
            <a:prstDash val="solid"/>
          </a:ln>
        </p:spPr>
      </p:sp>
      <p:sp>
        <p:nvSpPr>
          <p:cNvPr id="11" name="Shape 9"/>
          <p:cNvSpPr/>
          <p:nvPr/>
        </p:nvSpPr>
        <p:spPr>
          <a:xfrm>
            <a:off x="5074920" y="502920"/>
            <a:ext cx="0" cy="5715000"/>
          </a:xfrm>
          <a:prstGeom prst="line">
            <a:avLst/>
          </a:prstGeom>
          <a:noFill/>
          <a:ln w="5080">
            <a:solidFill>
              <a:srgbClr val="0B304B">
                <a:alpha val="8000"/>
              </a:srgbClr>
            </a:solidFill>
            <a:prstDash val="solid"/>
          </a:ln>
        </p:spPr>
      </p:sp>
      <p:sp>
        <p:nvSpPr>
          <p:cNvPr id="12" name="Shape 10"/>
          <p:cNvSpPr/>
          <p:nvPr/>
        </p:nvSpPr>
        <p:spPr>
          <a:xfrm>
            <a:off x="5577840" y="502920"/>
            <a:ext cx="0" cy="5715000"/>
          </a:xfrm>
          <a:prstGeom prst="line">
            <a:avLst/>
          </a:prstGeom>
          <a:noFill/>
          <a:ln w="5080">
            <a:solidFill>
              <a:srgbClr val="0B304B">
                <a:alpha val="8000"/>
              </a:srgbClr>
            </a:solidFill>
            <a:prstDash val="solid"/>
          </a:ln>
        </p:spPr>
      </p:sp>
      <p:sp>
        <p:nvSpPr>
          <p:cNvPr id="13" name="Shape 11"/>
          <p:cNvSpPr/>
          <p:nvPr/>
        </p:nvSpPr>
        <p:spPr>
          <a:xfrm>
            <a:off x="6080760" y="502920"/>
            <a:ext cx="0" cy="5715000"/>
          </a:xfrm>
          <a:prstGeom prst="line">
            <a:avLst/>
          </a:prstGeom>
          <a:noFill/>
          <a:ln w="5080">
            <a:solidFill>
              <a:srgbClr val="0B304B">
                <a:alpha val="8000"/>
              </a:srgbClr>
            </a:solidFill>
            <a:prstDash val="solid"/>
          </a:ln>
        </p:spPr>
      </p:sp>
      <p:sp>
        <p:nvSpPr>
          <p:cNvPr id="14" name="Shape 12"/>
          <p:cNvSpPr/>
          <p:nvPr/>
        </p:nvSpPr>
        <p:spPr>
          <a:xfrm>
            <a:off x="6583680" y="502920"/>
            <a:ext cx="0" cy="5715000"/>
          </a:xfrm>
          <a:prstGeom prst="line">
            <a:avLst/>
          </a:prstGeom>
          <a:noFill/>
          <a:ln w="5080">
            <a:solidFill>
              <a:srgbClr val="0B304B">
                <a:alpha val="8000"/>
              </a:srgbClr>
            </a:solidFill>
            <a:prstDash val="solid"/>
          </a:ln>
        </p:spPr>
      </p:sp>
      <p:sp>
        <p:nvSpPr>
          <p:cNvPr id="15" name="Shape 13"/>
          <p:cNvSpPr/>
          <p:nvPr/>
        </p:nvSpPr>
        <p:spPr>
          <a:xfrm>
            <a:off x="7086600" y="502920"/>
            <a:ext cx="0" cy="5715000"/>
          </a:xfrm>
          <a:prstGeom prst="line">
            <a:avLst/>
          </a:prstGeom>
          <a:noFill/>
          <a:ln w="5080">
            <a:solidFill>
              <a:srgbClr val="0B304B">
                <a:alpha val="8000"/>
              </a:srgbClr>
            </a:solidFill>
            <a:prstDash val="solid"/>
          </a:ln>
        </p:spPr>
      </p:sp>
      <p:sp>
        <p:nvSpPr>
          <p:cNvPr id="16" name="Shape 14"/>
          <p:cNvSpPr/>
          <p:nvPr/>
        </p:nvSpPr>
        <p:spPr>
          <a:xfrm>
            <a:off x="7589520" y="502920"/>
            <a:ext cx="0" cy="5715000"/>
          </a:xfrm>
          <a:prstGeom prst="line">
            <a:avLst/>
          </a:prstGeom>
          <a:noFill/>
          <a:ln w="5080">
            <a:solidFill>
              <a:srgbClr val="0B304B">
                <a:alpha val="8000"/>
              </a:srgbClr>
            </a:solidFill>
            <a:prstDash val="solid"/>
          </a:ln>
        </p:spPr>
      </p:sp>
      <p:sp>
        <p:nvSpPr>
          <p:cNvPr id="17" name="Shape 15"/>
          <p:cNvSpPr/>
          <p:nvPr/>
        </p:nvSpPr>
        <p:spPr>
          <a:xfrm>
            <a:off x="8092440" y="502920"/>
            <a:ext cx="0" cy="5715000"/>
          </a:xfrm>
          <a:prstGeom prst="line">
            <a:avLst/>
          </a:prstGeom>
          <a:noFill/>
          <a:ln w="5080">
            <a:solidFill>
              <a:srgbClr val="0B304B">
                <a:alpha val="8000"/>
              </a:srgbClr>
            </a:solidFill>
            <a:prstDash val="solid"/>
          </a:ln>
        </p:spPr>
      </p:sp>
      <p:sp>
        <p:nvSpPr>
          <p:cNvPr id="18" name="Shape 16"/>
          <p:cNvSpPr/>
          <p:nvPr/>
        </p:nvSpPr>
        <p:spPr>
          <a:xfrm>
            <a:off x="8595360" y="502920"/>
            <a:ext cx="0" cy="5715000"/>
          </a:xfrm>
          <a:prstGeom prst="line">
            <a:avLst/>
          </a:prstGeom>
          <a:noFill/>
          <a:ln w="5080">
            <a:solidFill>
              <a:srgbClr val="0B304B">
                <a:alpha val="8000"/>
              </a:srgbClr>
            </a:solidFill>
            <a:prstDash val="solid"/>
          </a:ln>
        </p:spPr>
      </p:sp>
      <p:sp>
        <p:nvSpPr>
          <p:cNvPr id="19" name="Shape 17"/>
          <p:cNvSpPr/>
          <p:nvPr/>
        </p:nvSpPr>
        <p:spPr>
          <a:xfrm>
            <a:off x="9098280" y="502920"/>
            <a:ext cx="0" cy="5715000"/>
          </a:xfrm>
          <a:prstGeom prst="line">
            <a:avLst/>
          </a:prstGeom>
          <a:noFill/>
          <a:ln w="5080">
            <a:solidFill>
              <a:srgbClr val="0B304B">
                <a:alpha val="8000"/>
              </a:srgbClr>
            </a:solidFill>
            <a:prstDash val="solid"/>
          </a:ln>
        </p:spPr>
      </p:sp>
      <p:sp>
        <p:nvSpPr>
          <p:cNvPr id="20" name="Shape 18"/>
          <p:cNvSpPr/>
          <p:nvPr/>
        </p:nvSpPr>
        <p:spPr>
          <a:xfrm>
            <a:off x="9601200" y="502920"/>
            <a:ext cx="0" cy="5715000"/>
          </a:xfrm>
          <a:prstGeom prst="line">
            <a:avLst/>
          </a:prstGeom>
          <a:noFill/>
          <a:ln w="5080">
            <a:solidFill>
              <a:srgbClr val="0B304B">
                <a:alpha val="8000"/>
              </a:srgbClr>
            </a:solidFill>
            <a:prstDash val="solid"/>
          </a:ln>
        </p:spPr>
      </p:sp>
      <p:sp>
        <p:nvSpPr>
          <p:cNvPr id="21" name="Shape 19"/>
          <p:cNvSpPr/>
          <p:nvPr/>
        </p:nvSpPr>
        <p:spPr>
          <a:xfrm>
            <a:off x="10104120" y="502920"/>
            <a:ext cx="0" cy="5715000"/>
          </a:xfrm>
          <a:prstGeom prst="line">
            <a:avLst/>
          </a:prstGeom>
          <a:noFill/>
          <a:ln w="5080">
            <a:solidFill>
              <a:srgbClr val="0B304B">
                <a:alpha val="8000"/>
              </a:srgbClr>
            </a:solidFill>
            <a:prstDash val="solid"/>
          </a:ln>
        </p:spPr>
      </p:sp>
      <p:sp>
        <p:nvSpPr>
          <p:cNvPr id="22" name="Shape 20"/>
          <p:cNvSpPr/>
          <p:nvPr/>
        </p:nvSpPr>
        <p:spPr>
          <a:xfrm>
            <a:off x="10607040" y="502920"/>
            <a:ext cx="0" cy="5715000"/>
          </a:xfrm>
          <a:prstGeom prst="line">
            <a:avLst/>
          </a:prstGeom>
          <a:noFill/>
          <a:ln w="5080">
            <a:solidFill>
              <a:srgbClr val="0B304B">
                <a:alpha val="8000"/>
              </a:srgbClr>
            </a:solidFill>
            <a:prstDash val="solid"/>
          </a:ln>
        </p:spPr>
      </p:sp>
      <p:sp>
        <p:nvSpPr>
          <p:cNvPr id="23" name="Shape 21"/>
          <p:cNvSpPr/>
          <p:nvPr/>
        </p:nvSpPr>
        <p:spPr>
          <a:xfrm>
            <a:off x="11109960" y="502920"/>
            <a:ext cx="0" cy="5715000"/>
          </a:xfrm>
          <a:prstGeom prst="line">
            <a:avLst/>
          </a:prstGeom>
          <a:noFill/>
          <a:ln w="5080">
            <a:solidFill>
              <a:srgbClr val="0B304B">
                <a:alpha val="8000"/>
              </a:srgbClr>
            </a:solidFill>
            <a:prstDash val="solid"/>
          </a:ln>
        </p:spPr>
      </p:sp>
      <p:sp>
        <p:nvSpPr>
          <p:cNvPr id="24" name="Shape 22"/>
          <p:cNvSpPr/>
          <p:nvPr/>
        </p:nvSpPr>
        <p:spPr>
          <a:xfrm>
            <a:off x="11612880" y="502920"/>
            <a:ext cx="0" cy="5715000"/>
          </a:xfrm>
          <a:prstGeom prst="line">
            <a:avLst/>
          </a:prstGeom>
          <a:noFill/>
          <a:ln w="5080">
            <a:solidFill>
              <a:srgbClr val="0B304B">
                <a:alpha val="8000"/>
              </a:srgbClr>
            </a:solidFill>
            <a:prstDash val="solid"/>
          </a:ln>
        </p:spPr>
      </p:sp>
      <p:sp>
        <p:nvSpPr>
          <p:cNvPr id="25" name="Shape 23"/>
          <p:cNvSpPr/>
          <p:nvPr/>
        </p:nvSpPr>
        <p:spPr>
          <a:xfrm>
            <a:off x="502920" y="566928"/>
            <a:ext cx="11201400" cy="0"/>
          </a:xfrm>
          <a:prstGeom prst="line">
            <a:avLst/>
          </a:prstGeom>
          <a:noFill/>
          <a:ln w="5080">
            <a:solidFill>
              <a:srgbClr val="0B304B">
                <a:alpha val="8000"/>
              </a:srgbClr>
            </a:solidFill>
            <a:prstDash val="solid"/>
          </a:ln>
        </p:spPr>
      </p:sp>
      <p:sp>
        <p:nvSpPr>
          <p:cNvPr id="26" name="Shape 24"/>
          <p:cNvSpPr/>
          <p:nvPr/>
        </p:nvSpPr>
        <p:spPr>
          <a:xfrm>
            <a:off x="502920" y="1069848"/>
            <a:ext cx="11201400" cy="0"/>
          </a:xfrm>
          <a:prstGeom prst="line">
            <a:avLst/>
          </a:prstGeom>
          <a:noFill/>
          <a:ln w="5080">
            <a:solidFill>
              <a:srgbClr val="0B304B">
                <a:alpha val="8000"/>
              </a:srgbClr>
            </a:solidFill>
            <a:prstDash val="solid"/>
          </a:ln>
        </p:spPr>
      </p:sp>
      <p:sp>
        <p:nvSpPr>
          <p:cNvPr id="27" name="Shape 25"/>
          <p:cNvSpPr/>
          <p:nvPr/>
        </p:nvSpPr>
        <p:spPr>
          <a:xfrm>
            <a:off x="502920" y="1572768"/>
            <a:ext cx="11201400" cy="0"/>
          </a:xfrm>
          <a:prstGeom prst="line">
            <a:avLst/>
          </a:prstGeom>
          <a:noFill/>
          <a:ln w="5080">
            <a:solidFill>
              <a:srgbClr val="0B304B">
                <a:alpha val="8000"/>
              </a:srgbClr>
            </a:solidFill>
            <a:prstDash val="solid"/>
          </a:ln>
        </p:spPr>
      </p:sp>
      <p:sp>
        <p:nvSpPr>
          <p:cNvPr id="28" name="Shape 26"/>
          <p:cNvSpPr/>
          <p:nvPr/>
        </p:nvSpPr>
        <p:spPr>
          <a:xfrm>
            <a:off x="502920" y="2075688"/>
            <a:ext cx="11201400" cy="0"/>
          </a:xfrm>
          <a:prstGeom prst="line">
            <a:avLst/>
          </a:prstGeom>
          <a:noFill/>
          <a:ln w="5080">
            <a:solidFill>
              <a:srgbClr val="0B304B">
                <a:alpha val="8000"/>
              </a:srgbClr>
            </a:solidFill>
            <a:prstDash val="solid"/>
          </a:ln>
        </p:spPr>
      </p:sp>
      <p:sp>
        <p:nvSpPr>
          <p:cNvPr id="29" name="Shape 27"/>
          <p:cNvSpPr/>
          <p:nvPr/>
        </p:nvSpPr>
        <p:spPr>
          <a:xfrm>
            <a:off x="502920" y="2578608"/>
            <a:ext cx="11201400" cy="0"/>
          </a:xfrm>
          <a:prstGeom prst="line">
            <a:avLst/>
          </a:prstGeom>
          <a:noFill/>
          <a:ln w="5080">
            <a:solidFill>
              <a:srgbClr val="0B304B">
                <a:alpha val="8000"/>
              </a:srgbClr>
            </a:solidFill>
            <a:prstDash val="solid"/>
          </a:ln>
        </p:spPr>
      </p:sp>
      <p:sp>
        <p:nvSpPr>
          <p:cNvPr id="30" name="Shape 28"/>
          <p:cNvSpPr/>
          <p:nvPr/>
        </p:nvSpPr>
        <p:spPr>
          <a:xfrm>
            <a:off x="502920" y="3081528"/>
            <a:ext cx="11201400" cy="0"/>
          </a:xfrm>
          <a:prstGeom prst="line">
            <a:avLst/>
          </a:prstGeom>
          <a:noFill/>
          <a:ln w="5080">
            <a:solidFill>
              <a:srgbClr val="0B304B">
                <a:alpha val="8000"/>
              </a:srgbClr>
            </a:solidFill>
            <a:prstDash val="solid"/>
          </a:ln>
        </p:spPr>
      </p:sp>
      <p:sp>
        <p:nvSpPr>
          <p:cNvPr id="31" name="Shape 29"/>
          <p:cNvSpPr/>
          <p:nvPr/>
        </p:nvSpPr>
        <p:spPr>
          <a:xfrm>
            <a:off x="502920" y="3584448"/>
            <a:ext cx="11201400" cy="0"/>
          </a:xfrm>
          <a:prstGeom prst="line">
            <a:avLst/>
          </a:prstGeom>
          <a:noFill/>
          <a:ln w="5080">
            <a:solidFill>
              <a:srgbClr val="0B304B">
                <a:alpha val="8000"/>
              </a:srgbClr>
            </a:solidFill>
            <a:prstDash val="solid"/>
          </a:ln>
        </p:spPr>
      </p:sp>
      <p:sp>
        <p:nvSpPr>
          <p:cNvPr id="32" name="Shape 30"/>
          <p:cNvSpPr/>
          <p:nvPr/>
        </p:nvSpPr>
        <p:spPr>
          <a:xfrm>
            <a:off x="502920" y="4087368"/>
            <a:ext cx="11201400" cy="0"/>
          </a:xfrm>
          <a:prstGeom prst="line">
            <a:avLst/>
          </a:prstGeom>
          <a:noFill/>
          <a:ln w="5080">
            <a:solidFill>
              <a:srgbClr val="0B304B">
                <a:alpha val="8000"/>
              </a:srgbClr>
            </a:solidFill>
            <a:prstDash val="solid"/>
          </a:ln>
        </p:spPr>
      </p:sp>
      <p:sp>
        <p:nvSpPr>
          <p:cNvPr id="33" name="Shape 31"/>
          <p:cNvSpPr/>
          <p:nvPr/>
        </p:nvSpPr>
        <p:spPr>
          <a:xfrm>
            <a:off x="502920" y="4590288"/>
            <a:ext cx="11201400" cy="0"/>
          </a:xfrm>
          <a:prstGeom prst="line">
            <a:avLst/>
          </a:prstGeom>
          <a:noFill/>
          <a:ln w="5080">
            <a:solidFill>
              <a:srgbClr val="0B304B">
                <a:alpha val="8000"/>
              </a:srgbClr>
            </a:solidFill>
            <a:prstDash val="solid"/>
          </a:ln>
        </p:spPr>
      </p:sp>
      <p:sp>
        <p:nvSpPr>
          <p:cNvPr id="34" name="Shape 32"/>
          <p:cNvSpPr/>
          <p:nvPr/>
        </p:nvSpPr>
        <p:spPr>
          <a:xfrm>
            <a:off x="502920" y="5093208"/>
            <a:ext cx="11201400" cy="0"/>
          </a:xfrm>
          <a:prstGeom prst="line">
            <a:avLst/>
          </a:prstGeom>
          <a:noFill/>
          <a:ln w="5080">
            <a:solidFill>
              <a:srgbClr val="0B304B">
                <a:alpha val="8000"/>
              </a:srgbClr>
            </a:solidFill>
            <a:prstDash val="solid"/>
          </a:ln>
        </p:spPr>
      </p:sp>
      <p:sp>
        <p:nvSpPr>
          <p:cNvPr id="35" name="Shape 33"/>
          <p:cNvSpPr/>
          <p:nvPr/>
        </p:nvSpPr>
        <p:spPr>
          <a:xfrm>
            <a:off x="502920" y="5596128"/>
            <a:ext cx="11201400" cy="0"/>
          </a:xfrm>
          <a:prstGeom prst="line">
            <a:avLst/>
          </a:prstGeom>
          <a:noFill/>
          <a:ln w="5080">
            <a:solidFill>
              <a:srgbClr val="0B304B">
                <a:alpha val="8000"/>
              </a:srgbClr>
            </a:solidFill>
            <a:prstDash val="solid"/>
          </a:ln>
        </p:spPr>
      </p:sp>
      <p:sp>
        <p:nvSpPr>
          <p:cNvPr id="36" name="Shape 34"/>
          <p:cNvSpPr/>
          <p:nvPr/>
        </p:nvSpPr>
        <p:spPr>
          <a:xfrm>
            <a:off x="502920" y="6099048"/>
            <a:ext cx="11201400" cy="0"/>
          </a:xfrm>
          <a:prstGeom prst="line">
            <a:avLst/>
          </a:prstGeom>
          <a:noFill/>
          <a:ln w="5080">
            <a:solidFill>
              <a:srgbClr val="0B304B">
                <a:alpha val="8000"/>
              </a:srgbClr>
            </a:solidFill>
            <a:prstDash val="solid"/>
          </a:ln>
        </p:spPr>
      </p:sp>
      <p:sp>
        <p:nvSpPr>
          <p:cNvPr id="37" name="Shape 35"/>
          <p:cNvSpPr/>
          <p:nvPr/>
        </p:nvSpPr>
        <p:spPr>
          <a:xfrm>
            <a:off x="502920" y="320040"/>
            <a:ext cx="1417320" cy="256032"/>
          </a:xfrm>
          <a:prstGeom prst="roundRect">
            <a:avLst>
              <a:gd name="adj" fmla="val 17857"/>
            </a:avLst>
          </a:prstGeom>
          <a:solidFill>
            <a:srgbClr val="09273D"/>
          </a:solidFill>
          <a:ln w="10160">
            <a:solidFill>
              <a:srgbClr val="16DFF7">
                <a:alpha val="65000"/>
              </a:srgbClr>
            </a:solidFill>
            <a:prstDash val="solid"/>
          </a:ln>
        </p:spPr>
      </p:sp>
      <p:sp>
        <p:nvSpPr>
          <p:cNvPr id="38"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16DFF7"/>
                </a:solidFill>
                <a:latin typeface="Aptos" pitchFamily="34" charset="0"/>
                <a:ea typeface="Aptos" pitchFamily="34" charset="-122"/>
                <a:cs typeface="Aptos" pitchFamily="34" charset="-120"/>
              </a:rPr>
              <a:t>PYTHON DATA ANALYSIS</a:t>
            </a:r>
            <a:endParaRPr lang="en-US" sz="560" dirty="0"/>
          </a:p>
        </p:txBody>
      </p:sp>
      <p:sp>
        <p:nvSpPr>
          <p:cNvPr id="39"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Python Data Analysis – Airline Accidents Dataset</a:t>
            </a:r>
            <a:endParaRPr lang="en-US" sz="2350" dirty="0"/>
          </a:p>
        </p:txBody>
      </p:sp>
      <p:pic>
        <p:nvPicPr>
          <p:cNvPr id="40" name="Image 0" descr="/mnt/data/radar_sweep.gif"/>
          <p:cNvPicPr>
            <a:picLocks noChangeAspect="1"/>
          </p:cNvPicPr>
          <p:nvPr/>
        </p:nvPicPr>
        <p:blipFill>
          <a:blip r:embed="rId3"/>
          <a:stretch>
            <a:fillRect/>
          </a:stretch>
        </p:blipFill>
        <p:spPr>
          <a:xfrm>
            <a:off x="10625328" y="621792"/>
            <a:ext cx="713232" cy="713232"/>
          </a:xfrm>
          <a:prstGeom prst="rect">
            <a:avLst/>
          </a:prstGeom>
        </p:spPr>
      </p:pic>
      <p:sp>
        <p:nvSpPr>
          <p:cNvPr id="41" name="Shape 38"/>
          <p:cNvSpPr/>
          <p:nvPr/>
        </p:nvSpPr>
        <p:spPr>
          <a:xfrm>
            <a:off x="621792" y="1481328"/>
            <a:ext cx="6565392" cy="4206240"/>
          </a:xfrm>
          <a:prstGeom prst="roundRect">
            <a:avLst>
              <a:gd name="adj" fmla="val 1739"/>
            </a:avLst>
          </a:prstGeom>
          <a:solidFill>
            <a:srgbClr val="0A2035"/>
          </a:solidFill>
          <a:ln w="11430">
            <a:solidFill>
              <a:srgbClr val="163F5D">
                <a:alpha val="90000"/>
              </a:srgbClr>
            </a:solidFill>
            <a:prstDash val="solid"/>
          </a:ln>
          <a:effectLst>
            <a:outerShdw algn="bl" rotWithShape="0">
              <a:srgbClr val="000000">
                <a:alpha val="0"/>
              </a:srgbClr>
            </a:outerShdw>
          </a:effectLst>
        </p:spPr>
      </p:sp>
      <p:sp>
        <p:nvSpPr>
          <p:cNvPr id="42" name="Shape 39"/>
          <p:cNvSpPr/>
          <p:nvPr/>
        </p:nvSpPr>
        <p:spPr>
          <a:xfrm>
            <a:off x="621792" y="1481328"/>
            <a:ext cx="41148" cy="4206240"/>
          </a:xfrm>
          <a:prstGeom prst="rect">
            <a:avLst/>
          </a:prstGeom>
          <a:solidFill>
            <a:srgbClr val="16DFF7"/>
          </a:solidFill>
          <a:ln w="12700">
            <a:solidFill>
              <a:srgbClr val="16DFF7"/>
            </a:solidFill>
            <a:prstDash val="solid"/>
          </a:ln>
        </p:spPr>
      </p:sp>
      <p:sp>
        <p:nvSpPr>
          <p:cNvPr id="43" name="Text 40"/>
          <p:cNvSpPr/>
          <p:nvPr/>
        </p:nvSpPr>
        <p:spPr>
          <a:xfrm>
            <a:off x="905256" y="1737360"/>
            <a:ext cx="2926080" cy="347472"/>
          </a:xfrm>
          <a:prstGeom prst="rect">
            <a:avLst/>
          </a:prstGeom>
          <a:noFill/>
          <a:ln/>
        </p:spPr>
        <p:txBody>
          <a:bodyPr wrap="square" lIns="0" tIns="0" rIns="0" bIns="0" rtlCol="0" anchor="ctr"/>
          <a:lstStyle/>
          <a:p>
            <a:pPr marL="0" indent="0">
              <a:buNone/>
            </a:pPr>
            <a:r>
              <a:rPr lang="en-US" sz="1500" b="1" dirty="0">
                <a:solidFill>
                  <a:srgbClr val="16DFF7"/>
                </a:solidFill>
              </a:rPr>
              <a:t>14. Data Visualization</a:t>
            </a:r>
            <a:endParaRPr lang="en-US" sz="1500" dirty="0"/>
          </a:p>
        </p:txBody>
      </p:sp>
      <p:sp>
        <p:nvSpPr>
          <p:cNvPr id="44" name="Text 41"/>
          <p:cNvSpPr/>
          <p:nvPr/>
        </p:nvSpPr>
        <p:spPr>
          <a:xfrm>
            <a:off x="905256" y="2212848"/>
            <a:ext cx="5742432" cy="384048"/>
          </a:xfrm>
          <a:prstGeom prst="rect">
            <a:avLst/>
          </a:prstGeom>
          <a:noFill/>
          <a:ln/>
        </p:spPr>
        <p:txBody>
          <a:bodyPr wrap="square" lIns="0" tIns="0" rIns="0" bIns="0" rtlCol="0" anchor="ctr"/>
          <a:lstStyle/>
          <a:p>
            <a:pPr marL="0" indent="0">
              <a:buNone/>
            </a:pPr>
            <a:r>
              <a:rPr lang="en-US" sz="1100" dirty="0">
                <a:solidFill>
                  <a:srgbClr val="DDEAF2"/>
                </a:solidFill>
              </a:rPr>
              <a:t>I created several visualizations to understand patterns in the dataset:</a:t>
            </a:r>
            <a:endParaRPr lang="en-US" sz="1100" dirty="0"/>
          </a:p>
        </p:txBody>
      </p:sp>
      <p:sp>
        <p:nvSpPr>
          <p:cNvPr id="45" name="Shape 42"/>
          <p:cNvSpPr/>
          <p:nvPr/>
        </p:nvSpPr>
        <p:spPr>
          <a:xfrm>
            <a:off x="914400" y="2743200"/>
            <a:ext cx="347472" cy="347472"/>
          </a:xfrm>
          <a:prstGeom prst="ellipse">
            <a:avLst/>
          </a:prstGeom>
          <a:solidFill>
            <a:srgbClr val="16DFF7"/>
          </a:solidFill>
          <a:ln w="12700">
            <a:solidFill>
              <a:srgbClr val="16DFF7">
                <a:alpha val="0"/>
              </a:srgbClr>
            </a:solidFill>
            <a:prstDash val="solid"/>
          </a:ln>
        </p:spPr>
      </p:sp>
      <p:sp>
        <p:nvSpPr>
          <p:cNvPr id="46" name="Text 43"/>
          <p:cNvSpPr/>
          <p:nvPr/>
        </p:nvSpPr>
        <p:spPr>
          <a:xfrm>
            <a:off x="914400" y="280720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1</a:t>
            </a:r>
            <a:endParaRPr lang="en-US" sz="800" dirty="0"/>
          </a:p>
        </p:txBody>
      </p:sp>
      <p:sp>
        <p:nvSpPr>
          <p:cNvPr id="47" name="Text 44"/>
          <p:cNvSpPr/>
          <p:nvPr/>
        </p:nvSpPr>
        <p:spPr>
          <a:xfrm>
            <a:off x="1417320" y="2798064"/>
            <a:ext cx="5212080" cy="219456"/>
          </a:xfrm>
          <a:prstGeom prst="rect">
            <a:avLst/>
          </a:prstGeom>
          <a:noFill/>
          <a:ln/>
        </p:spPr>
        <p:txBody>
          <a:bodyPr wrap="square" lIns="0" tIns="0" rIns="0" bIns="0" rtlCol="0" anchor="ctr">
            <a:normAutofit/>
          </a:bodyPr>
          <a:lstStyle/>
          <a:p>
            <a:pPr marL="0" indent="0">
              <a:buNone/>
            </a:pPr>
            <a:r>
              <a:rPr lang="en-US" sz="1020" dirty="0">
                <a:solidFill>
                  <a:srgbClr val="DDEAF2"/>
                </a:solidFill>
              </a:rPr>
              <a:t>Investigation Type distribution</a:t>
            </a:r>
            <a:endParaRPr lang="en-US" sz="1020" dirty="0"/>
          </a:p>
        </p:txBody>
      </p:sp>
      <p:sp>
        <p:nvSpPr>
          <p:cNvPr id="48" name="Shape 45"/>
          <p:cNvSpPr/>
          <p:nvPr/>
        </p:nvSpPr>
        <p:spPr>
          <a:xfrm>
            <a:off x="914400" y="3246120"/>
            <a:ext cx="347472" cy="347472"/>
          </a:xfrm>
          <a:prstGeom prst="ellipse">
            <a:avLst/>
          </a:prstGeom>
          <a:solidFill>
            <a:srgbClr val="3FE0B5"/>
          </a:solidFill>
          <a:ln w="12700">
            <a:solidFill>
              <a:srgbClr val="3FE0B5">
                <a:alpha val="0"/>
              </a:srgbClr>
            </a:solidFill>
            <a:prstDash val="solid"/>
          </a:ln>
        </p:spPr>
      </p:sp>
      <p:sp>
        <p:nvSpPr>
          <p:cNvPr id="49" name="Text 46"/>
          <p:cNvSpPr/>
          <p:nvPr/>
        </p:nvSpPr>
        <p:spPr>
          <a:xfrm>
            <a:off x="914400" y="331012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2</a:t>
            </a:r>
            <a:endParaRPr lang="en-US" sz="800" dirty="0"/>
          </a:p>
        </p:txBody>
      </p:sp>
      <p:sp>
        <p:nvSpPr>
          <p:cNvPr id="50" name="Text 47"/>
          <p:cNvSpPr/>
          <p:nvPr/>
        </p:nvSpPr>
        <p:spPr>
          <a:xfrm>
            <a:off x="1417320" y="3300984"/>
            <a:ext cx="5212080" cy="219456"/>
          </a:xfrm>
          <a:prstGeom prst="rect">
            <a:avLst/>
          </a:prstGeom>
          <a:noFill/>
          <a:ln/>
        </p:spPr>
        <p:txBody>
          <a:bodyPr wrap="square" lIns="0" tIns="0" rIns="0" bIns="0" rtlCol="0" anchor="ctr">
            <a:normAutofit/>
          </a:bodyPr>
          <a:lstStyle/>
          <a:p>
            <a:pPr marL="0" indent="0">
              <a:buNone/>
            </a:pPr>
            <a:r>
              <a:rPr lang="en-US" sz="1020" dirty="0">
                <a:solidFill>
                  <a:srgbClr val="DDEAF2"/>
                </a:solidFill>
              </a:rPr>
              <a:t>Top 10 aircraft manufacturers</a:t>
            </a:r>
            <a:endParaRPr lang="en-US" sz="1020" dirty="0"/>
          </a:p>
        </p:txBody>
      </p:sp>
      <p:sp>
        <p:nvSpPr>
          <p:cNvPr id="51" name="Shape 48"/>
          <p:cNvSpPr/>
          <p:nvPr/>
        </p:nvSpPr>
        <p:spPr>
          <a:xfrm>
            <a:off x="914400" y="3749040"/>
            <a:ext cx="347472" cy="347472"/>
          </a:xfrm>
          <a:prstGeom prst="ellipse">
            <a:avLst/>
          </a:prstGeom>
          <a:solidFill>
            <a:srgbClr val="FFB22C"/>
          </a:solidFill>
          <a:ln w="12700">
            <a:solidFill>
              <a:srgbClr val="FFB22C">
                <a:alpha val="0"/>
              </a:srgbClr>
            </a:solidFill>
            <a:prstDash val="solid"/>
          </a:ln>
        </p:spPr>
      </p:sp>
      <p:sp>
        <p:nvSpPr>
          <p:cNvPr id="52" name="Text 49"/>
          <p:cNvSpPr/>
          <p:nvPr/>
        </p:nvSpPr>
        <p:spPr>
          <a:xfrm>
            <a:off x="914400" y="381304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3</a:t>
            </a:r>
            <a:endParaRPr lang="en-US" sz="800" dirty="0"/>
          </a:p>
        </p:txBody>
      </p:sp>
      <p:sp>
        <p:nvSpPr>
          <p:cNvPr id="53" name="Text 50"/>
          <p:cNvSpPr/>
          <p:nvPr/>
        </p:nvSpPr>
        <p:spPr>
          <a:xfrm>
            <a:off x="1417320" y="3803904"/>
            <a:ext cx="5212080" cy="219456"/>
          </a:xfrm>
          <a:prstGeom prst="rect">
            <a:avLst/>
          </a:prstGeom>
          <a:noFill/>
          <a:ln/>
        </p:spPr>
        <p:txBody>
          <a:bodyPr wrap="square" lIns="0" tIns="0" rIns="0" bIns="0" rtlCol="0" anchor="ctr">
            <a:normAutofit/>
          </a:bodyPr>
          <a:lstStyle/>
          <a:p>
            <a:pPr marL="0" indent="0">
              <a:buNone/>
            </a:pPr>
            <a:r>
              <a:rPr lang="en-US" sz="1020" dirty="0">
                <a:solidFill>
                  <a:srgbClr val="DDEAF2"/>
                </a:solidFill>
              </a:rPr>
              <a:t>Weather Condition distribution</a:t>
            </a:r>
            <a:endParaRPr lang="en-US" sz="1020" dirty="0"/>
          </a:p>
        </p:txBody>
      </p:sp>
      <p:sp>
        <p:nvSpPr>
          <p:cNvPr id="54" name="Shape 51"/>
          <p:cNvSpPr/>
          <p:nvPr/>
        </p:nvSpPr>
        <p:spPr>
          <a:xfrm>
            <a:off x="914400" y="4251960"/>
            <a:ext cx="347472" cy="347472"/>
          </a:xfrm>
          <a:prstGeom prst="ellipse">
            <a:avLst/>
          </a:prstGeom>
          <a:solidFill>
            <a:srgbClr val="FF5D7A"/>
          </a:solidFill>
          <a:ln w="12700">
            <a:solidFill>
              <a:srgbClr val="FF5D7A">
                <a:alpha val="0"/>
              </a:srgbClr>
            </a:solidFill>
            <a:prstDash val="solid"/>
          </a:ln>
        </p:spPr>
      </p:sp>
      <p:sp>
        <p:nvSpPr>
          <p:cNvPr id="55" name="Text 52"/>
          <p:cNvSpPr/>
          <p:nvPr/>
        </p:nvSpPr>
        <p:spPr>
          <a:xfrm>
            <a:off x="914400" y="431596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4</a:t>
            </a:r>
            <a:endParaRPr lang="en-US" sz="800" dirty="0"/>
          </a:p>
        </p:txBody>
      </p:sp>
      <p:sp>
        <p:nvSpPr>
          <p:cNvPr id="56" name="Text 53"/>
          <p:cNvSpPr/>
          <p:nvPr/>
        </p:nvSpPr>
        <p:spPr>
          <a:xfrm>
            <a:off x="1417320" y="4306824"/>
            <a:ext cx="5212080" cy="219456"/>
          </a:xfrm>
          <a:prstGeom prst="rect">
            <a:avLst/>
          </a:prstGeom>
          <a:noFill/>
          <a:ln/>
        </p:spPr>
        <p:txBody>
          <a:bodyPr wrap="square" lIns="0" tIns="0" rIns="0" bIns="0" rtlCol="0" anchor="ctr">
            <a:normAutofit/>
          </a:bodyPr>
          <a:lstStyle/>
          <a:p>
            <a:pPr marL="0" indent="0">
              <a:buNone/>
            </a:pPr>
            <a:r>
              <a:rPr lang="en-US" sz="1020" dirty="0">
                <a:solidFill>
                  <a:srgbClr val="DDEAF2"/>
                </a:solidFill>
              </a:rPr>
              <a:t>Aircraft accidents over time</a:t>
            </a:r>
            <a:endParaRPr lang="en-US" sz="1020" dirty="0"/>
          </a:p>
        </p:txBody>
      </p:sp>
      <p:sp>
        <p:nvSpPr>
          <p:cNvPr id="57" name="Shape 54"/>
          <p:cNvSpPr/>
          <p:nvPr/>
        </p:nvSpPr>
        <p:spPr>
          <a:xfrm>
            <a:off x="914400" y="4754880"/>
            <a:ext cx="347472" cy="347472"/>
          </a:xfrm>
          <a:prstGeom prst="ellipse">
            <a:avLst/>
          </a:prstGeom>
          <a:solidFill>
            <a:srgbClr val="4B91FF"/>
          </a:solidFill>
          <a:ln w="12700">
            <a:solidFill>
              <a:srgbClr val="4B91FF">
                <a:alpha val="0"/>
              </a:srgbClr>
            </a:solidFill>
            <a:prstDash val="solid"/>
          </a:ln>
        </p:spPr>
      </p:sp>
      <p:sp>
        <p:nvSpPr>
          <p:cNvPr id="58" name="Text 55"/>
          <p:cNvSpPr/>
          <p:nvPr/>
        </p:nvSpPr>
        <p:spPr>
          <a:xfrm>
            <a:off x="914400" y="481888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5</a:t>
            </a:r>
            <a:endParaRPr lang="en-US" sz="800" dirty="0"/>
          </a:p>
        </p:txBody>
      </p:sp>
      <p:sp>
        <p:nvSpPr>
          <p:cNvPr id="59" name="Text 56"/>
          <p:cNvSpPr/>
          <p:nvPr/>
        </p:nvSpPr>
        <p:spPr>
          <a:xfrm>
            <a:off x="1417320" y="4809744"/>
            <a:ext cx="5212080" cy="219456"/>
          </a:xfrm>
          <a:prstGeom prst="rect">
            <a:avLst/>
          </a:prstGeom>
          <a:noFill/>
          <a:ln/>
        </p:spPr>
        <p:txBody>
          <a:bodyPr wrap="square" lIns="0" tIns="0" rIns="0" bIns="0" rtlCol="0" anchor="ctr">
            <a:normAutofit/>
          </a:bodyPr>
          <a:lstStyle/>
          <a:p>
            <a:pPr marL="0" indent="0">
              <a:buNone/>
            </a:pPr>
            <a:r>
              <a:rPr lang="en-US" sz="1020" dirty="0">
                <a:solidFill>
                  <a:srgbClr val="DDEAF2"/>
                </a:solidFill>
              </a:rPr>
              <a:t>Geographic distribution of accident locations.</a:t>
            </a:r>
            <a:endParaRPr lang="en-US" sz="1020" dirty="0"/>
          </a:p>
        </p:txBody>
      </p:sp>
      <p:sp>
        <p:nvSpPr>
          <p:cNvPr id="60" name="Shape 57"/>
          <p:cNvSpPr/>
          <p:nvPr/>
        </p:nvSpPr>
        <p:spPr>
          <a:xfrm>
            <a:off x="7507224" y="1481328"/>
            <a:ext cx="4041648" cy="4206240"/>
          </a:xfrm>
          <a:prstGeom prst="roundRect">
            <a:avLst>
              <a:gd name="adj" fmla="val 1810"/>
            </a:avLst>
          </a:prstGeom>
          <a:solidFill>
            <a:srgbClr val="0A2035"/>
          </a:solidFill>
          <a:ln w="11430">
            <a:solidFill>
              <a:srgbClr val="163F5D">
                <a:alpha val="90000"/>
              </a:srgbClr>
            </a:solidFill>
            <a:prstDash val="solid"/>
          </a:ln>
          <a:effectLst>
            <a:outerShdw algn="bl" rotWithShape="0">
              <a:srgbClr val="000000">
                <a:alpha val="0"/>
              </a:srgbClr>
            </a:outerShdw>
          </a:effectLst>
        </p:spPr>
      </p:sp>
      <p:sp>
        <p:nvSpPr>
          <p:cNvPr id="61" name="Shape 58"/>
          <p:cNvSpPr/>
          <p:nvPr/>
        </p:nvSpPr>
        <p:spPr>
          <a:xfrm>
            <a:off x="7507224" y="1481328"/>
            <a:ext cx="41148" cy="4206240"/>
          </a:xfrm>
          <a:prstGeom prst="rect">
            <a:avLst/>
          </a:prstGeom>
          <a:solidFill>
            <a:srgbClr val="45E4AF"/>
          </a:solidFill>
          <a:ln w="12700">
            <a:solidFill>
              <a:srgbClr val="45E4AF"/>
            </a:solidFill>
            <a:prstDash val="solid"/>
          </a:ln>
        </p:spPr>
      </p:sp>
      <p:sp>
        <p:nvSpPr>
          <p:cNvPr id="62" name="Text 59"/>
          <p:cNvSpPr/>
          <p:nvPr/>
        </p:nvSpPr>
        <p:spPr>
          <a:xfrm>
            <a:off x="7808976" y="1737360"/>
            <a:ext cx="2651760" cy="347472"/>
          </a:xfrm>
          <a:prstGeom prst="rect">
            <a:avLst/>
          </a:prstGeom>
          <a:noFill/>
          <a:ln/>
        </p:spPr>
        <p:txBody>
          <a:bodyPr wrap="square" lIns="0" tIns="0" rIns="0" bIns="0" rtlCol="0" anchor="ctr"/>
          <a:lstStyle/>
          <a:p>
            <a:pPr marL="0" indent="0">
              <a:buNone/>
            </a:pPr>
            <a:r>
              <a:rPr lang="en-US" sz="1500" b="1" dirty="0">
                <a:solidFill>
                  <a:srgbClr val="45E4AF"/>
                </a:solidFill>
              </a:rPr>
              <a:t>15. Final Dataset</a:t>
            </a:r>
            <a:endParaRPr lang="en-US" sz="1500" dirty="0"/>
          </a:p>
        </p:txBody>
      </p:sp>
      <p:sp>
        <p:nvSpPr>
          <p:cNvPr id="63" name="Text 60"/>
          <p:cNvSpPr/>
          <p:nvPr/>
        </p:nvSpPr>
        <p:spPr>
          <a:xfrm>
            <a:off x="7808976" y="2404872"/>
            <a:ext cx="3429000" cy="2029968"/>
          </a:xfrm>
          <a:prstGeom prst="rect">
            <a:avLst/>
          </a:prstGeom>
          <a:noFill/>
          <a:ln/>
        </p:spPr>
        <p:txBody>
          <a:bodyPr wrap="square" lIns="254" tIns="254" rIns="254" bIns="254" rtlCol="0" anchor="ctr">
            <a:normAutofit/>
          </a:bodyPr>
          <a:lstStyle/>
          <a:p>
            <a:pPr marL="0" indent="0">
              <a:buNone/>
            </a:pPr>
            <a:r>
              <a:rPr lang="en-US" sz="1220" dirty="0">
                <a:solidFill>
                  <a:srgbClr val="DDEAF2"/>
                </a:solidFill>
              </a:rPr>
              <a:t>After cleaning, validation, missing-value treatment, and duplicate removal, the dataset was saved as a new cleaned CSV file ready for further analysis and visualization.</a:t>
            </a:r>
            <a:endParaRPr lang="en-US" sz="1220" dirty="0"/>
          </a:p>
        </p:txBody>
      </p:sp>
      <p:sp>
        <p:nvSpPr>
          <p:cNvPr id="64" name="Shape 61"/>
          <p:cNvSpPr/>
          <p:nvPr/>
        </p:nvSpPr>
        <p:spPr>
          <a:xfrm>
            <a:off x="8257032" y="4809744"/>
            <a:ext cx="2606040" cy="384048"/>
          </a:xfrm>
          <a:prstGeom prst="roundRect">
            <a:avLst>
              <a:gd name="adj" fmla="val 14286"/>
            </a:avLst>
          </a:prstGeom>
          <a:solidFill>
            <a:srgbClr val="0C4A49"/>
          </a:solidFill>
          <a:ln w="10160">
            <a:solidFill>
              <a:srgbClr val="45E4AF"/>
            </a:solidFill>
            <a:prstDash val="solid"/>
          </a:ln>
        </p:spPr>
      </p:sp>
      <p:sp>
        <p:nvSpPr>
          <p:cNvPr id="65" name="Text 62"/>
          <p:cNvSpPr/>
          <p:nvPr/>
        </p:nvSpPr>
        <p:spPr>
          <a:xfrm>
            <a:off x="8375904" y="4937760"/>
            <a:ext cx="2359152" cy="100584"/>
          </a:xfrm>
          <a:prstGeom prst="rect">
            <a:avLst/>
          </a:prstGeom>
          <a:noFill/>
          <a:ln/>
        </p:spPr>
        <p:txBody>
          <a:bodyPr wrap="square" lIns="0" tIns="0" rIns="0" bIns="0" rtlCol="0" anchor="ctr"/>
          <a:lstStyle/>
          <a:p>
            <a:pPr marL="0" indent="0" algn="ctr">
              <a:buNone/>
            </a:pPr>
            <a:r>
              <a:rPr lang="en-US" sz="660" b="1" kern="0" spc="120" dirty="0">
                <a:solidFill>
                  <a:srgbClr val="45E4AF"/>
                </a:solidFill>
              </a:rPr>
              <a:t>CLEANED CSV • READY</a:t>
            </a:r>
            <a:endParaRPr lang="en-US" sz="660" dirty="0"/>
          </a:p>
        </p:txBody>
      </p:sp>
      <p:sp>
        <p:nvSpPr>
          <p:cNvPr id="66" name="Shape 63">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67" name="Text 64">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68" name="Shape 65">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69" name="Text 66">
            <a:hlinkClick r:id="rId5" action="ppaction://hlinksldjump"/>
          </p:cNvPr>
          <p:cNvSpPr/>
          <p:nvPr/>
        </p:nvSpPr>
        <p:spPr>
          <a:xfrm>
            <a:off x="10936224"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70"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8000"/>
              </a:srgbClr>
            </a:solidFill>
            <a:prstDash val="solid"/>
          </a:ln>
        </p:spPr>
      </p:sp>
      <p:sp>
        <p:nvSpPr>
          <p:cNvPr id="3" name="Shape 1"/>
          <p:cNvSpPr/>
          <p:nvPr/>
        </p:nvSpPr>
        <p:spPr>
          <a:xfrm>
            <a:off x="1051560" y="502920"/>
            <a:ext cx="0" cy="5715000"/>
          </a:xfrm>
          <a:prstGeom prst="line">
            <a:avLst/>
          </a:prstGeom>
          <a:noFill/>
          <a:ln w="5080">
            <a:solidFill>
              <a:srgbClr val="0B304B">
                <a:alpha val="8000"/>
              </a:srgbClr>
            </a:solidFill>
            <a:prstDash val="solid"/>
          </a:ln>
        </p:spPr>
      </p:sp>
      <p:sp>
        <p:nvSpPr>
          <p:cNvPr id="4" name="Shape 2"/>
          <p:cNvSpPr/>
          <p:nvPr/>
        </p:nvSpPr>
        <p:spPr>
          <a:xfrm>
            <a:off x="1554480" y="502920"/>
            <a:ext cx="0" cy="5715000"/>
          </a:xfrm>
          <a:prstGeom prst="line">
            <a:avLst/>
          </a:prstGeom>
          <a:noFill/>
          <a:ln w="5080">
            <a:solidFill>
              <a:srgbClr val="0B304B">
                <a:alpha val="8000"/>
              </a:srgbClr>
            </a:solidFill>
            <a:prstDash val="solid"/>
          </a:ln>
        </p:spPr>
      </p:sp>
      <p:sp>
        <p:nvSpPr>
          <p:cNvPr id="5" name="Shape 3"/>
          <p:cNvSpPr/>
          <p:nvPr/>
        </p:nvSpPr>
        <p:spPr>
          <a:xfrm>
            <a:off x="2057400" y="502920"/>
            <a:ext cx="0" cy="5715000"/>
          </a:xfrm>
          <a:prstGeom prst="line">
            <a:avLst/>
          </a:prstGeom>
          <a:noFill/>
          <a:ln w="5080">
            <a:solidFill>
              <a:srgbClr val="0B304B">
                <a:alpha val="8000"/>
              </a:srgbClr>
            </a:solidFill>
            <a:prstDash val="solid"/>
          </a:ln>
        </p:spPr>
      </p:sp>
      <p:sp>
        <p:nvSpPr>
          <p:cNvPr id="6" name="Shape 4"/>
          <p:cNvSpPr/>
          <p:nvPr/>
        </p:nvSpPr>
        <p:spPr>
          <a:xfrm>
            <a:off x="2560320" y="502920"/>
            <a:ext cx="0" cy="5715000"/>
          </a:xfrm>
          <a:prstGeom prst="line">
            <a:avLst/>
          </a:prstGeom>
          <a:noFill/>
          <a:ln w="5080">
            <a:solidFill>
              <a:srgbClr val="0B304B">
                <a:alpha val="8000"/>
              </a:srgbClr>
            </a:solidFill>
            <a:prstDash val="solid"/>
          </a:ln>
        </p:spPr>
      </p:sp>
      <p:sp>
        <p:nvSpPr>
          <p:cNvPr id="7" name="Shape 5"/>
          <p:cNvSpPr/>
          <p:nvPr/>
        </p:nvSpPr>
        <p:spPr>
          <a:xfrm>
            <a:off x="3063240" y="502920"/>
            <a:ext cx="0" cy="5715000"/>
          </a:xfrm>
          <a:prstGeom prst="line">
            <a:avLst/>
          </a:prstGeom>
          <a:noFill/>
          <a:ln w="5080">
            <a:solidFill>
              <a:srgbClr val="0B304B">
                <a:alpha val="8000"/>
              </a:srgbClr>
            </a:solidFill>
            <a:prstDash val="solid"/>
          </a:ln>
        </p:spPr>
      </p:sp>
      <p:sp>
        <p:nvSpPr>
          <p:cNvPr id="8" name="Shape 6"/>
          <p:cNvSpPr/>
          <p:nvPr/>
        </p:nvSpPr>
        <p:spPr>
          <a:xfrm>
            <a:off x="3566160" y="502920"/>
            <a:ext cx="0" cy="5715000"/>
          </a:xfrm>
          <a:prstGeom prst="line">
            <a:avLst/>
          </a:prstGeom>
          <a:noFill/>
          <a:ln w="5080">
            <a:solidFill>
              <a:srgbClr val="0B304B">
                <a:alpha val="8000"/>
              </a:srgbClr>
            </a:solidFill>
            <a:prstDash val="solid"/>
          </a:ln>
        </p:spPr>
      </p:sp>
      <p:sp>
        <p:nvSpPr>
          <p:cNvPr id="9" name="Shape 7"/>
          <p:cNvSpPr/>
          <p:nvPr/>
        </p:nvSpPr>
        <p:spPr>
          <a:xfrm>
            <a:off x="4069080" y="502920"/>
            <a:ext cx="0" cy="5715000"/>
          </a:xfrm>
          <a:prstGeom prst="line">
            <a:avLst/>
          </a:prstGeom>
          <a:noFill/>
          <a:ln w="5080">
            <a:solidFill>
              <a:srgbClr val="0B304B">
                <a:alpha val="8000"/>
              </a:srgbClr>
            </a:solidFill>
            <a:prstDash val="solid"/>
          </a:ln>
        </p:spPr>
      </p:sp>
      <p:sp>
        <p:nvSpPr>
          <p:cNvPr id="10" name="Shape 8"/>
          <p:cNvSpPr/>
          <p:nvPr/>
        </p:nvSpPr>
        <p:spPr>
          <a:xfrm>
            <a:off x="4572000" y="502920"/>
            <a:ext cx="0" cy="5715000"/>
          </a:xfrm>
          <a:prstGeom prst="line">
            <a:avLst/>
          </a:prstGeom>
          <a:noFill/>
          <a:ln w="5080">
            <a:solidFill>
              <a:srgbClr val="0B304B">
                <a:alpha val="8000"/>
              </a:srgbClr>
            </a:solidFill>
            <a:prstDash val="solid"/>
          </a:ln>
        </p:spPr>
      </p:sp>
      <p:sp>
        <p:nvSpPr>
          <p:cNvPr id="11" name="Shape 9"/>
          <p:cNvSpPr/>
          <p:nvPr/>
        </p:nvSpPr>
        <p:spPr>
          <a:xfrm>
            <a:off x="5074920" y="502920"/>
            <a:ext cx="0" cy="5715000"/>
          </a:xfrm>
          <a:prstGeom prst="line">
            <a:avLst/>
          </a:prstGeom>
          <a:noFill/>
          <a:ln w="5080">
            <a:solidFill>
              <a:srgbClr val="0B304B">
                <a:alpha val="8000"/>
              </a:srgbClr>
            </a:solidFill>
            <a:prstDash val="solid"/>
          </a:ln>
        </p:spPr>
      </p:sp>
      <p:sp>
        <p:nvSpPr>
          <p:cNvPr id="12" name="Shape 10"/>
          <p:cNvSpPr/>
          <p:nvPr/>
        </p:nvSpPr>
        <p:spPr>
          <a:xfrm>
            <a:off x="5577840" y="502920"/>
            <a:ext cx="0" cy="5715000"/>
          </a:xfrm>
          <a:prstGeom prst="line">
            <a:avLst/>
          </a:prstGeom>
          <a:noFill/>
          <a:ln w="5080">
            <a:solidFill>
              <a:srgbClr val="0B304B">
                <a:alpha val="8000"/>
              </a:srgbClr>
            </a:solidFill>
            <a:prstDash val="solid"/>
          </a:ln>
        </p:spPr>
      </p:sp>
      <p:sp>
        <p:nvSpPr>
          <p:cNvPr id="13" name="Shape 11"/>
          <p:cNvSpPr/>
          <p:nvPr/>
        </p:nvSpPr>
        <p:spPr>
          <a:xfrm>
            <a:off x="6080760" y="502920"/>
            <a:ext cx="0" cy="5715000"/>
          </a:xfrm>
          <a:prstGeom prst="line">
            <a:avLst/>
          </a:prstGeom>
          <a:noFill/>
          <a:ln w="5080">
            <a:solidFill>
              <a:srgbClr val="0B304B">
                <a:alpha val="8000"/>
              </a:srgbClr>
            </a:solidFill>
            <a:prstDash val="solid"/>
          </a:ln>
        </p:spPr>
      </p:sp>
      <p:sp>
        <p:nvSpPr>
          <p:cNvPr id="14" name="Shape 12"/>
          <p:cNvSpPr/>
          <p:nvPr/>
        </p:nvSpPr>
        <p:spPr>
          <a:xfrm>
            <a:off x="6583680" y="502920"/>
            <a:ext cx="0" cy="5715000"/>
          </a:xfrm>
          <a:prstGeom prst="line">
            <a:avLst/>
          </a:prstGeom>
          <a:noFill/>
          <a:ln w="5080">
            <a:solidFill>
              <a:srgbClr val="0B304B">
                <a:alpha val="8000"/>
              </a:srgbClr>
            </a:solidFill>
            <a:prstDash val="solid"/>
          </a:ln>
        </p:spPr>
      </p:sp>
      <p:sp>
        <p:nvSpPr>
          <p:cNvPr id="15" name="Shape 13"/>
          <p:cNvSpPr/>
          <p:nvPr/>
        </p:nvSpPr>
        <p:spPr>
          <a:xfrm>
            <a:off x="7086600" y="502920"/>
            <a:ext cx="0" cy="5715000"/>
          </a:xfrm>
          <a:prstGeom prst="line">
            <a:avLst/>
          </a:prstGeom>
          <a:noFill/>
          <a:ln w="5080">
            <a:solidFill>
              <a:srgbClr val="0B304B">
                <a:alpha val="8000"/>
              </a:srgbClr>
            </a:solidFill>
            <a:prstDash val="solid"/>
          </a:ln>
        </p:spPr>
      </p:sp>
      <p:sp>
        <p:nvSpPr>
          <p:cNvPr id="16" name="Shape 14"/>
          <p:cNvSpPr/>
          <p:nvPr/>
        </p:nvSpPr>
        <p:spPr>
          <a:xfrm>
            <a:off x="7589520" y="502920"/>
            <a:ext cx="0" cy="5715000"/>
          </a:xfrm>
          <a:prstGeom prst="line">
            <a:avLst/>
          </a:prstGeom>
          <a:noFill/>
          <a:ln w="5080">
            <a:solidFill>
              <a:srgbClr val="0B304B">
                <a:alpha val="8000"/>
              </a:srgbClr>
            </a:solidFill>
            <a:prstDash val="solid"/>
          </a:ln>
        </p:spPr>
      </p:sp>
      <p:sp>
        <p:nvSpPr>
          <p:cNvPr id="17" name="Shape 15"/>
          <p:cNvSpPr/>
          <p:nvPr/>
        </p:nvSpPr>
        <p:spPr>
          <a:xfrm>
            <a:off x="8092440" y="502920"/>
            <a:ext cx="0" cy="5715000"/>
          </a:xfrm>
          <a:prstGeom prst="line">
            <a:avLst/>
          </a:prstGeom>
          <a:noFill/>
          <a:ln w="5080">
            <a:solidFill>
              <a:srgbClr val="0B304B">
                <a:alpha val="8000"/>
              </a:srgbClr>
            </a:solidFill>
            <a:prstDash val="solid"/>
          </a:ln>
        </p:spPr>
      </p:sp>
      <p:sp>
        <p:nvSpPr>
          <p:cNvPr id="18" name="Shape 16"/>
          <p:cNvSpPr/>
          <p:nvPr/>
        </p:nvSpPr>
        <p:spPr>
          <a:xfrm>
            <a:off x="8595360" y="502920"/>
            <a:ext cx="0" cy="5715000"/>
          </a:xfrm>
          <a:prstGeom prst="line">
            <a:avLst/>
          </a:prstGeom>
          <a:noFill/>
          <a:ln w="5080">
            <a:solidFill>
              <a:srgbClr val="0B304B">
                <a:alpha val="8000"/>
              </a:srgbClr>
            </a:solidFill>
            <a:prstDash val="solid"/>
          </a:ln>
        </p:spPr>
      </p:sp>
      <p:sp>
        <p:nvSpPr>
          <p:cNvPr id="19" name="Shape 17"/>
          <p:cNvSpPr/>
          <p:nvPr/>
        </p:nvSpPr>
        <p:spPr>
          <a:xfrm>
            <a:off x="9098280" y="502920"/>
            <a:ext cx="0" cy="5715000"/>
          </a:xfrm>
          <a:prstGeom prst="line">
            <a:avLst/>
          </a:prstGeom>
          <a:noFill/>
          <a:ln w="5080">
            <a:solidFill>
              <a:srgbClr val="0B304B">
                <a:alpha val="8000"/>
              </a:srgbClr>
            </a:solidFill>
            <a:prstDash val="solid"/>
          </a:ln>
        </p:spPr>
      </p:sp>
      <p:sp>
        <p:nvSpPr>
          <p:cNvPr id="20" name="Shape 18"/>
          <p:cNvSpPr/>
          <p:nvPr/>
        </p:nvSpPr>
        <p:spPr>
          <a:xfrm>
            <a:off x="9601200" y="502920"/>
            <a:ext cx="0" cy="5715000"/>
          </a:xfrm>
          <a:prstGeom prst="line">
            <a:avLst/>
          </a:prstGeom>
          <a:noFill/>
          <a:ln w="5080">
            <a:solidFill>
              <a:srgbClr val="0B304B">
                <a:alpha val="8000"/>
              </a:srgbClr>
            </a:solidFill>
            <a:prstDash val="solid"/>
          </a:ln>
        </p:spPr>
      </p:sp>
      <p:sp>
        <p:nvSpPr>
          <p:cNvPr id="21" name="Shape 19"/>
          <p:cNvSpPr/>
          <p:nvPr/>
        </p:nvSpPr>
        <p:spPr>
          <a:xfrm>
            <a:off x="10104120" y="502920"/>
            <a:ext cx="0" cy="5715000"/>
          </a:xfrm>
          <a:prstGeom prst="line">
            <a:avLst/>
          </a:prstGeom>
          <a:noFill/>
          <a:ln w="5080">
            <a:solidFill>
              <a:srgbClr val="0B304B">
                <a:alpha val="8000"/>
              </a:srgbClr>
            </a:solidFill>
            <a:prstDash val="solid"/>
          </a:ln>
        </p:spPr>
      </p:sp>
      <p:sp>
        <p:nvSpPr>
          <p:cNvPr id="22" name="Shape 20"/>
          <p:cNvSpPr/>
          <p:nvPr/>
        </p:nvSpPr>
        <p:spPr>
          <a:xfrm>
            <a:off x="10607040" y="502920"/>
            <a:ext cx="0" cy="5715000"/>
          </a:xfrm>
          <a:prstGeom prst="line">
            <a:avLst/>
          </a:prstGeom>
          <a:noFill/>
          <a:ln w="5080">
            <a:solidFill>
              <a:srgbClr val="0B304B">
                <a:alpha val="8000"/>
              </a:srgbClr>
            </a:solidFill>
            <a:prstDash val="solid"/>
          </a:ln>
        </p:spPr>
      </p:sp>
      <p:sp>
        <p:nvSpPr>
          <p:cNvPr id="23" name="Shape 21"/>
          <p:cNvSpPr/>
          <p:nvPr/>
        </p:nvSpPr>
        <p:spPr>
          <a:xfrm>
            <a:off x="11109960" y="502920"/>
            <a:ext cx="0" cy="5715000"/>
          </a:xfrm>
          <a:prstGeom prst="line">
            <a:avLst/>
          </a:prstGeom>
          <a:noFill/>
          <a:ln w="5080">
            <a:solidFill>
              <a:srgbClr val="0B304B">
                <a:alpha val="8000"/>
              </a:srgbClr>
            </a:solidFill>
            <a:prstDash val="solid"/>
          </a:ln>
        </p:spPr>
      </p:sp>
      <p:sp>
        <p:nvSpPr>
          <p:cNvPr id="24" name="Shape 22"/>
          <p:cNvSpPr/>
          <p:nvPr/>
        </p:nvSpPr>
        <p:spPr>
          <a:xfrm>
            <a:off x="11612880" y="502920"/>
            <a:ext cx="0" cy="5715000"/>
          </a:xfrm>
          <a:prstGeom prst="line">
            <a:avLst/>
          </a:prstGeom>
          <a:noFill/>
          <a:ln w="5080">
            <a:solidFill>
              <a:srgbClr val="0B304B">
                <a:alpha val="8000"/>
              </a:srgbClr>
            </a:solidFill>
            <a:prstDash val="solid"/>
          </a:ln>
        </p:spPr>
      </p:sp>
      <p:sp>
        <p:nvSpPr>
          <p:cNvPr id="25" name="Shape 23"/>
          <p:cNvSpPr/>
          <p:nvPr/>
        </p:nvSpPr>
        <p:spPr>
          <a:xfrm>
            <a:off x="502920" y="566928"/>
            <a:ext cx="11201400" cy="0"/>
          </a:xfrm>
          <a:prstGeom prst="line">
            <a:avLst/>
          </a:prstGeom>
          <a:noFill/>
          <a:ln w="5080">
            <a:solidFill>
              <a:srgbClr val="0B304B">
                <a:alpha val="8000"/>
              </a:srgbClr>
            </a:solidFill>
            <a:prstDash val="solid"/>
          </a:ln>
        </p:spPr>
      </p:sp>
      <p:sp>
        <p:nvSpPr>
          <p:cNvPr id="26" name="Shape 24"/>
          <p:cNvSpPr/>
          <p:nvPr/>
        </p:nvSpPr>
        <p:spPr>
          <a:xfrm>
            <a:off x="502920" y="1069848"/>
            <a:ext cx="11201400" cy="0"/>
          </a:xfrm>
          <a:prstGeom prst="line">
            <a:avLst/>
          </a:prstGeom>
          <a:noFill/>
          <a:ln w="5080">
            <a:solidFill>
              <a:srgbClr val="0B304B">
                <a:alpha val="8000"/>
              </a:srgbClr>
            </a:solidFill>
            <a:prstDash val="solid"/>
          </a:ln>
        </p:spPr>
      </p:sp>
      <p:sp>
        <p:nvSpPr>
          <p:cNvPr id="27" name="Shape 25"/>
          <p:cNvSpPr/>
          <p:nvPr/>
        </p:nvSpPr>
        <p:spPr>
          <a:xfrm>
            <a:off x="502920" y="1572768"/>
            <a:ext cx="11201400" cy="0"/>
          </a:xfrm>
          <a:prstGeom prst="line">
            <a:avLst/>
          </a:prstGeom>
          <a:noFill/>
          <a:ln w="5080">
            <a:solidFill>
              <a:srgbClr val="0B304B">
                <a:alpha val="8000"/>
              </a:srgbClr>
            </a:solidFill>
            <a:prstDash val="solid"/>
          </a:ln>
        </p:spPr>
      </p:sp>
      <p:sp>
        <p:nvSpPr>
          <p:cNvPr id="28" name="Shape 26"/>
          <p:cNvSpPr/>
          <p:nvPr/>
        </p:nvSpPr>
        <p:spPr>
          <a:xfrm>
            <a:off x="502920" y="2075688"/>
            <a:ext cx="11201400" cy="0"/>
          </a:xfrm>
          <a:prstGeom prst="line">
            <a:avLst/>
          </a:prstGeom>
          <a:noFill/>
          <a:ln w="5080">
            <a:solidFill>
              <a:srgbClr val="0B304B">
                <a:alpha val="8000"/>
              </a:srgbClr>
            </a:solidFill>
            <a:prstDash val="solid"/>
          </a:ln>
        </p:spPr>
      </p:sp>
      <p:sp>
        <p:nvSpPr>
          <p:cNvPr id="29" name="Shape 27"/>
          <p:cNvSpPr/>
          <p:nvPr/>
        </p:nvSpPr>
        <p:spPr>
          <a:xfrm>
            <a:off x="502920" y="2578608"/>
            <a:ext cx="11201400" cy="0"/>
          </a:xfrm>
          <a:prstGeom prst="line">
            <a:avLst/>
          </a:prstGeom>
          <a:noFill/>
          <a:ln w="5080">
            <a:solidFill>
              <a:srgbClr val="0B304B">
                <a:alpha val="8000"/>
              </a:srgbClr>
            </a:solidFill>
            <a:prstDash val="solid"/>
          </a:ln>
        </p:spPr>
      </p:sp>
      <p:sp>
        <p:nvSpPr>
          <p:cNvPr id="30" name="Shape 28"/>
          <p:cNvSpPr/>
          <p:nvPr/>
        </p:nvSpPr>
        <p:spPr>
          <a:xfrm>
            <a:off x="502920" y="3081528"/>
            <a:ext cx="11201400" cy="0"/>
          </a:xfrm>
          <a:prstGeom prst="line">
            <a:avLst/>
          </a:prstGeom>
          <a:noFill/>
          <a:ln w="5080">
            <a:solidFill>
              <a:srgbClr val="0B304B">
                <a:alpha val="8000"/>
              </a:srgbClr>
            </a:solidFill>
            <a:prstDash val="solid"/>
          </a:ln>
        </p:spPr>
      </p:sp>
      <p:sp>
        <p:nvSpPr>
          <p:cNvPr id="31" name="Shape 29"/>
          <p:cNvSpPr/>
          <p:nvPr/>
        </p:nvSpPr>
        <p:spPr>
          <a:xfrm>
            <a:off x="502920" y="3584448"/>
            <a:ext cx="11201400" cy="0"/>
          </a:xfrm>
          <a:prstGeom prst="line">
            <a:avLst/>
          </a:prstGeom>
          <a:noFill/>
          <a:ln w="5080">
            <a:solidFill>
              <a:srgbClr val="0B304B">
                <a:alpha val="8000"/>
              </a:srgbClr>
            </a:solidFill>
            <a:prstDash val="solid"/>
          </a:ln>
        </p:spPr>
      </p:sp>
      <p:sp>
        <p:nvSpPr>
          <p:cNvPr id="32" name="Shape 30"/>
          <p:cNvSpPr/>
          <p:nvPr/>
        </p:nvSpPr>
        <p:spPr>
          <a:xfrm>
            <a:off x="502920" y="4087368"/>
            <a:ext cx="11201400" cy="0"/>
          </a:xfrm>
          <a:prstGeom prst="line">
            <a:avLst/>
          </a:prstGeom>
          <a:noFill/>
          <a:ln w="5080">
            <a:solidFill>
              <a:srgbClr val="0B304B">
                <a:alpha val="8000"/>
              </a:srgbClr>
            </a:solidFill>
            <a:prstDash val="solid"/>
          </a:ln>
        </p:spPr>
      </p:sp>
      <p:sp>
        <p:nvSpPr>
          <p:cNvPr id="33" name="Shape 31"/>
          <p:cNvSpPr/>
          <p:nvPr/>
        </p:nvSpPr>
        <p:spPr>
          <a:xfrm>
            <a:off x="502920" y="4590288"/>
            <a:ext cx="11201400" cy="0"/>
          </a:xfrm>
          <a:prstGeom prst="line">
            <a:avLst/>
          </a:prstGeom>
          <a:noFill/>
          <a:ln w="5080">
            <a:solidFill>
              <a:srgbClr val="0B304B">
                <a:alpha val="8000"/>
              </a:srgbClr>
            </a:solidFill>
            <a:prstDash val="solid"/>
          </a:ln>
        </p:spPr>
      </p:sp>
      <p:sp>
        <p:nvSpPr>
          <p:cNvPr id="34" name="Shape 32"/>
          <p:cNvSpPr/>
          <p:nvPr/>
        </p:nvSpPr>
        <p:spPr>
          <a:xfrm>
            <a:off x="502920" y="5093208"/>
            <a:ext cx="11201400" cy="0"/>
          </a:xfrm>
          <a:prstGeom prst="line">
            <a:avLst/>
          </a:prstGeom>
          <a:noFill/>
          <a:ln w="5080">
            <a:solidFill>
              <a:srgbClr val="0B304B">
                <a:alpha val="8000"/>
              </a:srgbClr>
            </a:solidFill>
            <a:prstDash val="solid"/>
          </a:ln>
        </p:spPr>
      </p:sp>
      <p:sp>
        <p:nvSpPr>
          <p:cNvPr id="35" name="Shape 33"/>
          <p:cNvSpPr/>
          <p:nvPr/>
        </p:nvSpPr>
        <p:spPr>
          <a:xfrm>
            <a:off x="502920" y="5596128"/>
            <a:ext cx="11201400" cy="0"/>
          </a:xfrm>
          <a:prstGeom prst="line">
            <a:avLst/>
          </a:prstGeom>
          <a:noFill/>
          <a:ln w="5080">
            <a:solidFill>
              <a:srgbClr val="0B304B">
                <a:alpha val="8000"/>
              </a:srgbClr>
            </a:solidFill>
            <a:prstDash val="solid"/>
          </a:ln>
        </p:spPr>
      </p:sp>
      <p:sp>
        <p:nvSpPr>
          <p:cNvPr id="36" name="Shape 34"/>
          <p:cNvSpPr/>
          <p:nvPr/>
        </p:nvSpPr>
        <p:spPr>
          <a:xfrm>
            <a:off x="502920" y="6099048"/>
            <a:ext cx="11201400" cy="0"/>
          </a:xfrm>
          <a:prstGeom prst="line">
            <a:avLst/>
          </a:prstGeom>
          <a:noFill/>
          <a:ln w="5080">
            <a:solidFill>
              <a:srgbClr val="0B304B">
                <a:alpha val="8000"/>
              </a:srgbClr>
            </a:solidFill>
            <a:prstDash val="solid"/>
          </a:ln>
        </p:spPr>
      </p:sp>
      <p:sp>
        <p:nvSpPr>
          <p:cNvPr id="37" name="Shape 35"/>
          <p:cNvSpPr/>
          <p:nvPr/>
        </p:nvSpPr>
        <p:spPr>
          <a:xfrm>
            <a:off x="502920" y="320040"/>
            <a:ext cx="1417320" cy="256032"/>
          </a:xfrm>
          <a:prstGeom prst="roundRect">
            <a:avLst>
              <a:gd name="adj" fmla="val 17857"/>
            </a:avLst>
          </a:prstGeom>
          <a:solidFill>
            <a:srgbClr val="09273D"/>
          </a:solidFill>
          <a:ln w="10160">
            <a:solidFill>
              <a:srgbClr val="16DFF7">
                <a:alpha val="65000"/>
              </a:srgbClr>
            </a:solidFill>
            <a:prstDash val="solid"/>
          </a:ln>
        </p:spPr>
      </p:sp>
      <p:sp>
        <p:nvSpPr>
          <p:cNvPr id="38"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16DFF7"/>
                </a:solidFill>
                <a:latin typeface="Aptos" pitchFamily="34" charset="0"/>
                <a:ea typeface="Aptos" pitchFamily="34" charset="-122"/>
                <a:cs typeface="Aptos" pitchFamily="34" charset="-120"/>
              </a:rPr>
              <a:t>DASHBOARD 1</a:t>
            </a:r>
            <a:endParaRPr lang="en-US" sz="560" dirty="0"/>
          </a:p>
        </p:txBody>
      </p:sp>
      <p:sp>
        <p:nvSpPr>
          <p:cNvPr id="39"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Dashboard 1 — Safety Trends Overview</a:t>
            </a:r>
            <a:endParaRPr lang="en-US" sz="2350" dirty="0"/>
          </a:p>
        </p:txBody>
      </p:sp>
      <p:pic>
        <p:nvPicPr>
          <p:cNvPr id="40" name="Image 0" descr="/mnt/data/radar_sweep.gif"/>
          <p:cNvPicPr>
            <a:picLocks noChangeAspect="1"/>
          </p:cNvPicPr>
          <p:nvPr/>
        </p:nvPicPr>
        <p:blipFill>
          <a:blip r:embed="rId3"/>
          <a:stretch>
            <a:fillRect/>
          </a:stretch>
        </p:blipFill>
        <p:spPr>
          <a:xfrm>
            <a:off x="10625328" y="621792"/>
            <a:ext cx="713232" cy="713232"/>
          </a:xfrm>
          <a:prstGeom prst="rect">
            <a:avLst/>
          </a:prstGeom>
        </p:spPr>
      </p:pic>
      <p:sp>
        <p:nvSpPr>
          <p:cNvPr id="41" name="Shape 38"/>
          <p:cNvSpPr/>
          <p:nvPr/>
        </p:nvSpPr>
        <p:spPr>
          <a:xfrm>
            <a:off x="566928" y="1536192"/>
            <a:ext cx="5321808" cy="731520"/>
          </a:xfrm>
          <a:prstGeom prst="roundRect">
            <a:avLst>
              <a:gd name="adj" fmla="val 10000"/>
            </a:avLst>
          </a:prstGeom>
          <a:solidFill>
            <a:srgbClr val="0A2035"/>
          </a:solidFill>
          <a:ln w="11430">
            <a:solidFill>
              <a:srgbClr val="16445F">
                <a:alpha val="90000"/>
              </a:srgbClr>
            </a:solidFill>
            <a:prstDash val="solid"/>
          </a:ln>
        </p:spPr>
      </p:sp>
      <p:sp>
        <p:nvSpPr>
          <p:cNvPr id="42" name="Shape 39"/>
          <p:cNvSpPr/>
          <p:nvPr/>
        </p:nvSpPr>
        <p:spPr>
          <a:xfrm>
            <a:off x="566928" y="1536192"/>
            <a:ext cx="41148" cy="731520"/>
          </a:xfrm>
          <a:prstGeom prst="rect">
            <a:avLst/>
          </a:prstGeom>
          <a:solidFill>
            <a:srgbClr val="16DFF7"/>
          </a:solidFill>
          <a:ln w="12700">
            <a:solidFill>
              <a:srgbClr val="16DFF7"/>
            </a:solidFill>
            <a:prstDash val="solid"/>
          </a:ln>
        </p:spPr>
      </p:sp>
      <p:sp>
        <p:nvSpPr>
          <p:cNvPr id="43" name="Shape 40"/>
          <p:cNvSpPr/>
          <p:nvPr/>
        </p:nvSpPr>
        <p:spPr>
          <a:xfrm>
            <a:off x="731520" y="1709928"/>
            <a:ext cx="347472" cy="347472"/>
          </a:xfrm>
          <a:prstGeom prst="ellipse">
            <a:avLst/>
          </a:prstGeom>
          <a:solidFill>
            <a:srgbClr val="16DFF7"/>
          </a:solidFill>
          <a:ln w="12700">
            <a:solidFill>
              <a:srgbClr val="16DFF7">
                <a:alpha val="0"/>
              </a:srgbClr>
            </a:solidFill>
            <a:prstDash val="solid"/>
          </a:ln>
        </p:spPr>
      </p:sp>
      <p:sp>
        <p:nvSpPr>
          <p:cNvPr id="44" name="Text 41"/>
          <p:cNvSpPr/>
          <p:nvPr/>
        </p:nvSpPr>
        <p:spPr>
          <a:xfrm>
            <a:off x="731520" y="1773936"/>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1</a:t>
            </a:r>
            <a:endParaRPr lang="en-US" sz="800" dirty="0"/>
          </a:p>
        </p:txBody>
      </p:sp>
      <p:sp>
        <p:nvSpPr>
          <p:cNvPr id="45" name="Text 42"/>
          <p:cNvSpPr/>
          <p:nvPr/>
        </p:nvSpPr>
        <p:spPr>
          <a:xfrm>
            <a:off x="1225296" y="1664208"/>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How has the number of accidents changed year over year?</a:t>
            </a:r>
            <a:endParaRPr lang="en-US" sz="930" dirty="0"/>
          </a:p>
        </p:txBody>
      </p:sp>
      <p:sp>
        <p:nvSpPr>
          <p:cNvPr id="46" name="Shape 43"/>
          <p:cNvSpPr/>
          <p:nvPr/>
        </p:nvSpPr>
        <p:spPr>
          <a:xfrm>
            <a:off x="6153912" y="1536192"/>
            <a:ext cx="5321808" cy="731520"/>
          </a:xfrm>
          <a:prstGeom prst="roundRect">
            <a:avLst>
              <a:gd name="adj" fmla="val 10000"/>
            </a:avLst>
          </a:prstGeom>
          <a:solidFill>
            <a:srgbClr val="0A2035"/>
          </a:solidFill>
          <a:ln w="11430">
            <a:solidFill>
              <a:srgbClr val="16445F">
                <a:alpha val="90000"/>
              </a:srgbClr>
            </a:solidFill>
            <a:prstDash val="solid"/>
          </a:ln>
        </p:spPr>
      </p:sp>
      <p:sp>
        <p:nvSpPr>
          <p:cNvPr id="47" name="Shape 44"/>
          <p:cNvSpPr/>
          <p:nvPr/>
        </p:nvSpPr>
        <p:spPr>
          <a:xfrm>
            <a:off x="6153912" y="1536192"/>
            <a:ext cx="41148" cy="731520"/>
          </a:xfrm>
          <a:prstGeom prst="rect">
            <a:avLst/>
          </a:prstGeom>
          <a:solidFill>
            <a:srgbClr val="16DFF7"/>
          </a:solidFill>
          <a:ln w="12700">
            <a:solidFill>
              <a:srgbClr val="16DFF7"/>
            </a:solidFill>
            <a:prstDash val="solid"/>
          </a:ln>
        </p:spPr>
      </p:sp>
      <p:sp>
        <p:nvSpPr>
          <p:cNvPr id="48" name="Shape 45"/>
          <p:cNvSpPr/>
          <p:nvPr/>
        </p:nvSpPr>
        <p:spPr>
          <a:xfrm>
            <a:off x="6318504" y="1709928"/>
            <a:ext cx="347472" cy="347472"/>
          </a:xfrm>
          <a:prstGeom prst="ellipse">
            <a:avLst/>
          </a:prstGeom>
          <a:solidFill>
            <a:srgbClr val="16DFF7"/>
          </a:solidFill>
          <a:ln w="12700">
            <a:solidFill>
              <a:srgbClr val="16DFF7">
                <a:alpha val="0"/>
              </a:srgbClr>
            </a:solidFill>
            <a:prstDash val="solid"/>
          </a:ln>
        </p:spPr>
      </p:sp>
      <p:sp>
        <p:nvSpPr>
          <p:cNvPr id="49" name="Text 46"/>
          <p:cNvSpPr/>
          <p:nvPr/>
        </p:nvSpPr>
        <p:spPr>
          <a:xfrm>
            <a:off x="6318504" y="1773936"/>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2</a:t>
            </a:r>
            <a:endParaRPr lang="en-US" sz="800" dirty="0"/>
          </a:p>
        </p:txBody>
      </p:sp>
      <p:sp>
        <p:nvSpPr>
          <p:cNvPr id="50" name="Text 47"/>
          <p:cNvSpPr/>
          <p:nvPr/>
        </p:nvSpPr>
        <p:spPr>
          <a:xfrm>
            <a:off x="6812280" y="1664208"/>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What percentage of accidents result in fatal injuries vs non-fatal?</a:t>
            </a:r>
            <a:endParaRPr lang="en-US" sz="930" dirty="0"/>
          </a:p>
        </p:txBody>
      </p:sp>
      <p:sp>
        <p:nvSpPr>
          <p:cNvPr id="51" name="Shape 48"/>
          <p:cNvSpPr/>
          <p:nvPr/>
        </p:nvSpPr>
        <p:spPr>
          <a:xfrm>
            <a:off x="566928" y="2395728"/>
            <a:ext cx="5321808" cy="731520"/>
          </a:xfrm>
          <a:prstGeom prst="roundRect">
            <a:avLst>
              <a:gd name="adj" fmla="val 10000"/>
            </a:avLst>
          </a:prstGeom>
          <a:solidFill>
            <a:srgbClr val="0A2035"/>
          </a:solidFill>
          <a:ln w="11430">
            <a:solidFill>
              <a:srgbClr val="16445F">
                <a:alpha val="90000"/>
              </a:srgbClr>
            </a:solidFill>
            <a:prstDash val="solid"/>
          </a:ln>
        </p:spPr>
      </p:sp>
      <p:sp>
        <p:nvSpPr>
          <p:cNvPr id="52" name="Shape 49"/>
          <p:cNvSpPr/>
          <p:nvPr/>
        </p:nvSpPr>
        <p:spPr>
          <a:xfrm>
            <a:off x="566928" y="2395728"/>
            <a:ext cx="41148" cy="731520"/>
          </a:xfrm>
          <a:prstGeom prst="rect">
            <a:avLst/>
          </a:prstGeom>
          <a:solidFill>
            <a:srgbClr val="16DFF7"/>
          </a:solidFill>
          <a:ln w="12700">
            <a:solidFill>
              <a:srgbClr val="16DFF7"/>
            </a:solidFill>
            <a:prstDash val="solid"/>
          </a:ln>
        </p:spPr>
      </p:sp>
      <p:sp>
        <p:nvSpPr>
          <p:cNvPr id="53" name="Shape 50"/>
          <p:cNvSpPr/>
          <p:nvPr/>
        </p:nvSpPr>
        <p:spPr>
          <a:xfrm>
            <a:off x="731520" y="2569464"/>
            <a:ext cx="347472" cy="347472"/>
          </a:xfrm>
          <a:prstGeom prst="ellipse">
            <a:avLst/>
          </a:prstGeom>
          <a:solidFill>
            <a:srgbClr val="16DFF7"/>
          </a:solidFill>
          <a:ln w="12700">
            <a:solidFill>
              <a:srgbClr val="16DFF7">
                <a:alpha val="0"/>
              </a:srgbClr>
            </a:solidFill>
            <a:prstDash val="solid"/>
          </a:ln>
        </p:spPr>
      </p:sp>
      <p:sp>
        <p:nvSpPr>
          <p:cNvPr id="54" name="Text 51"/>
          <p:cNvSpPr/>
          <p:nvPr/>
        </p:nvSpPr>
        <p:spPr>
          <a:xfrm>
            <a:off x="731520" y="2633472"/>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3</a:t>
            </a:r>
            <a:endParaRPr lang="en-US" sz="800" dirty="0"/>
          </a:p>
        </p:txBody>
      </p:sp>
      <p:sp>
        <p:nvSpPr>
          <p:cNvPr id="55" name="Text 52"/>
          <p:cNvSpPr/>
          <p:nvPr/>
        </p:nvSpPr>
        <p:spPr>
          <a:xfrm>
            <a:off x="1225296" y="2523744"/>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What is the trend in total fatalities per year?</a:t>
            </a:r>
            <a:endParaRPr lang="en-US" sz="930" dirty="0"/>
          </a:p>
        </p:txBody>
      </p:sp>
      <p:sp>
        <p:nvSpPr>
          <p:cNvPr id="56" name="Shape 53"/>
          <p:cNvSpPr/>
          <p:nvPr/>
        </p:nvSpPr>
        <p:spPr>
          <a:xfrm>
            <a:off x="6153912" y="2395728"/>
            <a:ext cx="5321808" cy="731520"/>
          </a:xfrm>
          <a:prstGeom prst="roundRect">
            <a:avLst>
              <a:gd name="adj" fmla="val 10000"/>
            </a:avLst>
          </a:prstGeom>
          <a:solidFill>
            <a:srgbClr val="0A2035"/>
          </a:solidFill>
          <a:ln w="11430">
            <a:solidFill>
              <a:srgbClr val="16445F">
                <a:alpha val="90000"/>
              </a:srgbClr>
            </a:solidFill>
            <a:prstDash val="solid"/>
          </a:ln>
        </p:spPr>
      </p:sp>
      <p:sp>
        <p:nvSpPr>
          <p:cNvPr id="57" name="Shape 54"/>
          <p:cNvSpPr/>
          <p:nvPr/>
        </p:nvSpPr>
        <p:spPr>
          <a:xfrm>
            <a:off x="6153912" y="2395728"/>
            <a:ext cx="41148" cy="731520"/>
          </a:xfrm>
          <a:prstGeom prst="rect">
            <a:avLst/>
          </a:prstGeom>
          <a:solidFill>
            <a:srgbClr val="16DFF7"/>
          </a:solidFill>
          <a:ln w="12700">
            <a:solidFill>
              <a:srgbClr val="16DFF7"/>
            </a:solidFill>
            <a:prstDash val="solid"/>
          </a:ln>
        </p:spPr>
      </p:sp>
      <p:sp>
        <p:nvSpPr>
          <p:cNvPr id="58" name="Shape 55"/>
          <p:cNvSpPr/>
          <p:nvPr/>
        </p:nvSpPr>
        <p:spPr>
          <a:xfrm>
            <a:off x="6318504" y="2569464"/>
            <a:ext cx="347472" cy="347472"/>
          </a:xfrm>
          <a:prstGeom prst="ellipse">
            <a:avLst/>
          </a:prstGeom>
          <a:solidFill>
            <a:srgbClr val="16DFF7"/>
          </a:solidFill>
          <a:ln w="12700">
            <a:solidFill>
              <a:srgbClr val="16DFF7">
                <a:alpha val="0"/>
              </a:srgbClr>
            </a:solidFill>
            <a:prstDash val="solid"/>
          </a:ln>
        </p:spPr>
      </p:sp>
      <p:sp>
        <p:nvSpPr>
          <p:cNvPr id="59" name="Text 56"/>
          <p:cNvSpPr/>
          <p:nvPr/>
        </p:nvSpPr>
        <p:spPr>
          <a:xfrm>
            <a:off x="6318504" y="2633472"/>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4</a:t>
            </a:r>
            <a:endParaRPr lang="en-US" sz="800" dirty="0"/>
          </a:p>
        </p:txBody>
      </p:sp>
      <p:sp>
        <p:nvSpPr>
          <p:cNvPr id="60" name="Text 57"/>
          <p:cNvSpPr/>
          <p:nvPr/>
        </p:nvSpPr>
        <p:spPr>
          <a:xfrm>
            <a:off x="6812280" y="2523744"/>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Which years had the highest number of "Uninjured" outcomes (survivability trend)?</a:t>
            </a:r>
            <a:endParaRPr lang="en-US" sz="930" dirty="0"/>
          </a:p>
        </p:txBody>
      </p:sp>
      <p:sp>
        <p:nvSpPr>
          <p:cNvPr id="61" name="Shape 58"/>
          <p:cNvSpPr/>
          <p:nvPr/>
        </p:nvSpPr>
        <p:spPr>
          <a:xfrm>
            <a:off x="566928" y="3255264"/>
            <a:ext cx="5321808" cy="731520"/>
          </a:xfrm>
          <a:prstGeom prst="roundRect">
            <a:avLst>
              <a:gd name="adj" fmla="val 10000"/>
            </a:avLst>
          </a:prstGeom>
          <a:solidFill>
            <a:srgbClr val="0A2035"/>
          </a:solidFill>
          <a:ln w="11430">
            <a:solidFill>
              <a:srgbClr val="16445F">
                <a:alpha val="90000"/>
              </a:srgbClr>
            </a:solidFill>
            <a:prstDash val="solid"/>
          </a:ln>
        </p:spPr>
      </p:sp>
      <p:sp>
        <p:nvSpPr>
          <p:cNvPr id="62" name="Shape 59"/>
          <p:cNvSpPr/>
          <p:nvPr/>
        </p:nvSpPr>
        <p:spPr>
          <a:xfrm>
            <a:off x="566928" y="3255264"/>
            <a:ext cx="41148" cy="731520"/>
          </a:xfrm>
          <a:prstGeom prst="rect">
            <a:avLst/>
          </a:prstGeom>
          <a:solidFill>
            <a:srgbClr val="16DFF7"/>
          </a:solidFill>
          <a:ln w="12700">
            <a:solidFill>
              <a:srgbClr val="16DFF7"/>
            </a:solidFill>
            <a:prstDash val="solid"/>
          </a:ln>
        </p:spPr>
      </p:sp>
      <p:sp>
        <p:nvSpPr>
          <p:cNvPr id="63" name="Shape 60"/>
          <p:cNvSpPr/>
          <p:nvPr/>
        </p:nvSpPr>
        <p:spPr>
          <a:xfrm>
            <a:off x="731520" y="3429000"/>
            <a:ext cx="347472" cy="347472"/>
          </a:xfrm>
          <a:prstGeom prst="ellipse">
            <a:avLst/>
          </a:prstGeom>
          <a:solidFill>
            <a:srgbClr val="16DFF7"/>
          </a:solidFill>
          <a:ln w="12700">
            <a:solidFill>
              <a:srgbClr val="16DFF7">
                <a:alpha val="0"/>
              </a:srgbClr>
            </a:solidFill>
            <a:prstDash val="solid"/>
          </a:ln>
        </p:spPr>
      </p:sp>
      <p:sp>
        <p:nvSpPr>
          <p:cNvPr id="64" name="Text 61"/>
          <p:cNvSpPr/>
          <p:nvPr/>
        </p:nvSpPr>
        <p:spPr>
          <a:xfrm>
            <a:off x="731520" y="349300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5</a:t>
            </a:r>
            <a:endParaRPr lang="en-US" sz="800" dirty="0"/>
          </a:p>
        </p:txBody>
      </p:sp>
      <p:sp>
        <p:nvSpPr>
          <p:cNvPr id="65" name="Text 62"/>
          <p:cNvSpPr/>
          <p:nvPr/>
        </p:nvSpPr>
        <p:spPr>
          <a:xfrm>
            <a:off x="1225296" y="3383280"/>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What is the ratio of "Accident" vs "Incident" investigation types over time?</a:t>
            </a:r>
            <a:endParaRPr lang="en-US" sz="930" dirty="0"/>
          </a:p>
        </p:txBody>
      </p:sp>
      <p:sp>
        <p:nvSpPr>
          <p:cNvPr id="66" name="Shape 63"/>
          <p:cNvSpPr/>
          <p:nvPr/>
        </p:nvSpPr>
        <p:spPr>
          <a:xfrm>
            <a:off x="6153912" y="3255264"/>
            <a:ext cx="5321808" cy="731520"/>
          </a:xfrm>
          <a:prstGeom prst="roundRect">
            <a:avLst>
              <a:gd name="adj" fmla="val 10000"/>
            </a:avLst>
          </a:prstGeom>
          <a:solidFill>
            <a:srgbClr val="0A2035"/>
          </a:solidFill>
          <a:ln w="11430">
            <a:solidFill>
              <a:srgbClr val="16445F">
                <a:alpha val="90000"/>
              </a:srgbClr>
            </a:solidFill>
            <a:prstDash val="solid"/>
          </a:ln>
        </p:spPr>
      </p:sp>
      <p:sp>
        <p:nvSpPr>
          <p:cNvPr id="67" name="Shape 64"/>
          <p:cNvSpPr/>
          <p:nvPr/>
        </p:nvSpPr>
        <p:spPr>
          <a:xfrm>
            <a:off x="6153912" y="3255264"/>
            <a:ext cx="41148" cy="731520"/>
          </a:xfrm>
          <a:prstGeom prst="rect">
            <a:avLst/>
          </a:prstGeom>
          <a:solidFill>
            <a:srgbClr val="16DFF7"/>
          </a:solidFill>
          <a:ln w="12700">
            <a:solidFill>
              <a:srgbClr val="16DFF7"/>
            </a:solidFill>
            <a:prstDash val="solid"/>
          </a:ln>
        </p:spPr>
      </p:sp>
      <p:sp>
        <p:nvSpPr>
          <p:cNvPr id="68" name="Shape 65"/>
          <p:cNvSpPr/>
          <p:nvPr/>
        </p:nvSpPr>
        <p:spPr>
          <a:xfrm>
            <a:off x="6318504" y="3429000"/>
            <a:ext cx="347472" cy="347472"/>
          </a:xfrm>
          <a:prstGeom prst="ellipse">
            <a:avLst/>
          </a:prstGeom>
          <a:solidFill>
            <a:srgbClr val="16DFF7"/>
          </a:solidFill>
          <a:ln w="12700">
            <a:solidFill>
              <a:srgbClr val="16DFF7">
                <a:alpha val="0"/>
              </a:srgbClr>
            </a:solidFill>
            <a:prstDash val="solid"/>
          </a:ln>
        </p:spPr>
      </p:sp>
      <p:sp>
        <p:nvSpPr>
          <p:cNvPr id="69" name="Text 66"/>
          <p:cNvSpPr/>
          <p:nvPr/>
        </p:nvSpPr>
        <p:spPr>
          <a:xfrm>
            <a:off x="6318504" y="349300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6</a:t>
            </a:r>
            <a:endParaRPr lang="en-US" sz="800" dirty="0"/>
          </a:p>
        </p:txBody>
      </p:sp>
      <p:sp>
        <p:nvSpPr>
          <p:cNvPr id="70" name="Text 67"/>
          <p:cNvSpPr/>
          <p:nvPr/>
        </p:nvSpPr>
        <p:spPr>
          <a:xfrm>
            <a:off x="6812280" y="3383280"/>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How many accidents were reported with a significant delay between event date and report publication date?</a:t>
            </a:r>
            <a:endParaRPr lang="en-US" sz="930" dirty="0"/>
          </a:p>
        </p:txBody>
      </p:sp>
      <p:sp>
        <p:nvSpPr>
          <p:cNvPr id="71" name="Shape 68"/>
          <p:cNvSpPr/>
          <p:nvPr/>
        </p:nvSpPr>
        <p:spPr>
          <a:xfrm>
            <a:off x="566928" y="4114800"/>
            <a:ext cx="5321808" cy="731520"/>
          </a:xfrm>
          <a:prstGeom prst="roundRect">
            <a:avLst>
              <a:gd name="adj" fmla="val 10000"/>
            </a:avLst>
          </a:prstGeom>
          <a:solidFill>
            <a:srgbClr val="0A2035"/>
          </a:solidFill>
          <a:ln w="11430">
            <a:solidFill>
              <a:srgbClr val="16445F">
                <a:alpha val="90000"/>
              </a:srgbClr>
            </a:solidFill>
            <a:prstDash val="solid"/>
          </a:ln>
        </p:spPr>
      </p:sp>
      <p:sp>
        <p:nvSpPr>
          <p:cNvPr id="72" name="Shape 69"/>
          <p:cNvSpPr/>
          <p:nvPr/>
        </p:nvSpPr>
        <p:spPr>
          <a:xfrm>
            <a:off x="566928" y="4114800"/>
            <a:ext cx="41148" cy="731520"/>
          </a:xfrm>
          <a:prstGeom prst="rect">
            <a:avLst/>
          </a:prstGeom>
          <a:solidFill>
            <a:srgbClr val="16DFF7"/>
          </a:solidFill>
          <a:ln w="12700">
            <a:solidFill>
              <a:srgbClr val="16DFF7"/>
            </a:solidFill>
            <a:prstDash val="solid"/>
          </a:ln>
        </p:spPr>
      </p:sp>
      <p:sp>
        <p:nvSpPr>
          <p:cNvPr id="73" name="Shape 70"/>
          <p:cNvSpPr/>
          <p:nvPr/>
        </p:nvSpPr>
        <p:spPr>
          <a:xfrm>
            <a:off x="731520" y="4288536"/>
            <a:ext cx="347472" cy="347472"/>
          </a:xfrm>
          <a:prstGeom prst="ellipse">
            <a:avLst/>
          </a:prstGeom>
          <a:solidFill>
            <a:srgbClr val="16DFF7"/>
          </a:solidFill>
          <a:ln w="12700">
            <a:solidFill>
              <a:srgbClr val="16DFF7">
                <a:alpha val="0"/>
              </a:srgbClr>
            </a:solidFill>
            <a:prstDash val="solid"/>
          </a:ln>
        </p:spPr>
      </p:sp>
      <p:sp>
        <p:nvSpPr>
          <p:cNvPr id="74" name="Text 71"/>
          <p:cNvSpPr/>
          <p:nvPr/>
        </p:nvSpPr>
        <p:spPr>
          <a:xfrm>
            <a:off x="731520" y="4352544"/>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7</a:t>
            </a:r>
            <a:endParaRPr lang="en-US" sz="800" dirty="0"/>
          </a:p>
        </p:txBody>
      </p:sp>
      <p:sp>
        <p:nvSpPr>
          <p:cNvPr id="75" name="Text 72"/>
          <p:cNvSpPr/>
          <p:nvPr/>
        </p:nvSpPr>
        <p:spPr>
          <a:xfrm>
            <a:off x="1225296" y="4242816"/>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What is the average number of total injuries per accident by year?</a:t>
            </a:r>
            <a:endParaRPr lang="en-US" sz="930" dirty="0"/>
          </a:p>
        </p:txBody>
      </p:sp>
      <p:sp>
        <p:nvSpPr>
          <p:cNvPr id="76" name="Shape 73">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77" name="Text 74">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78" name="Shape 75">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79" name="Shape 76">
            <a:hlinkClick r:id="rId5" action="ppaction://hlinksldjump"/>
          </p:cNvPr>
          <p:cNvSpPr/>
          <p:nvPr/>
        </p:nvSpPr>
        <p:spPr>
          <a:xfrm rot="16200000">
            <a:off x="11018520" y="6181344"/>
            <a:ext cx="146304" cy="146304"/>
          </a:xfrm>
          <a:prstGeom prst="chevron">
            <a:avLst/>
          </a:prstGeom>
          <a:solidFill>
            <a:srgbClr val="16DFF7"/>
          </a:solidFill>
          <a:ln w="12700">
            <a:solidFill>
              <a:srgbClr val="16DFF7"/>
            </a:solidFill>
            <a:prstDash val="solid"/>
          </a:ln>
        </p:spPr>
      </p:sp>
      <p:sp>
        <p:nvSpPr>
          <p:cNvPr id="80" name="Shape 77">
            <a:hlinkClick r:id="rId6" action="ppaction://hlinksldjump"/>
          </p:cNvPr>
          <p:cNvSpPr/>
          <p:nvPr/>
        </p:nvSpPr>
        <p:spPr>
          <a:xfrm>
            <a:off x="11338560" y="6099048"/>
            <a:ext cx="347472" cy="347472"/>
          </a:xfrm>
          <a:prstGeom prst="ellipse">
            <a:avLst/>
          </a:prstGeom>
          <a:solidFill>
            <a:srgbClr val="0B2940"/>
          </a:solidFill>
          <a:ln w="10160">
            <a:solidFill>
              <a:srgbClr val="16718B"/>
            </a:solidFill>
            <a:prstDash val="solid"/>
          </a:ln>
        </p:spPr>
      </p:sp>
      <p:sp>
        <p:nvSpPr>
          <p:cNvPr id="81" name="Text 78">
            <a:hlinkClick r:id="rId6" action="ppaction://hlinksldjump"/>
          </p:cNvPr>
          <p:cNvSpPr/>
          <p:nvPr/>
        </p:nvSpPr>
        <p:spPr>
          <a:xfrm>
            <a:off x="11356848"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6" action="ppaction://hlinksldjump">
                  <a:extLst>
                    <a:ext uri="{A12FA001-AC4F-418D-AE19-62706E023703}">
                      <ahyp:hlinkClr xmlns:ahyp="http://schemas.microsoft.com/office/drawing/2018/hyperlinkcolor" val="tx"/>
                    </a:ext>
                  </a:extLst>
                </a:hlinkClick>
              </a:rPr>
              <a:t>›</a:t>
            </a:r>
            <a:endParaRPr lang="en-US" sz="1700" dirty="0"/>
          </a:p>
        </p:txBody>
      </p:sp>
      <p:sp>
        <p:nvSpPr>
          <p:cNvPr id="82"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10000"/>
              </a:srgbClr>
            </a:solidFill>
            <a:prstDash val="solid"/>
          </a:ln>
        </p:spPr>
      </p:sp>
      <p:sp>
        <p:nvSpPr>
          <p:cNvPr id="3" name="Shape 1"/>
          <p:cNvSpPr/>
          <p:nvPr/>
        </p:nvSpPr>
        <p:spPr>
          <a:xfrm>
            <a:off x="1051560" y="502920"/>
            <a:ext cx="0" cy="5715000"/>
          </a:xfrm>
          <a:prstGeom prst="line">
            <a:avLst/>
          </a:prstGeom>
          <a:noFill/>
          <a:ln w="5080">
            <a:solidFill>
              <a:srgbClr val="0B304B">
                <a:alpha val="10000"/>
              </a:srgbClr>
            </a:solidFill>
            <a:prstDash val="solid"/>
          </a:ln>
        </p:spPr>
      </p:sp>
      <p:sp>
        <p:nvSpPr>
          <p:cNvPr id="4" name="Shape 2"/>
          <p:cNvSpPr/>
          <p:nvPr/>
        </p:nvSpPr>
        <p:spPr>
          <a:xfrm>
            <a:off x="1554480" y="502920"/>
            <a:ext cx="0" cy="5715000"/>
          </a:xfrm>
          <a:prstGeom prst="line">
            <a:avLst/>
          </a:prstGeom>
          <a:noFill/>
          <a:ln w="5080">
            <a:solidFill>
              <a:srgbClr val="0B304B">
                <a:alpha val="10000"/>
              </a:srgbClr>
            </a:solidFill>
            <a:prstDash val="solid"/>
          </a:ln>
        </p:spPr>
      </p:sp>
      <p:sp>
        <p:nvSpPr>
          <p:cNvPr id="5" name="Shape 3"/>
          <p:cNvSpPr/>
          <p:nvPr/>
        </p:nvSpPr>
        <p:spPr>
          <a:xfrm>
            <a:off x="2057400" y="502920"/>
            <a:ext cx="0" cy="5715000"/>
          </a:xfrm>
          <a:prstGeom prst="line">
            <a:avLst/>
          </a:prstGeom>
          <a:noFill/>
          <a:ln w="5080">
            <a:solidFill>
              <a:srgbClr val="0B304B">
                <a:alpha val="10000"/>
              </a:srgbClr>
            </a:solidFill>
            <a:prstDash val="solid"/>
          </a:ln>
        </p:spPr>
      </p:sp>
      <p:sp>
        <p:nvSpPr>
          <p:cNvPr id="6" name="Shape 4"/>
          <p:cNvSpPr/>
          <p:nvPr/>
        </p:nvSpPr>
        <p:spPr>
          <a:xfrm>
            <a:off x="2560320" y="502920"/>
            <a:ext cx="0" cy="5715000"/>
          </a:xfrm>
          <a:prstGeom prst="line">
            <a:avLst/>
          </a:prstGeom>
          <a:noFill/>
          <a:ln w="5080">
            <a:solidFill>
              <a:srgbClr val="0B304B">
                <a:alpha val="10000"/>
              </a:srgbClr>
            </a:solidFill>
            <a:prstDash val="solid"/>
          </a:ln>
        </p:spPr>
      </p:sp>
      <p:sp>
        <p:nvSpPr>
          <p:cNvPr id="7" name="Shape 5"/>
          <p:cNvSpPr/>
          <p:nvPr/>
        </p:nvSpPr>
        <p:spPr>
          <a:xfrm>
            <a:off x="3063240" y="502920"/>
            <a:ext cx="0" cy="5715000"/>
          </a:xfrm>
          <a:prstGeom prst="line">
            <a:avLst/>
          </a:prstGeom>
          <a:noFill/>
          <a:ln w="5080">
            <a:solidFill>
              <a:srgbClr val="0B304B">
                <a:alpha val="10000"/>
              </a:srgbClr>
            </a:solidFill>
            <a:prstDash val="solid"/>
          </a:ln>
        </p:spPr>
      </p:sp>
      <p:sp>
        <p:nvSpPr>
          <p:cNvPr id="8" name="Shape 6"/>
          <p:cNvSpPr/>
          <p:nvPr/>
        </p:nvSpPr>
        <p:spPr>
          <a:xfrm>
            <a:off x="3566160" y="502920"/>
            <a:ext cx="0" cy="5715000"/>
          </a:xfrm>
          <a:prstGeom prst="line">
            <a:avLst/>
          </a:prstGeom>
          <a:noFill/>
          <a:ln w="5080">
            <a:solidFill>
              <a:srgbClr val="0B304B">
                <a:alpha val="10000"/>
              </a:srgbClr>
            </a:solidFill>
            <a:prstDash val="solid"/>
          </a:ln>
        </p:spPr>
      </p:sp>
      <p:sp>
        <p:nvSpPr>
          <p:cNvPr id="9" name="Shape 7"/>
          <p:cNvSpPr/>
          <p:nvPr/>
        </p:nvSpPr>
        <p:spPr>
          <a:xfrm>
            <a:off x="4069080" y="502920"/>
            <a:ext cx="0" cy="5715000"/>
          </a:xfrm>
          <a:prstGeom prst="line">
            <a:avLst/>
          </a:prstGeom>
          <a:noFill/>
          <a:ln w="5080">
            <a:solidFill>
              <a:srgbClr val="0B304B">
                <a:alpha val="10000"/>
              </a:srgbClr>
            </a:solidFill>
            <a:prstDash val="solid"/>
          </a:ln>
        </p:spPr>
      </p:sp>
      <p:sp>
        <p:nvSpPr>
          <p:cNvPr id="10" name="Shape 8"/>
          <p:cNvSpPr/>
          <p:nvPr/>
        </p:nvSpPr>
        <p:spPr>
          <a:xfrm>
            <a:off x="4572000" y="502920"/>
            <a:ext cx="0" cy="5715000"/>
          </a:xfrm>
          <a:prstGeom prst="line">
            <a:avLst/>
          </a:prstGeom>
          <a:noFill/>
          <a:ln w="5080">
            <a:solidFill>
              <a:srgbClr val="0B304B">
                <a:alpha val="10000"/>
              </a:srgbClr>
            </a:solidFill>
            <a:prstDash val="solid"/>
          </a:ln>
        </p:spPr>
      </p:sp>
      <p:sp>
        <p:nvSpPr>
          <p:cNvPr id="11" name="Shape 9"/>
          <p:cNvSpPr/>
          <p:nvPr/>
        </p:nvSpPr>
        <p:spPr>
          <a:xfrm>
            <a:off x="5074920" y="502920"/>
            <a:ext cx="0" cy="5715000"/>
          </a:xfrm>
          <a:prstGeom prst="line">
            <a:avLst/>
          </a:prstGeom>
          <a:noFill/>
          <a:ln w="5080">
            <a:solidFill>
              <a:srgbClr val="0B304B">
                <a:alpha val="10000"/>
              </a:srgbClr>
            </a:solidFill>
            <a:prstDash val="solid"/>
          </a:ln>
        </p:spPr>
      </p:sp>
      <p:sp>
        <p:nvSpPr>
          <p:cNvPr id="12" name="Shape 10"/>
          <p:cNvSpPr/>
          <p:nvPr/>
        </p:nvSpPr>
        <p:spPr>
          <a:xfrm>
            <a:off x="5577840" y="502920"/>
            <a:ext cx="0" cy="5715000"/>
          </a:xfrm>
          <a:prstGeom prst="line">
            <a:avLst/>
          </a:prstGeom>
          <a:noFill/>
          <a:ln w="5080">
            <a:solidFill>
              <a:srgbClr val="0B304B">
                <a:alpha val="10000"/>
              </a:srgbClr>
            </a:solidFill>
            <a:prstDash val="solid"/>
          </a:ln>
        </p:spPr>
      </p:sp>
      <p:sp>
        <p:nvSpPr>
          <p:cNvPr id="13" name="Shape 11"/>
          <p:cNvSpPr/>
          <p:nvPr/>
        </p:nvSpPr>
        <p:spPr>
          <a:xfrm>
            <a:off x="6080760" y="502920"/>
            <a:ext cx="0" cy="5715000"/>
          </a:xfrm>
          <a:prstGeom prst="line">
            <a:avLst/>
          </a:prstGeom>
          <a:noFill/>
          <a:ln w="5080">
            <a:solidFill>
              <a:srgbClr val="0B304B">
                <a:alpha val="10000"/>
              </a:srgbClr>
            </a:solidFill>
            <a:prstDash val="solid"/>
          </a:ln>
        </p:spPr>
      </p:sp>
      <p:sp>
        <p:nvSpPr>
          <p:cNvPr id="14" name="Shape 12"/>
          <p:cNvSpPr/>
          <p:nvPr/>
        </p:nvSpPr>
        <p:spPr>
          <a:xfrm>
            <a:off x="6583680" y="502920"/>
            <a:ext cx="0" cy="5715000"/>
          </a:xfrm>
          <a:prstGeom prst="line">
            <a:avLst/>
          </a:prstGeom>
          <a:noFill/>
          <a:ln w="5080">
            <a:solidFill>
              <a:srgbClr val="0B304B">
                <a:alpha val="10000"/>
              </a:srgbClr>
            </a:solidFill>
            <a:prstDash val="solid"/>
          </a:ln>
        </p:spPr>
      </p:sp>
      <p:sp>
        <p:nvSpPr>
          <p:cNvPr id="15" name="Shape 13"/>
          <p:cNvSpPr/>
          <p:nvPr/>
        </p:nvSpPr>
        <p:spPr>
          <a:xfrm>
            <a:off x="7086600" y="502920"/>
            <a:ext cx="0" cy="5715000"/>
          </a:xfrm>
          <a:prstGeom prst="line">
            <a:avLst/>
          </a:prstGeom>
          <a:noFill/>
          <a:ln w="5080">
            <a:solidFill>
              <a:srgbClr val="0B304B">
                <a:alpha val="10000"/>
              </a:srgbClr>
            </a:solidFill>
            <a:prstDash val="solid"/>
          </a:ln>
        </p:spPr>
      </p:sp>
      <p:sp>
        <p:nvSpPr>
          <p:cNvPr id="16" name="Shape 14"/>
          <p:cNvSpPr/>
          <p:nvPr/>
        </p:nvSpPr>
        <p:spPr>
          <a:xfrm>
            <a:off x="7589520" y="502920"/>
            <a:ext cx="0" cy="5715000"/>
          </a:xfrm>
          <a:prstGeom prst="line">
            <a:avLst/>
          </a:prstGeom>
          <a:noFill/>
          <a:ln w="5080">
            <a:solidFill>
              <a:srgbClr val="0B304B">
                <a:alpha val="10000"/>
              </a:srgbClr>
            </a:solidFill>
            <a:prstDash val="solid"/>
          </a:ln>
        </p:spPr>
      </p:sp>
      <p:sp>
        <p:nvSpPr>
          <p:cNvPr id="17" name="Shape 15"/>
          <p:cNvSpPr/>
          <p:nvPr/>
        </p:nvSpPr>
        <p:spPr>
          <a:xfrm>
            <a:off x="8092440" y="502920"/>
            <a:ext cx="0" cy="5715000"/>
          </a:xfrm>
          <a:prstGeom prst="line">
            <a:avLst/>
          </a:prstGeom>
          <a:noFill/>
          <a:ln w="5080">
            <a:solidFill>
              <a:srgbClr val="0B304B">
                <a:alpha val="10000"/>
              </a:srgbClr>
            </a:solidFill>
            <a:prstDash val="solid"/>
          </a:ln>
        </p:spPr>
      </p:sp>
      <p:sp>
        <p:nvSpPr>
          <p:cNvPr id="18" name="Shape 16"/>
          <p:cNvSpPr/>
          <p:nvPr/>
        </p:nvSpPr>
        <p:spPr>
          <a:xfrm>
            <a:off x="8595360" y="502920"/>
            <a:ext cx="0" cy="5715000"/>
          </a:xfrm>
          <a:prstGeom prst="line">
            <a:avLst/>
          </a:prstGeom>
          <a:noFill/>
          <a:ln w="5080">
            <a:solidFill>
              <a:srgbClr val="0B304B">
                <a:alpha val="10000"/>
              </a:srgbClr>
            </a:solidFill>
            <a:prstDash val="solid"/>
          </a:ln>
        </p:spPr>
      </p:sp>
      <p:sp>
        <p:nvSpPr>
          <p:cNvPr id="19" name="Shape 17"/>
          <p:cNvSpPr/>
          <p:nvPr/>
        </p:nvSpPr>
        <p:spPr>
          <a:xfrm>
            <a:off x="9098280" y="502920"/>
            <a:ext cx="0" cy="5715000"/>
          </a:xfrm>
          <a:prstGeom prst="line">
            <a:avLst/>
          </a:prstGeom>
          <a:noFill/>
          <a:ln w="5080">
            <a:solidFill>
              <a:srgbClr val="0B304B">
                <a:alpha val="10000"/>
              </a:srgbClr>
            </a:solidFill>
            <a:prstDash val="solid"/>
          </a:ln>
        </p:spPr>
      </p:sp>
      <p:sp>
        <p:nvSpPr>
          <p:cNvPr id="20" name="Shape 18"/>
          <p:cNvSpPr/>
          <p:nvPr/>
        </p:nvSpPr>
        <p:spPr>
          <a:xfrm>
            <a:off x="9601200" y="502920"/>
            <a:ext cx="0" cy="5715000"/>
          </a:xfrm>
          <a:prstGeom prst="line">
            <a:avLst/>
          </a:prstGeom>
          <a:noFill/>
          <a:ln w="5080">
            <a:solidFill>
              <a:srgbClr val="0B304B">
                <a:alpha val="10000"/>
              </a:srgbClr>
            </a:solidFill>
            <a:prstDash val="solid"/>
          </a:ln>
        </p:spPr>
      </p:sp>
      <p:sp>
        <p:nvSpPr>
          <p:cNvPr id="21" name="Shape 19"/>
          <p:cNvSpPr/>
          <p:nvPr/>
        </p:nvSpPr>
        <p:spPr>
          <a:xfrm>
            <a:off x="10104120" y="502920"/>
            <a:ext cx="0" cy="5715000"/>
          </a:xfrm>
          <a:prstGeom prst="line">
            <a:avLst/>
          </a:prstGeom>
          <a:noFill/>
          <a:ln w="5080">
            <a:solidFill>
              <a:srgbClr val="0B304B">
                <a:alpha val="10000"/>
              </a:srgbClr>
            </a:solidFill>
            <a:prstDash val="solid"/>
          </a:ln>
        </p:spPr>
      </p:sp>
      <p:sp>
        <p:nvSpPr>
          <p:cNvPr id="22" name="Shape 20"/>
          <p:cNvSpPr/>
          <p:nvPr/>
        </p:nvSpPr>
        <p:spPr>
          <a:xfrm>
            <a:off x="10607040" y="502920"/>
            <a:ext cx="0" cy="5715000"/>
          </a:xfrm>
          <a:prstGeom prst="line">
            <a:avLst/>
          </a:prstGeom>
          <a:noFill/>
          <a:ln w="5080">
            <a:solidFill>
              <a:srgbClr val="0B304B">
                <a:alpha val="10000"/>
              </a:srgbClr>
            </a:solidFill>
            <a:prstDash val="solid"/>
          </a:ln>
        </p:spPr>
      </p:sp>
      <p:sp>
        <p:nvSpPr>
          <p:cNvPr id="23" name="Shape 21"/>
          <p:cNvSpPr/>
          <p:nvPr/>
        </p:nvSpPr>
        <p:spPr>
          <a:xfrm>
            <a:off x="11109960" y="502920"/>
            <a:ext cx="0" cy="5715000"/>
          </a:xfrm>
          <a:prstGeom prst="line">
            <a:avLst/>
          </a:prstGeom>
          <a:noFill/>
          <a:ln w="5080">
            <a:solidFill>
              <a:srgbClr val="0B304B">
                <a:alpha val="10000"/>
              </a:srgbClr>
            </a:solidFill>
            <a:prstDash val="solid"/>
          </a:ln>
        </p:spPr>
      </p:sp>
      <p:sp>
        <p:nvSpPr>
          <p:cNvPr id="24" name="Shape 22"/>
          <p:cNvSpPr/>
          <p:nvPr/>
        </p:nvSpPr>
        <p:spPr>
          <a:xfrm>
            <a:off x="11612880" y="502920"/>
            <a:ext cx="0" cy="5715000"/>
          </a:xfrm>
          <a:prstGeom prst="line">
            <a:avLst/>
          </a:prstGeom>
          <a:noFill/>
          <a:ln w="5080">
            <a:solidFill>
              <a:srgbClr val="0B304B">
                <a:alpha val="10000"/>
              </a:srgbClr>
            </a:solidFill>
            <a:prstDash val="solid"/>
          </a:ln>
        </p:spPr>
      </p:sp>
      <p:sp>
        <p:nvSpPr>
          <p:cNvPr id="25" name="Shape 23"/>
          <p:cNvSpPr/>
          <p:nvPr/>
        </p:nvSpPr>
        <p:spPr>
          <a:xfrm>
            <a:off x="502920" y="566928"/>
            <a:ext cx="11201400" cy="0"/>
          </a:xfrm>
          <a:prstGeom prst="line">
            <a:avLst/>
          </a:prstGeom>
          <a:noFill/>
          <a:ln w="5080">
            <a:solidFill>
              <a:srgbClr val="0B304B">
                <a:alpha val="10000"/>
              </a:srgbClr>
            </a:solidFill>
            <a:prstDash val="solid"/>
          </a:ln>
        </p:spPr>
      </p:sp>
      <p:sp>
        <p:nvSpPr>
          <p:cNvPr id="26" name="Shape 24"/>
          <p:cNvSpPr/>
          <p:nvPr/>
        </p:nvSpPr>
        <p:spPr>
          <a:xfrm>
            <a:off x="502920" y="1069848"/>
            <a:ext cx="11201400" cy="0"/>
          </a:xfrm>
          <a:prstGeom prst="line">
            <a:avLst/>
          </a:prstGeom>
          <a:noFill/>
          <a:ln w="5080">
            <a:solidFill>
              <a:srgbClr val="0B304B">
                <a:alpha val="10000"/>
              </a:srgbClr>
            </a:solidFill>
            <a:prstDash val="solid"/>
          </a:ln>
        </p:spPr>
      </p:sp>
      <p:sp>
        <p:nvSpPr>
          <p:cNvPr id="27" name="Shape 25"/>
          <p:cNvSpPr/>
          <p:nvPr/>
        </p:nvSpPr>
        <p:spPr>
          <a:xfrm>
            <a:off x="502920" y="1572768"/>
            <a:ext cx="11201400" cy="0"/>
          </a:xfrm>
          <a:prstGeom prst="line">
            <a:avLst/>
          </a:prstGeom>
          <a:noFill/>
          <a:ln w="5080">
            <a:solidFill>
              <a:srgbClr val="0B304B">
                <a:alpha val="10000"/>
              </a:srgbClr>
            </a:solidFill>
            <a:prstDash val="solid"/>
          </a:ln>
        </p:spPr>
      </p:sp>
      <p:sp>
        <p:nvSpPr>
          <p:cNvPr id="28" name="Shape 26"/>
          <p:cNvSpPr/>
          <p:nvPr/>
        </p:nvSpPr>
        <p:spPr>
          <a:xfrm>
            <a:off x="502920" y="2075688"/>
            <a:ext cx="11201400" cy="0"/>
          </a:xfrm>
          <a:prstGeom prst="line">
            <a:avLst/>
          </a:prstGeom>
          <a:noFill/>
          <a:ln w="5080">
            <a:solidFill>
              <a:srgbClr val="0B304B">
                <a:alpha val="10000"/>
              </a:srgbClr>
            </a:solidFill>
            <a:prstDash val="solid"/>
          </a:ln>
        </p:spPr>
      </p:sp>
      <p:sp>
        <p:nvSpPr>
          <p:cNvPr id="29" name="Shape 27"/>
          <p:cNvSpPr/>
          <p:nvPr/>
        </p:nvSpPr>
        <p:spPr>
          <a:xfrm>
            <a:off x="502920" y="2578608"/>
            <a:ext cx="11201400" cy="0"/>
          </a:xfrm>
          <a:prstGeom prst="line">
            <a:avLst/>
          </a:prstGeom>
          <a:noFill/>
          <a:ln w="5080">
            <a:solidFill>
              <a:srgbClr val="0B304B">
                <a:alpha val="10000"/>
              </a:srgbClr>
            </a:solidFill>
            <a:prstDash val="solid"/>
          </a:ln>
        </p:spPr>
      </p:sp>
      <p:sp>
        <p:nvSpPr>
          <p:cNvPr id="30" name="Shape 28"/>
          <p:cNvSpPr/>
          <p:nvPr/>
        </p:nvSpPr>
        <p:spPr>
          <a:xfrm>
            <a:off x="502920" y="3081528"/>
            <a:ext cx="11201400" cy="0"/>
          </a:xfrm>
          <a:prstGeom prst="line">
            <a:avLst/>
          </a:prstGeom>
          <a:noFill/>
          <a:ln w="5080">
            <a:solidFill>
              <a:srgbClr val="0B304B">
                <a:alpha val="10000"/>
              </a:srgbClr>
            </a:solidFill>
            <a:prstDash val="solid"/>
          </a:ln>
        </p:spPr>
      </p:sp>
      <p:sp>
        <p:nvSpPr>
          <p:cNvPr id="31" name="Shape 29"/>
          <p:cNvSpPr/>
          <p:nvPr/>
        </p:nvSpPr>
        <p:spPr>
          <a:xfrm>
            <a:off x="502920" y="3584448"/>
            <a:ext cx="11201400" cy="0"/>
          </a:xfrm>
          <a:prstGeom prst="line">
            <a:avLst/>
          </a:prstGeom>
          <a:noFill/>
          <a:ln w="5080">
            <a:solidFill>
              <a:srgbClr val="0B304B">
                <a:alpha val="10000"/>
              </a:srgbClr>
            </a:solidFill>
            <a:prstDash val="solid"/>
          </a:ln>
        </p:spPr>
      </p:sp>
      <p:sp>
        <p:nvSpPr>
          <p:cNvPr id="32" name="Shape 30"/>
          <p:cNvSpPr/>
          <p:nvPr/>
        </p:nvSpPr>
        <p:spPr>
          <a:xfrm>
            <a:off x="502920" y="4087368"/>
            <a:ext cx="11201400" cy="0"/>
          </a:xfrm>
          <a:prstGeom prst="line">
            <a:avLst/>
          </a:prstGeom>
          <a:noFill/>
          <a:ln w="5080">
            <a:solidFill>
              <a:srgbClr val="0B304B">
                <a:alpha val="10000"/>
              </a:srgbClr>
            </a:solidFill>
            <a:prstDash val="solid"/>
          </a:ln>
        </p:spPr>
      </p:sp>
      <p:sp>
        <p:nvSpPr>
          <p:cNvPr id="33" name="Shape 31"/>
          <p:cNvSpPr/>
          <p:nvPr/>
        </p:nvSpPr>
        <p:spPr>
          <a:xfrm>
            <a:off x="502920" y="4590288"/>
            <a:ext cx="11201400" cy="0"/>
          </a:xfrm>
          <a:prstGeom prst="line">
            <a:avLst/>
          </a:prstGeom>
          <a:noFill/>
          <a:ln w="5080">
            <a:solidFill>
              <a:srgbClr val="0B304B">
                <a:alpha val="10000"/>
              </a:srgbClr>
            </a:solidFill>
            <a:prstDash val="solid"/>
          </a:ln>
        </p:spPr>
      </p:sp>
      <p:sp>
        <p:nvSpPr>
          <p:cNvPr id="34" name="Shape 32"/>
          <p:cNvSpPr/>
          <p:nvPr/>
        </p:nvSpPr>
        <p:spPr>
          <a:xfrm>
            <a:off x="502920" y="5093208"/>
            <a:ext cx="11201400" cy="0"/>
          </a:xfrm>
          <a:prstGeom prst="line">
            <a:avLst/>
          </a:prstGeom>
          <a:noFill/>
          <a:ln w="5080">
            <a:solidFill>
              <a:srgbClr val="0B304B">
                <a:alpha val="10000"/>
              </a:srgbClr>
            </a:solidFill>
            <a:prstDash val="solid"/>
          </a:ln>
        </p:spPr>
      </p:sp>
      <p:sp>
        <p:nvSpPr>
          <p:cNvPr id="35" name="Shape 33"/>
          <p:cNvSpPr/>
          <p:nvPr/>
        </p:nvSpPr>
        <p:spPr>
          <a:xfrm>
            <a:off x="502920" y="5596128"/>
            <a:ext cx="11201400" cy="0"/>
          </a:xfrm>
          <a:prstGeom prst="line">
            <a:avLst/>
          </a:prstGeom>
          <a:noFill/>
          <a:ln w="5080">
            <a:solidFill>
              <a:srgbClr val="0B304B">
                <a:alpha val="10000"/>
              </a:srgbClr>
            </a:solidFill>
            <a:prstDash val="solid"/>
          </a:ln>
        </p:spPr>
      </p:sp>
      <p:sp>
        <p:nvSpPr>
          <p:cNvPr id="36" name="Shape 34"/>
          <p:cNvSpPr/>
          <p:nvPr/>
        </p:nvSpPr>
        <p:spPr>
          <a:xfrm>
            <a:off x="502920" y="6099048"/>
            <a:ext cx="11201400" cy="0"/>
          </a:xfrm>
          <a:prstGeom prst="line">
            <a:avLst/>
          </a:prstGeom>
          <a:noFill/>
          <a:ln w="5080">
            <a:solidFill>
              <a:srgbClr val="0B304B">
                <a:alpha val="10000"/>
              </a:srgbClr>
            </a:solidFill>
            <a:prstDash val="solid"/>
          </a:ln>
        </p:spPr>
      </p:sp>
      <p:sp>
        <p:nvSpPr>
          <p:cNvPr id="37" name="Shape 35"/>
          <p:cNvSpPr/>
          <p:nvPr/>
        </p:nvSpPr>
        <p:spPr>
          <a:xfrm>
            <a:off x="530352" y="329184"/>
            <a:ext cx="1463040" cy="256032"/>
          </a:xfrm>
          <a:prstGeom prst="roundRect">
            <a:avLst>
              <a:gd name="adj" fmla="val 17857"/>
            </a:avLst>
          </a:prstGeom>
          <a:solidFill>
            <a:srgbClr val="09273D"/>
          </a:solidFill>
          <a:ln w="10160">
            <a:solidFill>
              <a:srgbClr val="16DFF7">
                <a:alpha val="65000"/>
              </a:srgbClr>
            </a:solidFill>
            <a:prstDash val="solid"/>
          </a:ln>
        </p:spPr>
      </p:sp>
      <p:sp>
        <p:nvSpPr>
          <p:cNvPr id="38" name="Text 36"/>
          <p:cNvSpPr/>
          <p:nvPr/>
        </p:nvSpPr>
        <p:spPr>
          <a:xfrm>
            <a:off x="603504" y="379476"/>
            <a:ext cx="131673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16DFF7"/>
                </a:solidFill>
                <a:latin typeface="Aptos" pitchFamily="34" charset="0"/>
                <a:ea typeface="Aptos" pitchFamily="34" charset="-122"/>
                <a:cs typeface="Aptos" pitchFamily="34" charset="-120"/>
              </a:rPr>
              <a:t>DASHBOARD VIEW</a:t>
            </a:r>
            <a:endParaRPr lang="en-US" sz="560" dirty="0"/>
          </a:p>
        </p:txBody>
      </p:sp>
      <p:sp>
        <p:nvSpPr>
          <p:cNvPr id="39" name="Text 37"/>
          <p:cNvSpPr/>
          <p:nvPr/>
        </p:nvSpPr>
        <p:spPr>
          <a:xfrm>
            <a:off x="548640" y="658368"/>
            <a:ext cx="8046720" cy="384048"/>
          </a:xfrm>
          <a:prstGeom prst="rect">
            <a:avLst/>
          </a:prstGeom>
          <a:noFill/>
          <a:ln/>
        </p:spPr>
        <p:txBody>
          <a:bodyPr wrap="square" lIns="0" tIns="0" rIns="0" bIns="0" rtlCol="0" anchor="ctr">
            <a:normAutofit/>
          </a:bodyPr>
          <a:lstStyle/>
          <a:p>
            <a:pPr marL="0" indent="0">
              <a:buNone/>
            </a:pPr>
            <a:r>
              <a:rPr lang="en-US" sz="2000" b="1" dirty="0">
                <a:solidFill>
                  <a:srgbClr val="F5FAFE"/>
                </a:solidFill>
                <a:latin typeface="Aptos Display" pitchFamily="34" charset="0"/>
                <a:ea typeface="Aptos Display" pitchFamily="34" charset="-122"/>
                <a:cs typeface="Aptos Display" pitchFamily="34" charset="-120"/>
              </a:rPr>
              <a:t>Dashboard 1 — Safety Trends Overview</a:t>
            </a:r>
            <a:endParaRPr lang="en-US" sz="2000" dirty="0"/>
          </a:p>
        </p:txBody>
      </p:sp>
      <p:sp>
        <p:nvSpPr>
          <p:cNvPr id="40" name="Shape 38"/>
          <p:cNvSpPr/>
          <p:nvPr/>
        </p:nvSpPr>
        <p:spPr>
          <a:xfrm>
            <a:off x="621792" y="1261872"/>
            <a:ext cx="10945368" cy="4526280"/>
          </a:xfrm>
          <a:prstGeom prst="roundRect">
            <a:avLst>
              <a:gd name="adj" fmla="val 1616"/>
            </a:avLst>
          </a:prstGeom>
          <a:solidFill>
            <a:srgbClr val="071625"/>
          </a:solidFill>
          <a:ln w="11430">
            <a:solidFill>
              <a:srgbClr val="16DFF7">
                <a:alpha val="90000"/>
              </a:srgbClr>
            </a:solidFill>
            <a:prstDash val="solid"/>
          </a:ln>
          <a:effectLst>
            <a:outerShdw algn="bl" rotWithShape="0">
              <a:srgbClr val="000000">
                <a:alpha val="0"/>
              </a:srgbClr>
            </a:outerShdw>
          </a:effectLst>
        </p:spPr>
      </p:sp>
      <p:pic>
        <p:nvPicPr>
          <p:cNvPr id="41" name="Image 0" descr="/mnt/data/nti_render/slide-15.png"/>
          <p:cNvPicPr>
            <a:picLocks noChangeAspect="1"/>
          </p:cNvPicPr>
          <p:nvPr/>
        </p:nvPicPr>
        <p:blipFill>
          <a:blip r:embed="rId3"/>
          <a:stretch>
            <a:fillRect/>
          </a:stretch>
        </p:blipFill>
        <p:spPr>
          <a:xfrm>
            <a:off x="2324288" y="1408176"/>
            <a:ext cx="7531232" cy="4233672"/>
          </a:xfrm>
          <a:prstGeom prst="rect">
            <a:avLst/>
          </a:prstGeom>
        </p:spPr>
      </p:pic>
      <p:sp>
        <p:nvSpPr>
          <p:cNvPr id="42" name="Shape 39"/>
          <p:cNvSpPr/>
          <p:nvPr/>
        </p:nvSpPr>
        <p:spPr>
          <a:xfrm>
            <a:off x="768096" y="1307592"/>
            <a:ext cx="54864" cy="54864"/>
          </a:xfrm>
          <a:prstGeom prst="ellipse">
            <a:avLst/>
          </a:prstGeom>
          <a:solidFill>
            <a:srgbClr val="FF6B70"/>
          </a:solidFill>
          <a:ln w="12700">
            <a:solidFill>
              <a:srgbClr val="333333">
                <a:alpha val="0"/>
              </a:srgbClr>
            </a:solidFill>
            <a:prstDash val="solid"/>
          </a:ln>
        </p:spPr>
      </p:sp>
      <p:sp>
        <p:nvSpPr>
          <p:cNvPr id="43" name="Shape 40"/>
          <p:cNvSpPr/>
          <p:nvPr/>
        </p:nvSpPr>
        <p:spPr>
          <a:xfrm>
            <a:off x="896112" y="1307592"/>
            <a:ext cx="54864" cy="54864"/>
          </a:xfrm>
          <a:prstGeom prst="ellipse">
            <a:avLst/>
          </a:prstGeom>
          <a:solidFill>
            <a:srgbClr val="FFBF45"/>
          </a:solidFill>
          <a:ln w="12700">
            <a:solidFill>
              <a:srgbClr val="333333">
                <a:alpha val="0"/>
              </a:srgbClr>
            </a:solidFill>
            <a:prstDash val="solid"/>
          </a:ln>
        </p:spPr>
      </p:sp>
      <p:sp>
        <p:nvSpPr>
          <p:cNvPr id="44" name="Shape 41"/>
          <p:cNvSpPr/>
          <p:nvPr/>
        </p:nvSpPr>
        <p:spPr>
          <a:xfrm>
            <a:off x="1024128" y="1307592"/>
            <a:ext cx="54864" cy="54864"/>
          </a:xfrm>
          <a:prstGeom prst="ellipse">
            <a:avLst/>
          </a:prstGeom>
          <a:solidFill>
            <a:srgbClr val="3FE0B5"/>
          </a:solidFill>
          <a:ln w="12700">
            <a:solidFill>
              <a:srgbClr val="333333">
                <a:alpha val="0"/>
              </a:srgbClr>
            </a:solidFill>
            <a:prstDash val="solid"/>
          </a:ln>
        </p:spPr>
      </p:sp>
      <p:sp>
        <p:nvSpPr>
          <p:cNvPr id="45" name="Shape 42">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46" name="Text 43">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47" name="Shape 44">
            <a:hlinkClick r:id="rId4"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48" name="Shape 45">
            <a:hlinkClick r:id="rId4" action="ppaction://hlinksldjump"/>
          </p:cNvPr>
          <p:cNvSpPr/>
          <p:nvPr/>
        </p:nvSpPr>
        <p:spPr>
          <a:xfrm rot="16200000">
            <a:off x="11018520" y="6181344"/>
            <a:ext cx="146304" cy="146304"/>
          </a:xfrm>
          <a:prstGeom prst="chevron">
            <a:avLst/>
          </a:prstGeom>
          <a:solidFill>
            <a:srgbClr val="16DFF7"/>
          </a:solidFill>
          <a:ln w="12700">
            <a:solidFill>
              <a:srgbClr val="16DFF7"/>
            </a:solidFill>
            <a:prstDash val="solid"/>
          </a:ln>
        </p:spPr>
      </p:sp>
      <p:sp>
        <p:nvSpPr>
          <p:cNvPr id="49" name="Shape 46">
            <a:hlinkClick r:id="rId5" action="ppaction://hlinksldjump"/>
          </p:cNvPr>
          <p:cNvSpPr/>
          <p:nvPr/>
        </p:nvSpPr>
        <p:spPr>
          <a:xfrm>
            <a:off x="11338560" y="6099048"/>
            <a:ext cx="347472" cy="347472"/>
          </a:xfrm>
          <a:prstGeom prst="ellipse">
            <a:avLst/>
          </a:prstGeom>
          <a:solidFill>
            <a:srgbClr val="0B2940"/>
          </a:solidFill>
          <a:ln w="10160">
            <a:solidFill>
              <a:srgbClr val="16718B"/>
            </a:solidFill>
            <a:prstDash val="solid"/>
          </a:ln>
        </p:spPr>
      </p:sp>
      <p:sp>
        <p:nvSpPr>
          <p:cNvPr id="50" name="Text 47">
            <a:hlinkClick r:id="rId5" action="ppaction://hlinksldjump"/>
          </p:cNvPr>
          <p:cNvSpPr/>
          <p:nvPr/>
        </p:nvSpPr>
        <p:spPr>
          <a:xfrm>
            <a:off x="11356848"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51"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8000"/>
              </a:srgbClr>
            </a:solidFill>
            <a:prstDash val="solid"/>
          </a:ln>
        </p:spPr>
      </p:sp>
      <p:sp>
        <p:nvSpPr>
          <p:cNvPr id="3" name="Shape 1"/>
          <p:cNvSpPr/>
          <p:nvPr/>
        </p:nvSpPr>
        <p:spPr>
          <a:xfrm>
            <a:off x="1051560" y="502920"/>
            <a:ext cx="0" cy="5715000"/>
          </a:xfrm>
          <a:prstGeom prst="line">
            <a:avLst/>
          </a:prstGeom>
          <a:noFill/>
          <a:ln w="5080">
            <a:solidFill>
              <a:srgbClr val="0B304B">
                <a:alpha val="8000"/>
              </a:srgbClr>
            </a:solidFill>
            <a:prstDash val="solid"/>
          </a:ln>
        </p:spPr>
      </p:sp>
      <p:sp>
        <p:nvSpPr>
          <p:cNvPr id="4" name="Shape 2"/>
          <p:cNvSpPr/>
          <p:nvPr/>
        </p:nvSpPr>
        <p:spPr>
          <a:xfrm>
            <a:off x="1554480" y="502920"/>
            <a:ext cx="0" cy="5715000"/>
          </a:xfrm>
          <a:prstGeom prst="line">
            <a:avLst/>
          </a:prstGeom>
          <a:noFill/>
          <a:ln w="5080">
            <a:solidFill>
              <a:srgbClr val="0B304B">
                <a:alpha val="8000"/>
              </a:srgbClr>
            </a:solidFill>
            <a:prstDash val="solid"/>
          </a:ln>
        </p:spPr>
      </p:sp>
      <p:sp>
        <p:nvSpPr>
          <p:cNvPr id="5" name="Shape 3"/>
          <p:cNvSpPr/>
          <p:nvPr/>
        </p:nvSpPr>
        <p:spPr>
          <a:xfrm>
            <a:off x="2057400" y="502920"/>
            <a:ext cx="0" cy="5715000"/>
          </a:xfrm>
          <a:prstGeom prst="line">
            <a:avLst/>
          </a:prstGeom>
          <a:noFill/>
          <a:ln w="5080">
            <a:solidFill>
              <a:srgbClr val="0B304B">
                <a:alpha val="8000"/>
              </a:srgbClr>
            </a:solidFill>
            <a:prstDash val="solid"/>
          </a:ln>
        </p:spPr>
      </p:sp>
      <p:sp>
        <p:nvSpPr>
          <p:cNvPr id="6" name="Shape 4"/>
          <p:cNvSpPr/>
          <p:nvPr/>
        </p:nvSpPr>
        <p:spPr>
          <a:xfrm>
            <a:off x="2560320" y="502920"/>
            <a:ext cx="0" cy="5715000"/>
          </a:xfrm>
          <a:prstGeom prst="line">
            <a:avLst/>
          </a:prstGeom>
          <a:noFill/>
          <a:ln w="5080">
            <a:solidFill>
              <a:srgbClr val="0B304B">
                <a:alpha val="8000"/>
              </a:srgbClr>
            </a:solidFill>
            <a:prstDash val="solid"/>
          </a:ln>
        </p:spPr>
      </p:sp>
      <p:sp>
        <p:nvSpPr>
          <p:cNvPr id="7" name="Shape 5"/>
          <p:cNvSpPr/>
          <p:nvPr/>
        </p:nvSpPr>
        <p:spPr>
          <a:xfrm>
            <a:off x="3063240" y="502920"/>
            <a:ext cx="0" cy="5715000"/>
          </a:xfrm>
          <a:prstGeom prst="line">
            <a:avLst/>
          </a:prstGeom>
          <a:noFill/>
          <a:ln w="5080">
            <a:solidFill>
              <a:srgbClr val="0B304B">
                <a:alpha val="8000"/>
              </a:srgbClr>
            </a:solidFill>
            <a:prstDash val="solid"/>
          </a:ln>
        </p:spPr>
      </p:sp>
      <p:sp>
        <p:nvSpPr>
          <p:cNvPr id="8" name="Shape 6"/>
          <p:cNvSpPr/>
          <p:nvPr/>
        </p:nvSpPr>
        <p:spPr>
          <a:xfrm>
            <a:off x="3566160" y="502920"/>
            <a:ext cx="0" cy="5715000"/>
          </a:xfrm>
          <a:prstGeom prst="line">
            <a:avLst/>
          </a:prstGeom>
          <a:noFill/>
          <a:ln w="5080">
            <a:solidFill>
              <a:srgbClr val="0B304B">
                <a:alpha val="8000"/>
              </a:srgbClr>
            </a:solidFill>
            <a:prstDash val="solid"/>
          </a:ln>
        </p:spPr>
      </p:sp>
      <p:sp>
        <p:nvSpPr>
          <p:cNvPr id="9" name="Shape 7"/>
          <p:cNvSpPr/>
          <p:nvPr/>
        </p:nvSpPr>
        <p:spPr>
          <a:xfrm>
            <a:off x="4069080" y="502920"/>
            <a:ext cx="0" cy="5715000"/>
          </a:xfrm>
          <a:prstGeom prst="line">
            <a:avLst/>
          </a:prstGeom>
          <a:noFill/>
          <a:ln w="5080">
            <a:solidFill>
              <a:srgbClr val="0B304B">
                <a:alpha val="8000"/>
              </a:srgbClr>
            </a:solidFill>
            <a:prstDash val="solid"/>
          </a:ln>
        </p:spPr>
      </p:sp>
      <p:sp>
        <p:nvSpPr>
          <p:cNvPr id="10" name="Shape 8"/>
          <p:cNvSpPr/>
          <p:nvPr/>
        </p:nvSpPr>
        <p:spPr>
          <a:xfrm>
            <a:off x="4572000" y="502920"/>
            <a:ext cx="0" cy="5715000"/>
          </a:xfrm>
          <a:prstGeom prst="line">
            <a:avLst/>
          </a:prstGeom>
          <a:noFill/>
          <a:ln w="5080">
            <a:solidFill>
              <a:srgbClr val="0B304B">
                <a:alpha val="8000"/>
              </a:srgbClr>
            </a:solidFill>
            <a:prstDash val="solid"/>
          </a:ln>
        </p:spPr>
      </p:sp>
      <p:sp>
        <p:nvSpPr>
          <p:cNvPr id="11" name="Shape 9"/>
          <p:cNvSpPr/>
          <p:nvPr/>
        </p:nvSpPr>
        <p:spPr>
          <a:xfrm>
            <a:off x="5074920" y="502920"/>
            <a:ext cx="0" cy="5715000"/>
          </a:xfrm>
          <a:prstGeom prst="line">
            <a:avLst/>
          </a:prstGeom>
          <a:noFill/>
          <a:ln w="5080">
            <a:solidFill>
              <a:srgbClr val="0B304B">
                <a:alpha val="8000"/>
              </a:srgbClr>
            </a:solidFill>
            <a:prstDash val="solid"/>
          </a:ln>
        </p:spPr>
      </p:sp>
      <p:sp>
        <p:nvSpPr>
          <p:cNvPr id="12" name="Shape 10"/>
          <p:cNvSpPr/>
          <p:nvPr/>
        </p:nvSpPr>
        <p:spPr>
          <a:xfrm>
            <a:off x="5577840" y="502920"/>
            <a:ext cx="0" cy="5715000"/>
          </a:xfrm>
          <a:prstGeom prst="line">
            <a:avLst/>
          </a:prstGeom>
          <a:noFill/>
          <a:ln w="5080">
            <a:solidFill>
              <a:srgbClr val="0B304B">
                <a:alpha val="8000"/>
              </a:srgbClr>
            </a:solidFill>
            <a:prstDash val="solid"/>
          </a:ln>
        </p:spPr>
      </p:sp>
      <p:sp>
        <p:nvSpPr>
          <p:cNvPr id="13" name="Shape 11"/>
          <p:cNvSpPr/>
          <p:nvPr/>
        </p:nvSpPr>
        <p:spPr>
          <a:xfrm>
            <a:off x="6080760" y="502920"/>
            <a:ext cx="0" cy="5715000"/>
          </a:xfrm>
          <a:prstGeom prst="line">
            <a:avLst/>
          </a:prstGeom>
          <a:noFill/>
          <a:ln w="5080">
            <a:solidFill>
              <a:srgbClr val="0B304B">
                <a:alpha val="8000"/>
              </a:srgbClr>
            </a:solidFill>
            <a:prstDash val="solid"/>
          </a:ln>
        </p:spPr>
      </p:sp>
      <p:sp>
        <p:nvSpPr>
          <p:cNvPr id="14" name="Shape 12"/>
          <p:cNvSpPr/>
          <p:nvPr/>
        </p:nvSpPr>
        <p:spPr>
          <a:xfrm>
            <a:off x="6583680" y="502920"/>
            <a:ext cx="0" cy="5715000"/>
          </a:xfrm>
          <a:prstGeom prst="line">
            <a:avLst/>
          </a:prstGeom>
          <a:noFill/>
          <a:ln w="5080">
            <a:solidFill>
              <a:srgbClr val="0B304B">
                <a:alpha val="8000"/>
              </a:srgbClr>
            </a:solidFill>
            <a:prstDash val="solid"/>
          </a:ln>
        </p:spPr>
      </p:sp>
      <p:sp>
        <p:nvSpPr>
          <p:cNvPr id="15" name="Shape 13"/>
          <p:cNvSpPr/>
          <p:nvPr/>
        </p:nvSpPr>
        <p:spPr>
          <a:xfrm>
            <a:off x="7086600" y="502920"/>
            <a:ext cx="0" cy="5715000"/>
          </a:xfrm>
          <a:prstGeom prst="line">
            <a:avLst/>
          </a:prstGeom>
          <a:noFill/>
          <a:ln w="5080">
            <a:solidFill>
              <a:srgbClr val="0B304B">
                <a:alpha val="8000"/>
              </a:srgbClr>
            </a:solidFill>
            <a:prstDash val="solid"/>
          </a:ln>
        </p:spPr>
      </p:sp>
      <p:sp>
        <p:nvSpPr>
          <p:cNvPr id="16" name="Shape 14"/>
          <p:cNvSpPr/>
          <p:nvPr/>
        </p:nvSpPr>
        <p:spPr>
          <a:xfrm>
            <a:off x="7589520" y="502920"/>
            <a:ext cx="0" cy="5715000"/>
          </a:xfrm>
          <a:prstGeom prst="line">
            <a:avLst/>
          </a:prstGeom>
          <a:noFill/>
          <a:ln w="5080">
            <a:solidFill>
              <a:srgbClr val="0B304B">
                <a:alpha val="8000"/>
              </a:srgbClr>
            </a:solidFill>
            <a:prstDash val="solid"/>
          </a:ln>
        </p:spPr>
      </p:sp>
      <p:sp>
        <p:nvSpPr>
          <p:cNvPr id="17" name="Shape 15"/>
          <p:cNvSpPr/>
          <p:nvPr/>
        </p:nvSpPr>
        <p:spPr>
          <a:xfrm>
            <a:off x="8092440" y="502920"/>
            <a:ext cx="0" cy="5715000"/>
          </a:xfrm>
          <a:prstGeom prst="line">
            <a:avLst/>
          </a:prstGeom>
          <a:noFill/>
          <a:ln w="5080">
            <a:solidFill>
              <a:srgbClr val="0B304B">
                <a:alpha val="8000"/>
              </a:srgbClr>
            </a:solidFill>
            <a:prstDash val="solid"/>
          </a:ln>
        </p:spPr>
      </p:sp>
      <p:sp>
        <p:nvSpPr>
          <p:cNvPr id="18" name="Shape 16"/>
          <p:cNvSpPr/>
          <p:nvPr/>
        </p:nvSpPr>
        <p:spPr>
          <a:xfrm>
            <a:off x="8595360" y="502920"/>
            <a:ext cx="0" cy="5715000"/>
          </a:xfrm>
          <a:prstGeom prst="line">
            <a:avLst/>
          </a:prstGeom>
          <a:noFill/>
          <a:ln w="5080">
            <a:solidFill>
              <a:srgbClr val="0B304B">
                <a:alpha val="8000"/>
              </a:srgbClr>
            </a:solidFill>
            <a:prstDash val="solid"/>
          </a:ln>
        </p:spPr>
      </p:sp>
      <p:sp>
        <p:nvSpPr>
          <p:cNvPr id="19" name="Shape 17"/>
          <p:cNvSpPr/>
          <p:nvPr/>
        </p:nvSpPr>
        <p:spPr>
          <a:xfrm>
            <a:off x="9098280" y="502920"/>
            <a:ext cx="0" cy="5715000"/>
          </a:xfrm>
          <a:prstGeom prst="line">
            <a:avLst/>
          </a:prstGeom>
          <a:noFill/>
          <a:ln w="5080">
            <a:solidFill>
              <a:srgbClr val="0B304B">
                <a:alpha val="8000"/>
              </a:srgbClr>
            </a:solidFill>
            <a:prstDash val="solid"/>
          </a:ln>
        </p:spPr>
      </p:sp>
      <p:sp>
        <p:nvSpPr>
          <p:cNvPr id="20" name="Shape 18"/>
          <p:cNvSpPr/>
          <p:nvPr/>
        </p:nvSpPr>
        <p:spPr>
          <a:xfrm>
            <a:off x="9601200" y="502920"/>
            <a:ext cx="0" cy="5715000"/>
          </a:xfrm>
          <a:prstGeom prst="line">
            <a:avLst/>
          </a:prstGeom>
          <a:noFill/>
          <a:ln w="5080">
            <a:solidFill>
              <a:srgbClr val="0B304B">
                <a:alpha val="8000"/>
              </a:srgbClr>
            </a:solidFill>
            <a:prstDash val="solid"/>
          </a:ln>
        </p:spPr>
      </p:sp>
      <p:sp>
        <p:nvSpPr>
          <p:cNvPr id="21" name="Shape 19"/>
          <p:cNvSpPr/>
          <p:nvPr/>
        </p:nvSpPr>
        <p:spPr>
          <a:xfrm>
            <a:off x="10104120" y="502920"/>
            <a:ext cx="0" cy="5715000"/>
          </a:xfrm>
          <a:prstGeom prst="line">
            <a:avLst/>
          </a:prstGeom>
          <a:noFill/>
          <a:ln w="5080">
            <a:solidFill>
              <a:srgbClr val="0B304B">
                <a:alpha val="8000"/>
              </a:srgbClr>
            </a:solidFill>
            <a:prstDash val="solid"/>
          </a:ln>
        </p:spPr>
      </p:sp>
      <p:sp>
        <p:nvSpPr>
          <p:cNvPr id="22" name="Shape 20"/>
          <p:cNvSpPr/>
          <p:nvPr/>
        </p:nvSpPr>
        <p:spPr>
          <a:xfrm>
            <a:off x="10607040" y="502920"/>
            <a:ext cx="0" cy="5715000"/>
          </a:xfrm>
          <a:prstGeom prst="line">
            <a:avLst/>
          </a:prstGeom>
          <a:noFill/>
          <a:ln w="5080">
            <a:solidFill>
              <a:srgbClr val="0B304B">
                <a:alpha val="8000"/>
              </a:srgbClr>
            </a:solidFill>
            <a:prstDash val="solid"/>
          </a:ln>
        </p:spPr>
      </p:sp>
      <p:sp>
        <p:nvSpPr>
          <p:cNvPr id="23" name="Shape 21"/>
          <p:cNvSpPr/>
          <p:nvPr/>
        </p:nvSpPr>
        <p:spPr>
          <a:xfrm>
            <a:off x="11109960" y="502920"/>
            <a:ext cx="0" cy="5715000"/>
          </a:xfrm>
          <a:prstGeom prst="line">
            <a:avLst/>
          </a:prstGeom>
          <a:noFill/>
          <a:ln w="5080">
            <a:solidFill>
              <a:srgbClr val="0B304B">
                <a:alpha val="8000"/>
              </a:srgbClr>
            </a:solidFill>
            <a:prstDash val="solid"/>
          </a:ln>
        </p:spPr>
      </p:sp>
      <p:sp>
        <p:nvSpPr>
          <p:cNvPr id="24" name="Shape 22"/>
          <p:cNvSpPr/>
          <p:nvPr/>
        </p:nvSpPr>
        <p:spPr>
          <a:xfrm>
            <a:off x="11612880" y="502920"/>
            <a:ext cx="0" cy="5715000"/>
          </a:xfrm>
          <a:prstGeom prst="line">
            <a:avLst/>
          </a:prstGeom>
          <a:noFill/>
          <a:ln w="5080">
            <a:solidFill>
              <a:srgbClr val="0B304B">
                <a:alpha val="8000"/>
              </a:srgbClr>
            </a:solidFill>
            <a:prstDash val="solid"/>
          </a:ln>
        </p:spPr>
      </p:sp>
      <p:sp>
        <p:nvSpPr>
          <p:cNvPr id="25" name="Shape 23"/>
          <p:cNvSpPr/>
          <p:nvPr/>
        </p:nvSpPr>
        <p:spPr>
          <a:xfrm>
            <a:off x="502920" y="566928"/>
            <a:ext cx="11201400" cy="0"/>
          </a:xfrm>
          <a:prstGeom prst="line">
            <a:avLst/>
          </a:prstGeom>
          <a:noFill/>
          <a:ln w="5080">
            <a:solidFill>
              <a:srgbClr val="0B304B">
                <a:alpha val="8000"/>
              </a:srgbClr>
            </a:solidFill>
            <a:prstDash val="solid"/>
          </a:ln>
        </p:spPr>
      </p:sp>
      <p:sp>
        <p:nvSpPr>
          <p:cNvPr id="26" name="Shape 24"/>
          <p:cNvSpPr/>
          <p:nvPr/>
        </p:nvSpPr>
        <p:spPr>
          <a:xfrm>
            <a:off x="502920" y="1069848"/>
            <a:ext cx="11201400" cy="0"/>
          </a:xfrm>
          <a:prstGeom prst="line">
            <a:avLst/>
          </a:prstGeom>
          <a:noFill/>
          <a:ln w="5080">
            <a:solidFill>
              <a:srgbClr val="0B304B">
                <a:alpha val="8000"/>
              </a:srgbClr>
            </a:solidFill>
            <a:prstDash val="solid"/>
          </a:ln>
        </p:spPr>
      </p:sp>
      <p:sp>
        <p:nvSpPr>
          <p:cNvPr id="27" name="Shape 25"/>
          <p:cNvSpPr/>
          <p:nvPr/>
        </p:nvSpPr>
        <p:spPr>
          <a:xfrm>
            <a:off x="502920" y="1572768"/>
            <a:ext cx="11201400" cy="0"/>
          </a:xfrm>
          <a:prstGeom prst="line">
            <a:avLst/>
          </a:prstGeom>
          <a:noFill/>
          <a:ln w="5080">
            <a:solidFill>
              <a:srgbClr val="0B304B">
                <a:alpha val="8000"/>
              </a:srgbClr>
            </a:solidFill>
            <a:prstDash val="solid"/>
          </a:ln>
        </p:spPr>
      </p:sp>
      <p:sp>
        <p:nvSpPr>
          <p:cNvPr id="28" name="Shape 26"/>
          <p:cNvSpPr/>
          <p:nvPr/>
        </p:nvSpPr>
        <p:spPr>
          <a:xfrm>
            <a:off x="502920" y="2075688"/>
            <a:ext cx="11201400" cy="0"/>
          </a:xfrm>
          <a:prstGeom prst="line">
            <a:avLst/>
          </a:prstGeom>
          <a:noFill/>
          <a:ln w="5080">
            <a:solidFill>
              <a:srgbClr val="0B304B">
                <a:alpha val="8000"/>
              </a:srgbClr>
            </a:solidFill>
            <a:prstDash val="solid"/>
          </a:ln>
        </p:spPr>
      </p:sp>
      <p:sp>
        <p:nvSpPr>
          <p:cNvPr id="29" name="Shape 27"/>
          <p:cNvSpPr/>
          <p:nvPr/>
        </p:nvSpPr>
        <p:spPr>
          <a:xfrm>
            <a:off x="502920" y="2578608"/>
            <a:ext cx="11201400" cy="0"/>
          </a:xfrm>
          <a:prstGeom prst="line">
            <a:avLst/>
          </a:prstGeom>
          <a:noFill/>
          <a:ln w="5080">
            <a:solidFill>
              <a:srgbClr val="0B304B">
                <a:alpha val="8000"/>
              </a:srgbClr>
            </a:solidFill>
            <a:prstDash val="solid"/>
          </a:ln>
        </p:spPr>
      </p:sp>
      <p:sp>
        <p:nvSpPr>
          <p:cNvPr id="30" name="Shape 28"/>
          <p:cNvSpPr/>
          <p:nvPr/>
        </p:nvSpPr>
        <p:spPr>
          <a:xfrm>
            <a:off x="502920" y="3081528"/>
            <a:ext cx="11201400" cy="0"/>
          </a:xfrm>
          <a:prstGeom prst="line">
            <a:avLst/>
          </a:prstGeom>
          <a:noFill/>
          <a:ln w="5080">
            <a:solidFill>
              <a:srgbClr val="0B304B">
                <a:alpha val="8000"/>
              </a:srgbClr>
            </a:solidFill>
            <a:prstDash val="solid"/>
          </a:ln>
        </p:spPr>
      </p:sp>
      <p:sp>
        <p:nvSpPr>
          <p:cNvPr id="31" name="Shape 29"/>
          <p:cNvSpPr/>
          <p:nvPr/>
        </p:nvSpPr>
        <p:spPr>
          <a:xfrm>
            <a:off x="502920" y="3584448"/>
            <a:ext cx="11201400" cy="0"/>
          </a:xfrm>
          <a:prstGeom prst="line">
            <a:avLst/>
          </a:prstGeom>
          <a:noFill/>
          <a:ln w="5080">
            <a:solidFill>
              <a:srgbClr val="0B304B">
                <a:alpha val="8000"/>
              </a:srgbClr>
            </a:solidFill>
            <a:prstDash val="solid"/>
          </a:ln>
        </p:spPr>
      </p:sp>
      <p:sp>
        <p:nvSpPr>
          <p:cNvPr id="32" name="Shape 30"/>
          <p:cNvSpPr/>
          <p:nvPr/>
        </p:nvSpPr>
        <p:spPr>
          <a:xfrm>
            <a:off x="502920" y="4087368"/>
            <a:ext cx="11201400" cy="0"/>
          </a:xfrm>
          <a:prstGeom prst="line">
            <a:avLst/>
          </a:prstGeom>
          <a:noFill/>
          <a:ln w="5080">
            <a:solidFill>
              <a:srgbClr val="0B304B">
                <a:alpha val="8000"/>
              </a:srgbClr>
            </a:solidFill>
            <a:prstDash val="solid"/>
          </a:ln>
        </p:spPr>
      </p:sp>
      <p:sp>
        <p:nvSpPr>
          <p:cNvPr id="33" name="Shape 31"/>
          <p:cNvSpPr/>
          <p:nvPr/>
        </p:nvSpPr>
        <p:spPr>
          <a:xfrm>
            <a:off x="502920" y="4590288"/>
            <a:ext cx="11201400" cy="0"/>
          </a:xfrm>
          <a:prstGeom prst="line">
            <a:avLst/>
          </a:prstGeom>
          <a:noFill/>
          <a:ln w="5080">
            <a:solidFill>
              <a:srgbClr val="0B304B">
                <a:alpha val="8000"/>
              </a:srgbClr>
            </a:solidFill>
            <a:prstDash val="solid"/>
          </a:ln>
        </p:spPr>
      </p:sp>
      <p:sp>
        <p:nvSpPr>
          <p:cNvPr id="34" name="Shape 32"/>
          <p:cNvSpPr/>
          <p:nvPr/>
        </p:nvSpPr>
        <p:spPr>
          <a:xfrm>
            <a:off x="502920" y="5093208"/>
            <a:ext cx="11201400" cy="0"/>
          </a:xfrm>
          <a:prstGeom prst="line">
            <a:avLst/>
          </a:prstGeom>
          <a:noFill/>
          <a:ln w="5080">
            <a:solidFill>
              <a:srgbClr val="0B304B">
                <a:alpha val="8000"/>
              </a:srgbClr>
            </a:solidFill>
            <a:prstDash val="solid"/>
          </a:ln>
        </p:spPr>
      </p:sp>
      <p:sp>
        <p:nvSpPr>
          <p:cNvPr id="35" name="Shape 33"/>
          <p:cNvSpPr/>
          <p:nvPr/>
        </p:nvSpPr>
        <p:spPr>
          <a:xfrm>
            <a:off x="502920" y="5596128"/>
            <a:ext cx="11201400" cy="0"/>
          </a:xfrm>
          <a:prstGeom prst="line">
            <a:avLst/>
          </a:prstGeom>
          <a:noFill/>
          <a:ln w="5080">
            <a:solidFill>
              <a:srgbClr val="0B304B">
                <a:alpha val="8000"/>
              </a:srgbClr>
            </a:solidFill>
            <a:prstDash val="solid"/>
          </a:ln>
        </p:spPr>
      </p:sp>
      <p:sp>
        <p:nvSpPr>
          <p:cNvPr id="36" name="Shape 34"/>
          <p:cNvSpPr/>
          <p:nvPr/>
        </p:nvSpPr>
        <p:spPr>
          <a:xfrm>
            <a:off x="502920" y="6099048"/>
            <a:ext cx="11201400" cy="0"/>
          </a:xfrm>
          <a:prstGeom prst="line">
            <a:avLst/>
          </a:prstGeom>
          <a:noFill/>
          <a:ln w="5080">
            <a:solidFill>
              <a:srgbClr val="0B304B">
                <a:alpha val="8000"/>
              </a:srgbClr>
            </a:solidFill>
            <a:prstDash val="solid"/>
          </a:ln>
        </p:spPr>
      </p:sp>
      <p:sp>
        <p:nvSpPr>
          <p:cNvPr id="37" name="Shape 35"/>
          <p:cNvSpPr/>
          <p:nvPr/>
        </p:nvSpPr>
        <p:spPr>
          <a:xfrm>
            <a:off x="502920" y="320040"/>
            <a:ext cx="1417320" cy="256032"/>
          </a:xfrm>
          <a:prstGeom prst="roundRect">
            <a:avLst>
              <a:gd name="adj" fmla="val 17857"/>
            </a:avLst>
          </a:prstGeom>
          <a:solidFill>
            <a:srgbClr val="09273D"/>
          </a:solidFill>
          <a:ln w="10160">
            <a:solidFill>
              <a:srgbClr val="3FE0B5">
                <a:alpha val="65000"/>
              </a:srgbClr>
            </a:solidFill>
            <a:prstDash val="solid"/>
          </a:ln>
        </p:spPr>
      </p:sp>
      <p:sp>
        <p:nvSpPr>
          <p:cNvPr id="38"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3FE0B5"/>
                </a:solidFill>
                <a:latin typeface="Aptos" pitchFamily="34" charset="0"/>
                <a:ea typeface="Aptos" pitchFamily="34" charset="-122"/>
                <a:cs typeface="Aptos" pitchFamily="34" charset="-120"/>
              </a:rPr>
              <a:t>DASHBOARD 2</a:t>
            </a:r>
            <a:endParaRPr lang="en-US" sz="560" dirty="0"/>
          </a:p>
        </p:txBody>
      </p:sp>
      <p:sp>
        <p:nvSpPr>
          <p:cNvPr id="39"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Dashboard 2 — Geographic &amp; Environmental Risk</a:t>
            </a:r>
            <a:endParaRPr lang="en-US" sz="2350" dirty="0"/>
          </a:p>
        </p:txBody>
      </p:sp>
      <p:pic>
        <p:nvPicPr>
          <p:cNvPr id="40" name="Image 0" descr="/mnt/data/radar_sweep.gif"/>
          <p:cNvPicPr>
            <a:picLocks noChangeAspect="1"/>
          </p:cNvPicPr>
          <p:nvPr/>
        </p:nvPicPr>
        <p:blipFill>
          <a:blip r:embed="rId3"/>
          <a:stretch>
            <a:fillRect/>
          </a:stretch>
        </p:blipFill>
        <p:spPr>
          <a:xfrm>
            <a:off x="10625328" y="621792"/>
            <a:ext cx="713232" cy="713232"/>
          </a:xfrm>
          <a:prstGeom prst="rect">
            <a:avLst/>
          </a:prstGeom>
        </p:spPr>
      </p:pic>
      <p:sp>
        <p:nvSpPr>
          <p:cNvPr id="41" name="Shape 38"/>
          <p:cNvSpPr/>
          <p:nvPr/>
        </p:nvSpPr>
        <p:spPr>
          <a:xfrm>
            <a:off x="566928" y="1536192"/>
            <a:ext cx="5321808" cy="731520"/>
          </a:xfrm>
          <a:prstGeom prst="roundRect">
            <a:avLst>
              <a:gd name="adj" fmla="val 10000"/>
            </a:avLst>
          </a:prstGeom>
          <a:solidFill>
            <a:srgbClr val="0A2035"/>
          </a:solidFill>
          <a:ln w="11430">
            <a:solidFill>
              <a:srgbClr val="16445F">
                <a:alpha val="90000"/>
              </a:srgbClr>
            </a:solidFill>
            <a:prstDash val="solid"/>
          </a:ln>
        </p:spPr>
      </p:sp>
      <p:sp>
        <p:nvSpPr>
          <p:cNvPr id="42" name="Shape 39"/>
          <p:cNvSpPr/>
          <p:nvPr/>
        </p:nvSpPr>
        <p:spPr>
          <a:xfrm>
            <a:off x="566928" y="1536192"/>
            <a:ext cx="41148" cy="731520"/>
          </a:xfrm>
          <a:prstGeom prst="rect">
            <a:avLst/>
          </a:prstGeom>
          <a:solidFill>
            <a:srgbClr val="3FE0B5"/>
          </a:solidFill>
          <a:ln w="12700">
            <a:solidFill>
              <a:srgbClr val="3FE0B5"/>
            </a:solidFill>
            <a:prstDash val="solid"/>
          </a:ln>
        </p:spPr>
      </p:sp>
      <p:sp>
        <p:nvSpPr>
          <p:cNvPr id="43" name="Shape 40"/>
          <p:cNvSpPr/>
          <p:nvPr/>
        </p:nvSpPr>
        <p:spPr>
          <a:xfrm>
            <a:off x="731520" y="1709928"/>
            <a:ext cx="347472" cy="347472"/>
          </a:xfrm>
          <a:prstGeom prst="ellipse">
            <a:avLst/>
          </a:prstGeom>
          <a:solidFill>
            <a:srgbClr val="3FE0B5"/>
          </a:solidFill>
          <a:ln w="12700">
            <a:solidFill>
              <a:srgbClr val="3FE0B5">
                <a:alpha val="0"/>
              </a:srgbClr>
            </a:solidFill>
            <a:prstDash val="solid"/>
          </a:ln>
        </p:spPr>
      </p:sp>
      <p:sp>
        <p:nvSpPr>
          <p:cNvPr id="44" name="Text 41"/>
          <p:cNvSpPr/>
          <p:nvPr/>
        </p:nvSpPr>
        <p:spPr>
          <a:xfrm>
            <a:off x="731520" y="1773936"/>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1</a:t>
            </a:r>
            <a:endParaRPr lang="en-US" sz="800" dirty="0"/>
          </a:p>
        </p:txBody>
      </p:sp>
      <p:sp>
        <p:nvSpPr>
          <p:cNvPr id="45" name="Text 42"/>
          <p:cNvSpPr/>
          <p:nvPr/>
        </p:nvSpPr>
        <p:spPr>
          <a:xfrm>
            <a:off x="1225296" y="1664208"/>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Which countries have the highest number of accidents?</a:t>
            </a:r>
            <a:endParaRPr lang="en-US" sz="930" dirty="0"/>
          </a:p>
        </p:txBody>
      </p:sp>
      <p:sp>
        <p:nvSpPr>
          <p:cNvPr id="46" name="Shape 43"/>
          <p:cNvSpPr/>
          <p:nvPr/>
        </p:nvSpPr>
        <p:spPr>
          <a:xfrm>
            <a:off x="6153912" y="1536192"/>
            <a:ext cx="5321808" cy="731520"/>
          </a:xfrm>
          <a:prstGeom prst="roundRect">
            <a:avLst>
              <a:gd name="adj" fmla="val 10000"/>
            </a:avLst>
          </a:prstGeom>
          <a:solidFill>
            <a:srgbClr val="0A2035"/>
          </a:solidFill>
          <a:ln w="11430">
            <a:solidFill>
              <a:srgbClr val="16445F">
                <a:alpha val="90000"/>
              </a:srgbClr>
            </a:solidFill>
            <a:prstDash val="solid"/>
          </a:ln>
        </p:spPr>
      </p:sp>
      <p:sp>
        <p:nvSpPr>
          <p:cNvPr id="47" name="Shape 44"/>
          <p:cNvSpPr/>
          <p:nvPr/>
        </p:nvSpPr>
        <p:spPr>
          <a:xfrm>
            <a:off x="6153912" y="1536192"/>
            <a:ext cx="41148" cy="731520"/>
          </a:xfrm>
          <a:prstGeom prst="rect">
            <a:avLst/>
          </a:prstGeom>
          <a:solidFill>
            <a:srgbClr val="3FE0B5"/>
          </a:solidFill>
          <a:ln w="12700">
            <a:solidFill>
              <a:srgbClr val="3FE0B5"/>
            </a:solidFill>
            <a:prstDash val="solid"/>
          </a:ln>
        </p:spPr>
      </p:sp>
      <p:sp>
        <p:nvSpPr>
          <p:cNvPr id="48" name="Shape 45"/>
          <p:cNvSpPr/>
          <p:nvPr/>
        </p:nvSpPr>
        <p:spPr>
          <a:xfrm>
            <a:off x="6318504" y="1709928"/>
            <a:ext cx="347472" cy="347472"/>
          </a:xfrm>
          <a:prstGeom prst="ellipse">
            <a:avLst/>
          </a:prstGeom>
          <a:solidFill>
            <a:srgbClr val="3FE0B5"/>
          </a:solidFill>
          <a:ln w="12700">
            <a:solidFill>
              <a:srgbClr val="3FE0B5">
                <a:alpha val="0"/>
              </a:srgbClr>
            </a:solidFill>
            <a:prstDash val="solid"/>
          </a:ln>
        </p:spPr>
      </p:sp>
      <p:sp>
        <p:nvSpPr>
          <p:cNvPr id="49" name="Text 46"/>
          <p:cNvSpPr/>
          <p:nvPr/>
        </p:nvSpPr>
        <p:spPr>
          <a:xfrm>
            <a:off x="6318504" y="1773936"/>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2</a:t>
            </a:r>
            <a:endParaRPr lang="en-US" sz="800" dirty="0"/>
          </a:p>
        </p:txBody>
      </p:sp>
      <p:sp>
        <p:nvSpPr>
          <p:cNvPr id="50" name="Text 47"/>
          <p:cNvSpPr/>
          <p:nvPr/>
        </p:nvSpPr>
        <p:spPr>
          <a:xfrm>
            <a:off x="6812280" y="1664208"/>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Which specific airports have the highest accident frequency?</a:t>
            </a:r>
            <a:endParaRPr lang="en-US" sz="930" dirty="0"/>
          </a:p>
        </p:txBody>
      </p:sp>
      <p:sp>
        <p:nvSpPr>
          <p:cNvPr id="51" name="Shape 48"/>
          <p:cNvSpPr/>
          <p:nvPr/>
        </p:nvSpPr>
        <p:spPr>
          <a:xfrm>
            <a:off x="566928" y="2395728"/>
            <a:ext cx="5321808" cy="731520"/>
          </a:xfrm>
          <a:prstGeom prst="roundRect">
            <a:avLst>
              <a:gd name="adj" fmla="val 10000"/>
            </a:avLst>
          </a:prstGeom>
          <a:solidFill>
            <a:srgbClr val="0A2035"/>
          </a:solidFill>
          <a:ln w="11430">
            <a:solidFill>
              <a:srgbClr val="16445F">
                <a:alpha val="90000"/>
              </a:srgbClr>
            </a:solidFill>
            <a:prstDash val="solid"/>
          </a:ln>
        </p:spPr>
      </p:sp>
      <p:sp>
        <p:nvSpPr>
          <p:cNvPr id="52" name="Shape 49"/>
          <p:cNvSpPr/>
          <p:nvPr/>
        </p:nvSpPr>
        <p:spPr>
          <a:xfrm>
            <a:off x="566928" y="2395728"/>
            <a:ext cx="41148" cy="731520"/>
          </a:xfrm>
          <a:prstGeom prst="rect">
            <a:avLst/>
          </a:prstGeom>
          <a:solidFill>
            <a:srgbClr val="3FE0B5"/>
          </a:solidFill>
          <a:ln w="12700">
            <a:solidFill>
              <a:srgbClr val="3FE0B5"/>
            </a:solidFill>
            <a:prstDash val="solid"/>
          </a:ln>
        </p:spPr>
      </p:sp>
      <p:sp>
        <p:nvSpPr>
          <p:cNvPr id="53" name="Shape 50"/>
          <p:cNvSpPr/>
          <p:nvPr/>
        </p:nvSpPr>
        <p:spPr>
          <a:xfrm>
            <a:off x="731520" y="2569464"/>
            <a:ext cx="347472" cy="347472"/>
          </a:xfrm>
          <a:prstGeom prst="ellipse">
            <a:avLst/>
          </a:prstGeom>
          <a:solidFill>
            <a:srgbClr val="3FE0B5"/>
          </a:solidFill>
          <a:ln w="12700">
            <a:solidFill>
              <a:srgbClr val="3FE0B5">
                <a:alpha val="0"/>
              </a:srgbClr>
            </a:solidFill>
            <a:prstDash val="solid"/>
          </a:ln>
        </p:spPr>
      </p:sp>
      <p:sp>
        <p:nvSpPr>
          <p:cNvPr id="54" name="Text 51"/>
          <p:cNvSpPr/>
          <p:nvPr/>
        </p:nvSpPr>
        <p:spPr>
          <a:xfrm>
            <a:off x="731520" y="2633472"/>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3</a:t>
            </a:r>
            <a:endParaRPr lang="en-US" sz="800" dirty="0"/>
          </a:p>
        </p:txBody>
      </p:sp>
      <p:sp>
        <p:nvSpPr>
          <p:cNvPr id="55" name="Text 52"/>
          <p:cNvSpPr/>
          <p:nvPr/>
        </p:nvSpPr>
        <p:spPr>
          <a:xfrm>
            <a:off x="1225296" y="2523744"/>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What percentage of accidents occurred under VMC vs IMC weather conditions?</a:t>
            </a:r>
            <a:endParaRPr lang="en-US" sz="930" dirty="0"/>
          </a:p>
        </p:txBody>
      </p:sp>
      <p:sp>
        <p:nvSpPr>
          <p:cNvPr id="56" name="Shape 53"/>
          <p:cNvSpPr/>
          <p:nvPr/>
        </p:nvSpPr>
        <p:spPr>
          <a:xfrm>
            <a:off x="6153912" y="2395728"/>
            <a:ext cx="5321808" cy="731520"/>
          </a:xfrm>
          <a:prstGeom prst="roundRect">
            <a:avLst>
              <a:gd name="adj" fmla="val 10000"/>
            </a:avLst>
          </a:prstGeom>
          <a:solidFill>
            <a:srgbClr val="0A2035"/>
          </a:solidFill>
          <a:ln w="11430">
            <a:solidFill>
              <a:srgbClr val="16445F">
                <a:alpha val="90000"/>
              </a:srgbClr>
            </a:solidFill>
            <a:prstDash val="solid"/>
          </a:ln>
        </p:spPr>
      </p:sp>
      <p:sp>
        <p:nvSpPr>
          <p:cNvPr id="57" name="Shape 54"/>
          <p:cNvSpPr/>
          <p:nvPr/>
        </p:nvSpPr>
        <p:spPr>
          <a:xfrm>
            <a:off x="6153912" y="2395728"/>
            <a:ext cx="41148" cy="731520"/>
          </a:xfrm>
          <a:prstGeom prst="rect">
            <a:avLst/>
          </a:prstGeom>
          <a:solidFill>
            <a:srgbClr val="3FE0B5"/>
          </a:solidFill>
          <a:ln w="12700">
            <a:solidFill>
              <a:srgbClr val="3FE0B5"/>
            </a:solidFill>
            <a:prstDash val="solid"/>
          </a:ln>
        </p:spPr>
      </p:sp>
      <p:sp>
        <p:nvSpPr>
          <p:cNvPr id="58" name="Shape 55"/>
          <p:cNvSpPr/>
          <p:nvPr/>
        </p:nvSpPr>
        <p:spPr>
          <a:xfrm>
            <a:off x="6318504" y="2569464"/>
            <a:ext cx="347472" cy="347472"/>
          </a:xfrm>
          <a:prstGeom prst="ellipse">
            <a:avLst/>
          </a:prstGeom>
          <a:solidFill>
            <a:srgbClr val="3FE0B5"/>
          </a:solidFill>
          <a:ln w="12700">
            <a:solidFill>
              <a:srgbClr val="3FE0B5">
                <a:alpha val="0"/>
              </a:srgbClr>
            </a:solidFill>
            <a:prstDash val="solid"/>
          </a:ln>
        </p:spPr>
      </p:sp>
      <p:sp>
        <p:nvSpPr>
          <p:cNvPr id="59" name="Text 56"/>
          <p:cNvSpPr/>
          <p:nvPr/>
        </p:nvSpPr>
        <p:spPr>
          <a:xfrm>
            <a:off x="6318504" y="2633472"/>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4</a:t>
            </a:r>
            <a:endParaRPr lang="en-US" sz="800" dirty="0"/>
          </a:p>
        </p:txBody>
      </p:sp>
      <p:sp>
        <p:nvSpPr>
          <p:cNvPr id="60" name="Text 57"/>
          <p:cNvSpPr/>
          <p:nvPr/>
        </p:nvSpPr>
        <p:spPr>
          <a:xfrm>
            <a:off x="6812280" y="2523744"/>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Is there a correlation between weather condition (IMC) and fatal injury severity?</a:t>
            </a:r>
            <a:endParaRPr lang="en-US" sz="930" dirty="0"/>
          </a:p>
        </p:txBody>
      </p:sp>
      <p:sp>
        <p:nvSpPr>
          <p:cNvPr id="61" name="Shape 58"/>
          <p:cNvSpPr/>
          <p:nvPr/>
        </p:nvSpPr>
        <p:spPr>
          <a:xfrm>
            <a:off x="566928" y="3255264"/>
            <a:ext cx="5321808" cy="731520"/>
          </a:xfrm>
          <a:prstGeom prst="roundRect">
            <a:avLst>
              <a:gd name="adj" fmla="val 10000"/>
            </a:avLst>
          </a:prstGeom>
          <a:solidFill>
            <a:srgbClr val="0A2035"/>
          </a:solidFill>
          <a:ln w="11430">
            <a:solidFill>
              <a:srgbClr val="16445F">
                <a:alpha val="90000"/>
              </a:srgbClr>
            </a:solidFill>
            <a:prstDash val="solid"/>
          </a:ln>
        </p:spPr>
      </p:sp>
      <p:sp>
        <p:nvSpPr>
          <p:cNvPr id="62" name="Shape 59"/>
          <p:cNvSpPr/>
          <p:nvPr/>
        </p:nvSpPr>
        <p:spPr>
          <a:xfrm>
            <a:off x="566928" y="3255264"/>
            <a:ext cx="41148" cy="731520"/>
          </a:xfrm>
          <a:prstGeom prst="rect">
            <a:avLst/>
          </a:prstGeom>
          <a:solidFill>
            <a:srgbClr val="3FE0B5"/>
          </a:solidFill>
          <a:ln w="12700">
            <a:solidFill>
              <a:srgbClr val="3FE0B5"/>
            </a:solidFill>
            <a:prstDash val="solid"/>
          </a:ln>
        </p:spPr>
      </p:sp>
      <p:sp>
        <p:nvSpPr>
          <p:cNvPr id="63" name="Shape 60"/>
          <p:cNvSpPr/>
          <p:nvPr/>
        </p:nvSpPr>
        <p:spPr>
          <a:xfrm>
            <a:off x="731520" y="3429000"/>
            <a:ext cx="347472" cy="347472"/>
          </a:xfrm>
          <a:prstGeom prst="ellipse">
            <a:avLst/>
          </a:prstGeom>
          <a:solidFill>
            <a:srgbClr val="3FE0B5"/>
          </a:solidFill>
          <a:ln w="12700">
            <a:solidFill>
              <a:srgbClr val="3FE0B5">
                <a:alpha val="0"/>
              </a:srgbClr>
            </a:solidFill>
            <a:prstDash val="solid"/>
          </a:ln>
        </p:spPr>
      </p:sp>
      <p:sp>
        <p:nvSpPr>
          <p:cNvPr id="64" name="Text 61"/>
          <p:cNvSpPr/>
          <p:nvPr/>
        </p:nvSpPr>
        <p:spPr>
          <a:xfrm>
            <a:off x="731520" y="349300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5</a:t>
            </a:r>
            <a:endParaRPr lang="en-US" sz="800" dirty="0"/>
          </a:p>
        </p:txBody>
      </p:sp>
      <p:sp>
        <p:nvSpPr>
          <p:cNvPr id="65" name="Text 62"/>
          <p:cNvSpPr/>
          <p:nvPr/>
        </p:nvSpPr>
        <p:spPr>
          <a:xfrm>
            <a:off x="1225296" y="3383280"/>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Which US states/locations show the highest accident concentration?</a:t>
            </a:r>
            <a:endParaRPr lang="en-US" sz="930" dirty="0"/>
          </a:p>
        </p:txBody>
      </p:sp>
      <p:sp>
        <p:nvSpPr>
          <p:cNvPr id="66" name="Shape 63"/>
          <p:cNvSpPr/>
          <p:nvPr/>
        </p:nvSpPr>
        <p:spPr>
          <a:xfrm>
            <a:off x="6153912" y="3255264"/>
            <a:ext cx="5321808" cy="731520"/>
          </a:xfrm>
          <a:prstGeom prst="roundRect">
            <a:avLst>
              <a:gd name="adj" fmla="val 10000"/>
            </a:avLst>
          </a:prstGeom>
          <a:solidFill>
            <a:srgbClr val="0A2035"/>
          </a:solidFill>
          <a:ln w="11430">
            <a:solidFill>
              <a:srgbClr val="16445F">
                <a:alpha val="90000"/>
              </a:srgbClr>
            </a:solidFill>
            <a:prstDash val="solid"/>
          </a:ln>
        </p:spPr>
      </p:sp>
      <p:sp>
        <p:nvSpPr>
          <p:cNvPr id="67" name="Shape 64"/>
          <p:cNvSpPr/>
          <p:nvPr/>
        </p:nvSpPr>
        <p:spPr>
          <a:xfrm>
            <a:off x="6153912" y="3255264"/>
            <a:ext cx="41148" cy="731520"/>
          </a:xfrm>
          <a:prstGeom prst="rect">
            <a:avLst/>
          </a:prstGeom>
          <a:solidFill>
            <a:srgbClr val="3FE0B5"/>
          </a:solidFill>
          <a:ln w="12700">
            <a:solidFill>
              <a:srgbClr val="3FE0B5"/>
            </a:solidFill>
            <a:prstDash val="solid"/>
          </a:ln>
        </p:spPr>
      </p:sp>
      <p:sp>
        <p:nvSpPr>
          <p:cNvPr id="68" name="Shape 65"/>
          <p:cNvSpPr/>
          <p:nvPr/>
        </p:nvSpPr>
        <p:spPr>
          <a:xfrm>
            <a:off x="6318504" y="3429000"/>
            <a:ext cx="347472" cy="347472"/>
          </a:xfrm>
          <a:prstGeom prst="ellipse">
            <a:avLst/>
          </a:prstGeom>
          <a:solidFill>
            <a:srgbClr val="3FE0B5"/>
          </a:solidFill>
          <a:ln w="12700">
            <a:solidFill>
              <a:srgbClr val="3FE0B5">
                <a:alpha val="0"/>
              </a:srgbClr>
            </a:solidFill>
            <a:prstDash val="solid"/>
          </a:ln>
        </p:spPr>
      </p:sp>
      <p:sp>
        <p:nvSpPr>
          <p:cNvPr id="69" name="Text 66"/>
          <p:cNvSpPr/>
          <p:nvPr/>
        </p:nvSpPr>
        <p:spPr>
          <a:xfrm>
            <a:off x="6318504" y="349300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6</a:t>
            </a:r>
            <a:endParaRPr lang="en-US" sz="800" dirty="0"/>
          </a:p>
        </p:txBody>
      </p:sp>
      <p:sp>
        <p:nvSpPr>
          <p:cNvPr id="70" name="Text 67"/>
          <p:cNvSpPr/>
          <p:nvPr/>
        </p:nvSpPr>
        <p:spPr>
          <a:xfrm>
            <a:off x="6812280" y="3383280"/>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What is the average fatality count for accidents occurring in poor weather vs good weather?</a:t>
            </a:r>
            <a:endParaRPr lang="en-US" sz="930" dirty="0"/>
          </a:p>
        </p:txBody>
      </p:sp>
      <p:sp>
        <p:nvSpPr>
          <p:cNvPr id="71" name="Shape 68"/>
          <p:cNvSpPr/>
          <p:nvPr/>
        </p:nvSpPr>
        <p:spPr>
          <a:xfrm>
            <a:off x="566928" y="4114800"/>
            <a:ext cx="5321808" cy="731520"/>
          </a:xfrm>
          <a:prstGeom prst="roundRect">
            <a:avLst>
              <a:gd name="adj" fmla="val 10000"/>
            </a:avLst>
          </a:prstGeom>
          <a:solidFill>
            <a:srgbClr val="0A2035"/>
          </a:solidFill>
          <a:ln w="11430">
            <a:solidFill>
              <a:srgbClr val="16445F">
                <a:alpha val="90000"/>
              </a:srgbClr>
            </a:solidFill>
            <a:prstDash val="solid"/>
          </a:ln>
        </p:spPr>
      </p:sp>
      <p:sp>
        <p:nvSpPr>
          <p:cNvPr id="72" name="Shape 69"/>
          <p:cNvSpPr/>
          <p:nvPr/>
        </p:nvSpPr>
        <p:spPr>
          <a:xfrm>
            <a:off x="566928" y="4114800"/>
            <a:ext cx="41148" cy="731520"/>
          </a:xfrm>
          <a:prstGeom prst="rect">
            <a:avLst/>
          </a:prstGeom>
          <a:solidFill>
            <a:srgbClr val="3FE0B5"/>
          </a:solidFill>
          <a:ln w="12700">
            <a:solidFill>
              <a:srgbClr val="3FE0B5"/>
            </a:solidFill>
            <a:prstDash val="solid"/>
          </a:ln>
        </p:spPr>
      </p:sp>
      <p:sp>
        <p:nvSpPr>
          <p:cNvPr id="73" name="Shape 70"/>
          <p:cNvSpPr/>
          <p:nvPr/>
        </p:nvSpPr>
        <p:spPr>
          <a:xfrm>
            <a:off x="731520" y="4288536"/>
            <a:ext cx="347472" cy="347472"/>
          </a:xfrm>
          <a:prstGeom prst="ellipse">
            <a:avLst/>
          </a:prstGeom>
          <a:solidFill>
            <a:srgbClr val="3FE0B5"/>
          </a:solidFill>
          <a:ln w="12700">
            <a:solidFill>
              <a:srgbClr val="3FE0B5">
                <a:alpha val="0"/>
              </a:srgbClr>
            </a:solidFill>
            <a:prstDash val="solid"/>
          </a:ln>
        </p:spPr>
      </p:sp>
      <p:sp>
        <p:nvSpPr>
          <p:cNvPr id="74" name="Text 71"/>
          <p:cNvSpPr/>
          <p:nvPr/>
        </p:nvSpPr>
        <p:spPr>
          <a:xfrm>
            <a:off x="731520" y="4352544"/>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7</a:t>
            </a:r>
            <a:endParaRPr lang="en-US" sz="800" dirty="0"/>
          </a:p>
        </p:txBody>
      </p:sp>
      <p:sp>
        <p:nvSpPr>
          <p:cNvPr id="75" name="Text 72"/>
          <p:cNvSpPr/>
          <p:nvPr/>
        </p:nvSpPr>
        <p:spPr>
          <a:xfrm>
            <a:off x="1225296" y="4242816"/>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Which broad phase of flight (takeoff, landing, cruise, maneuvering) has the highest accident rate per country?</a:t>
            </a:r>
            <a:endParaRPr lang="en-US" sz="930" dirty="0"/>
          </a:p>
        </p:txBody>
      </p:sp>
      <p:sp>
        <p:nvSpPr>
          <p:cNvPr id="76" name="Shape 73">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77" name="Text 74">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78" name="Shape 75">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79" name="Shape 76">
            <a:hlinkClick r:id="rId5" action="ppaction://hlinksldjump"/>
          </p:cNvPr>
          <p:cNvSpPr/>
          <p:nvPr/>
        </p:nvSpPr>
        <p:spPr>
          <a:xfrm rot="16200000">
            <a:off x="11018520" y="6181344"/>
            <a:ext cx="146304" cy="146304"/>
          </a:xfrm>
          <a:prstGeom prst="chevron">
            <a:avLst/>
          </a:prstGeom>
          <a:solidFill>
            <a:srgbClr val="16DFF7"/>
          </a:solidFill>
          <a:ln w="12700">
            <a:solidFill>
              <a:srgbClr val="16DFF7"/>
            </a:solidFill>
            <a:prstDash val="solid"/>
          </a:ln>
        </p:spPr>
      </p:sp>
      <p:sp>
        <p:nvSpPr>
          <p:cNvPr id="80" name="Shape 77">
            <a:hlinkClick r:id="rId6" action="ppaction://hlinksldjump"/>
          </p:cNvPr>
          <p:cNvSpPr/>
          <p:nvPr/>
        </p:nvSpPr>
        <p:spPr>
          <a:xfrm>
            <a:off x="11338560" y="6099048"/>
            <a:ext cx="347472" cy="347472"/>
          </a:xfrm>
          <a:prstGeom prst="ellipse">
            <a:avLst/>
          </a:prstGeom>
          <a:solidFill>
            <a:srgbClr val="0B2940"/>
          </a:solidFill>
          <a:ln w="10160">
            <a:solidFill>
              <a:srgbClr val="16718B"/>
            </a:solidFill>
            <a:prstDash val="solid"/>
          </a:ln>
        </p:spPr>
      </p:sp>
      <p:sp>
        <p:nvSpPr>
          <p:cNvPr id="81" name="Text 78">
            <a:hlinkClick r:id="rId6" action="ppaction://hlinksldjump"/>
          </p:cNvPr>
          <p:cNvSpPr/>
          <p:nvPr/>
        </p:nvSpPr>
        <p:spPr>
          <a:xfrm>
            <a:off x="11356848"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6" action="ppaction://hlinksldjump">
                  <a:extLst>
                    <a:ext uri="{A12FA001-AC4F-418D-AE19-62706E023703}">
                      <ahyp:hlinkClr xmlns:ahyp="http://schemas.microsoft.com/office/drawing/2018/hyperlinkcolor" val="tx"/>
                    </a:ext>
                  </a:extLst>
                </a:hlinkClick>
              </a:rPr>
              <a:t>›</a:t>
            </a:r>
            <a:endParaRPr lang="en-US" sz="1700" dirty="0"/>
          </a:p>
        </p:txBody>
      </p:sp>
      <p:sp>
        <p:nvSpPr>
          <p:cNvPr id="82"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10000"/>
              </a:srgbClr>
            </a:solidFill>
            <a:prstDash val="solid"/>
          </a:ln>
        </p:spPr>
      </p:sp>
      <p:sp>
        <p:nvSpPr>
          <p:cNvPr id="3" name="Shape 1"/>
          <p:cNvSpPr/>
          <p:nvPr/>
        </p:nvSpPr>
        <p:spPr>
          <a:xfrm>
            <a:off x="1051560" y="502920"/>
            <a:ext cx="0" cy="5715000"/>
          </a:xfrm>
          <a:prstGeom prst="line">
            <a:avLst/>
          </a:prstGeom>
          <a:noFill/>
          <a:ln w="5080">
            <a:solidFill>
              <a:srgbClr val="0B304B">
                <a:alpha val="10000"/>
              </a:srgbClr>
            </a:solidFill>
            <a:prstDash val="solid"/>
          </a:ln>
        </p:spPr>
      </p:sp>
      <p:sp>
        <p:nvSpPr>
          <p:cNvPr id="4" name="Shape 2"/>
          <p:cNvSpPr/>
          <p:nvPr/>
        </p:nvSpPr>
        <p:spPr>
          <a:xfrm>
            <a:off x="1554480" y="502920"/>
            <a:ext cx="0" cy="5715000"/>
          </a:xfrm>
          <a:prstGeom prst="line">
            <a:avLst/>
          </a:prstGeom>
          <a:noFill/>
          <a:ln w="5080">
            <a:solidFill>
              <a:srgbClr val="0B304B">
                <a:alpha val="10000"/>
              </a:srgbClr>
            </a:solidFill>
            <a:prstDash val="solid"/>
          </a:ln>
        </p:spPr>
      </p:sp>
      <p:sp>
        <p:nvSpPr>
          <p:cNvPr id="5" name="Shape 3"/>
          <p:cNvSpPr/>
          <p:nvPr/>
        </p:nvSpPr>
        <p:spPr>
          <a:xfrm>
            <a:off x="2057400" y="502920"/>
            <a:ext cx="0" cy="5715000"/>
          </a:xfrm>
          <a:prstGeom prst="line">
            <a:avLst/>
          </a:prstGeom>
          <a:noFill/>
          <a:ln w="5080">
            <a:solidFill>
              <a:srgbClr val="0B304B">
                <a:alpha val="10000"/>
              </a:srgbClr>
            </a:solidFill>
            <a:prstDash val="solid"/>
          </a:ln>
        </p:spPr>
      </p:sp>
      <p:sp>
        <p:nvSpPr>
          <p:cNvPr id="6" name="Shape 4"/>
          <p:cNvSpPr/>
          <p:nvPr/>
        </p:nvSpPr>
        <p:spPr>
          <a:xfrm>
            <a:off x="2560320" y="502920"/>
            <a:ext cx="0" cy="5715000"/>
          </a:xfrm>
          <a:prstGeom prst="line">
            <a:avLst/>
          </a:prstGeom>
          <a:noFill/>
          <a:ln w="5080">
            <a:solidFill>
              <a:srgbClr val="0B304B">
                <a:alpha val="10000"/>
              </a:srgbClr>
            </a:solidFill>
            <a:prstDash val="solid"/>
          </a:ln>
        </p:spPr>
      </p:sp>
      <p:sp>
        <p:nvSpPr>
          <p:cNvPr id="7" name="Shape 5"/>
          <p:cNvSpPr/>
          <p:nvPr/>
        </p:nvSpPr>
        <p:spPr>
          <a:xfrm>
            <a:off x="3063240" y="502920"/>
            <a:ext cx="0" cy="5715000"/>
          </a:xfrm>
          <a:prstGeom prst="line">
            <a:avLst/>
          </a:prstGeom>
          <a:noFill/>
          <a:ln w="5080">
            <a:solidFill>
              <a:srgbClr val="0B304B">
                <a:alpha val="10000"/>
              </a:srgbClr>
            </a:solidFill>
            <a:prstDash val="solid"/>
          </a:ln>
        </p:spPr>
      </p:sp>
      <p:sp>
        <p:nvSpPr>
          <p:cNvPr id="8" name="Shape 6"/>
          <p:cNvSpPr/>
          <p:nvPr/>
        </p:nvSpPr>
        <p:spPr>
          <a:xfrm>
            <a:off x="3566160" y="502920"/>
            <a:ext cx="0" cy="5715000"/>
          </a:xfrm>
          <a:prstGeom prst="line">
            <a:avLst/>
          </a:prstGeom>
          <a:noFill/>
          <a:ln w="5080">
            <a:solidFill>
              <a:srgbClr val="0B304B">
                <a:alpha val="10000"/>
              </a:srgbClr>
            </a:solidFill>
            <a:prstDash val="solid"/>
          </a:ln>
        </p:spPr>
      </p:sp>
      <p:sp>
        <p:nvSpPr>
          <p:cNvPr id="9" name="Shape 7"/>
          <p:cNvSpPr/>
          <p:nvPr/>
        </p:nvSpPr>
        <p:spPr>
          <a:xfrm>
            <a:off x="4069080" y="502920"/>
            <a:ext cx="0" cy="5715000"/>
          </a:xfrm>
          <a:prstGeom prst="line">
            <a:avLst/>
          </a:prstGeom>
          <a:noFill/>
          <a:ln w="5080">
            <a:solidFill>
              <a:srgbClr val="0B304B">
                <a:alpha val="10000"/>
              </a:srgbClr>
            </a:solidFill>
            <a:prstDash val="solid"/>
          </a:ln>
        </p:spPr>
      </p:sp>
      <p:sp>
        <p:nvSpPr>
          <p:cNvPr id="10" name="Shape 8"/>
          <p:cNvSpPr/>
          <p:nvPr/>
        </p:nvSpPr>
        <p:spPr>
          <a:xfrm>
            <a:off x="4572000" y="502920"/>
            <a:ext cx="0" cy="5715000"/>
          </a:xfrm>
          <a:prstGeom prst="line">
            <a:avLst/>
          </a:prstGeom>
          <a:noFill/>
          <a:ln w="5080">
            <a:solidFill>
              <a:srgbClr val="0B304B">
                <a:alpha val="10000"/>
              </a:srgbClr>
            </a:solidFill>
            <a:prstDash val="solid"/>
          </a:ln>
        </p:spPr>
      </p:sp>
      <p:sp>
        <p:nvSpPr>
          <p:cNvPr id="11" name="Shape 9"/>
          <p:cNvSpPr/>
          <p:nvPr/>
        </p:nvSpPr>
        <p:spPr>
          <a:xfrm>
            <a:off x="5074920" y="502920"/>
            <a:ext cx="0" cy="5715000"/>
          </a:xfrm>
          <a:prstGeom prst="line">
            <a:avLst/>
          </a:prstGeom>
          <a:noFill/>
          <a:ln w="5080">
            <a:solidFill>
              <a:srgbClr val="0B304B">
                <a:alpha val="10000"/>
              </a:srgbClr>
            </a:solidFill>
            <a:prstDash val="solid"/>
          </a:ln>
        </p:spPr>
      </p:sp>
      <p:sp>
        <p:nvSpPr>
          <p:cNvPr id="12" name="Shape 10"/>
          <p:cNvSpPr/>
          <p:nvPr/>
        </p:nvSpPr>
        <p:spPr>
          <a:xfrm>
            <a:off x="5577840" y="502920"/>
            <a:ext cx="0" cy="5715000"/>
          </a:xfrm>
          <a:prstGeom prst="line">
            <a:avLst/>
          </a:prstGeom>
          <a:noFill/>
          <a:ln w="5080">
            <a:solidFill>
              <a:srgbClr val="0B304B">
                <a:alpha val="10000"/>
              </a:srgbClr>
            </a:solidFill>
            <a:prstDash val="solid"/>
          </a:ln>
        </p:spPr>
      </p:sp>
      <p:sp>
        <p:nvSpPr>
          <p:cNvPr id="13" name="Shape 11"/>
          <p:cNvSpPr/>
          <p:nvPr/>
        </p:nvSpPr>
        <p:spPr>
          <a:xfrm>
            <a:off x="6080760" y="502920"/>
            <a:ext cx="0" cy="5715000"/>
          </a:xfrm>
          <a:prstGeom prst="line">
            <a:avLst/>
          </a:prstGeom>
          <a:noFill/>
          <a:ln w="5080">
            <a:solidFill>
              <a:srgbClr val="0B304B">
                <a:alpha val="10000"/>
              </a:srgbClr>
            </a:solidFill>
            <a:prstDash val="solid"/>
          </a:ln>
        </p:spPr>
      </p:sp>
      <p:sp>
        <p:nvSpPr>
          <p:cNvPr id="14" name="Shape 12"/>
          <p:cNvSpPr/>
          <p:nvPr/>
        </p:nvSpPr>
        <p:spPr>
          <a:xfrm>
            <a:off x="6583680" y="502920"/>
            <a:ext cx="0" cy="5715000"/>
          </a:xfrm>
          <a:prstGeom prst="line">
            <a:avLst/>
          </a:prstGeom>
          <a:noFill/>
          <a:ln w="5080">
            <a:solidFill>
              <a:srgbClr val="0B304B">
                <a:alpha val="10000"/>
              </a:srgbClr>
            </a:solidFill>
            <a:prstDash val="solid"/>
          </a:ln>
        </p:spPr>
      </p:sp>
      <p:sp>
        <p:nvSpPr>
          <p:cNvPr id="15" name="Shape 13"/>
          <p:cNvSpPr/>
          <p:nvPr/>
        </p:nvSpPr>
        <p:spPr>
          <a:xfrm>
            <a:off x="7086600" y="502920"/>
            <a:ext cx="0" cy="5715000"/>
          </a:xfrm>
          <a:prstGeom prst="line">
            <a:avLst/>
          </a:prstGeom>
          <a:noFill/>
          <a:ln w="5080">
            <a:solidFill>
              <a:srgbClr val="0B304B">
                <a:alpha val="10000"/>
              </a:srgbClr>
            </a:solidFill>
            <a:prstDash val="solid"/>
          </a:ln>
        </p:spPr>
      </p:sp>
      <p:sp>
        <p:nvSpPr>
          <p:cNvPr id="16" name="Shape 14"/>
          <p:cNvSpPr/>
          <p:nvPr/>
        </p:nvSpPr>
        <p:spPr>
          <a:xfrm>
            <a:off x="7589520" y="502920"/>
            <a:ext cx="0" cy="5715000"/>
          </a:xfrm>
          <a:prstGeom prst="line">
            <a:avLst/>
          </a:prstGeom>
          <a:noFill/>
          <a:ln w="5080">
            <a:solidFill>
              <a:srgbClr val="0B304B">
                <a:alpha val="10000"/>
              </a:srgbClr>
            </a:solidFill>
            <a:prstDash val="solid"/>
          </a:ln>
        </p:spPr>
      </p:sp>
      <p:sp>
        <p:nvSpPr>
          <p:cNvPr id="17" name="Shape 15"/>
          <p:cNvSpPr/>
          <p:nvPr/>
        </p:nvSpPr>
        <p:spPr>
          <a:xfrm>
            <a:off x="8092440" y="502920"/>
            <a:ext cx="0" cy="5715000"/>
          </a:xfrm>
          <a:prstGeom prst="line">
            <a:avLst/>
          </a:prstGeom>
          <a:noFill/>
          <a:ln w="5080">
            <a:solidFill>
              <a:srgbClr val="0B304B">
                <a:alpha val="10000"/>
              </a:srgbClr>
            </a:solidFill>
            <a:prstDash val="solid"/>
          </a:ln>
        </p:spPr>
      </p:sp>
      <p:sp>
        <p:nvSpPr>
          <p:cNvPr id="18" name="Shape 16"/>
          <p:cNvSpPr/>
          <p:nvPr/>
        </p:nvSpPr>
        <p:spPr>
          <a:xfrm>
            <a:off x="8595360" y="502920"/>
            <a:ext cx="0" cy="5715000"/>
          </a:xfrm>
          <a:prstGeom prst="line">
            <a:avLst/>
          </a:prstGeom>
          <a:noFill/>
          <a:ln w="5080">
            <a:solidFill>
              <a:srgbClr val="0B304B">
                <a:alpha val="10000"/>
              </a:srgbClr>
            </a:solidFill>
            <a:prstDash val="solid"/>
          </a:ln>
        </p:spPr>
      </p:sp>
      <p:sp>
        <p:nvSpPr>
          <p:cNvPr id="19" name="Shape 17"/>
          <p:cNvSpPr/>
          <p:nvPr/>
        </p:nvSpPr>
        <p:spPr>
          <a:xfrm>
            <a:off x="9098280" y="502920"/>
            <a:ext cx="0" cy="5715000"/>
          </a:xfrm>
          <a:prstGeom prst="line">
            <a:avLst/>
          </a:prstGeom>
          <a:noFill/>
          <a:ln w="5080">
            <a:solidFill>
              <a:srgbClr val="0B304B">
                <a:alpha val="10000"/>
              </a:srgbClr>
            </a:solidFill>
            <a:prstDash val="solid"/>
          </a:ln>
        </p:spPr>
      </p:sp>
      <p:sp>
        <p:nvSpPr>
          <p:cNvPr id="20" name="Shape 18"/>
          <p:cNvSpPr/>
          <p:nvPr/>
        </p:nvSpPr>
        <p:spPr>
          <a:xfrm>
            <a:off x="9601200" y="502920"/>
            <a:ext cx="0" cy="5715000"/>
          </a:xfrm>
          <a:prstGeom prst="line">
            <a:avLst/>
          </a:prstGeom>
          <a:noFill/>
          <a:ln w="5080">
            <a:solidFill>
              <a:srgbClr val="0B304B">
                <a:alpha val="10000"/>
              </a:srgbClr>
            </a:solidFill>
            <a:prstDash val="solid"/>
          </a:ln>
        </p:spPr>
      </p:sp>
      <p:sp>
        <p:nvSpPr>
          <p:cNvPr id="21" name="Shape 19"/>
          <p:cNvSpPr/>
          <p:nvPr/>
        </p:nvSpPr>
        <p:spPr>
          <a:xfrm>
            <a:off x="10104120" y="502920"/>
            <a:ext cx="0" cy="5715000"/>
          </a:xfrm>
          <a:prstGeom prst="line">
            <a:avLst/>
          </a:prstGeom>
          <a:noFill/>
          <a:ln w="5080">
            <a:solidFill>
              <a:srgbClr val="0B304B">
                <a:alpha val="10000"/>
              </a:srgbClr>
            </a:solidFill>
            <a:prstDash val="solid"/>
          </a:ln>
        </p:spPr>
      </p:sp>
      <p:sp>
        <p:nvSpPr>
          <p:cNvPr id="22" name="Shape 20"/>
          <p:cNvSpPr/>
          <p:nvPr/>
        </p:nvSpPr>
        <p:spPr>
          <a:xfrm>
            <a:off x="10607040" y="502920"/>
            <a:ext cx="0" cy="5715000"/>
          </a:xfrm>
          <a:prstGeom prst="line">
            <a:avLst/>
          </a:prstGeom>
          <a:noFill/>
          <a:ln w="5080">
            <a:solidFill>
              <a:srgbClr val="0B304B">
                <a:alpha val="10000"/>
              </a:srgbClr>
            </a:solidFill>
            <a:prstDash val="solid"/>
          </a:ln>
        </p:spPr>
      </p:sp>
      <p:sp>
        <p:nvSpPr>
          <p:cNvPr id="23" name="Shape 21"/>
          <p:cNvSpPr/>
          <p:nvPr/>
        </p:nvSpPr>
        <p:spPr>
          <a:xfrm>
            <a:off x="11109960" y="502920"/>
            <a:ext cx="0" cy="5715000"/>
          </a:xfrm>
          <a:prstGeom prst="line">
            <a:avLst/>
          </a:prstGeom>
          <a:noFill/>
          <a:ln w="5080">
            <a:solidFill>
              <a:srgbClr val="0B304B">
                <a:alpha val="10000"/>
              </a:srgbClr>
            </a:solidFill>
            <a:prstDash val="solid"/>
          </a:ln>
        </p:spPr>
      </p:sp>
      <p:sp>
        <p:nvSpPr>
          <p:cNvPr id="24" name="Shape 22"/>
          <p:cNvSpPr/>
          <p:nvPr/>
        </p:nvSpPr>
        <p:spPr>
          <a:xfrm>
            <a:off x="11612880" y="502920"/>
            <a:ext cx="0" cy="5715000"/>
          </a:xfrm>
          <a:prstGeom prst="line">
            <a:avLst/>
          </a:prstGeom>
          <a:noFill/>
          <a:ln w="5080">
            <a:solidFill>
              <a:srgbClr val="0B304B">
                <a:alpha val="10000"/>
              </a:srgbClr>
            </a:solidFill>
            <a:prstDash val="solid"/>
          </a:ln>
        </p:spPr>
      </p:sp>
      <p:sp>
        <p:nvSpPr>
          <p:cNvPr id="25" name="Shape 23"/>
          <p:cNvSpPr/>
          <p:nvPr/>
        </p:nvSpPr>
        <p:spPr>
          <a:xfrm>
            <a:off x="502920" y="566928"/>
            <a:ext cx="11201400" cy="0"/>
          </a:xfrm>
          <a:prstGeom prst="line">
            <a:avLst/>
          </a:prstGeom>
          <a:noFill/>
          <a:ln w="5080">
            <a:solidFill>
              <a:srgbClr val="0B304B">
                <a:alpha val="10000"/>
              </a:srgbClr>
            </a:solidFill>
            <a:prstDash val="solid"/>
          </a:ln>
        </p:spPr>
      </p:sp>
      <p:sp>
        <p:nvSpPr>
          <p:cNvPr id="26" name="Shape 24"/>
          <p:cNvSpPr/>
          <p:nvPr/>
        </p:nvSpPr>
        <p:spPr>
          <a:xfrm>
            <a:off x="502920" y="1069848"/>
            <a:ext cx="11201400" cy="0"/>
          </a:xfrm>
          <a:prstGeom prst="line">
            <a:avLst/>
          </a:prstGeom>
          <a:noFill/>
          <a:ln w="5080">
            <a:solidFill>
              <a:srgbClr val="0B304B">
                <a:alpha val="10000"/>
              </a:srgbClr>
            </a:solidFill>
            <a:prstDash val="solid"/>
          </a:ln>
        </p:spPr>
      </p:sp>
      <p:sp>
        <p:nvSpPr>
          <p:cNvPr id="27" name="Shape 25"/>
          <p:cNvSpPr/>
          <p:nvPr/>
        </p:nvSpPr>
        <p:spPr>
          <a:xfrm>
            <a:off x="502920" y="1572768"/>
            <a:ext cx="11201400" cy="0"/>
          </a:xfrm>
          <a:prstGeom prst="line">
            <a:avLst/>
          </a:prstGeom>
          <a:noFill/>
          <a:ln w="5080">
            <a:solidFill>
              <a:srgbClr val="0B304B">
                <a:alpha val="10000"/>
              </a:srgbClr>
            </a:solidFill>
            <a:prstDash val="solid"/>
          </a:ln>
        </p:spPr>
      </p:sp>
      <p:sp>
        <p:nvSpPr>
          <p:cNvPr id="28" name="Shape 26"/>
          <p:cNvSpPr/>
          <p:nvPr/>
        </p:nvSpPr>
        <p:spPr>
          <a:xfrm>
            <a:off x="502920" y="2075688"/>
            <a:ext cx="11201400" cy="0"/>
          </a:xfrm>
          <a:prstGeom prst="line">
            <a:avLst/>
          </a:prstGeom>
          <a:noFill/>
          <a:ln w="5080">
            <a:solidFill>
              <a:srgbClr val="0B304B">
                <a:alpha val="10000"/>
              </a:srgbClr>
            </a:solidFill>
            <a:prstDash val="solid"/>
          </a:ln>
        </p:spPr>
      </p:sp>
      <p:sp>
        <p:nvSpPr>
          <p:cNvPr id="29" name="Shape 27"/>
          <p:cNvSpPr/>
          <p:nvPr/>
        </p:nvSpPr>
        <p:spPr>
          <a:xfrm>
            <a:off x="502920" y="2578608"/>
            <a:ext cx="11201400" cy="0"/>
          </a:xfrm>
          <a:prstGeom prst="line">
            <a:avLst/>
          </a:prstGeom>
          <a:noFill/>
          <a:ln w="5080">
            <a:solidFill>
              <a:srgbClr val="0B304B">
                <a:alpha val="10000"/>
              </a:srgbClr>
            </a:solidFill>
            <a:prstDash val="solid"/>
          </a:ln>
        </p:spPr>
      </p:sp>
      <p:sp>
        <p:nvSpPr>
          <p:cNvPr id="30" name="Shape 28"/>
          <p:cNvSpPr/>
          <p:nvPr/>
        </p:nvSpPr>
        <p:spPr>
          <a:xfrm>
            <a:off x="502920" y="3081528"/>
            <a:ext cx="11201400" cy="0"/>
          </a:xfrm>
          <a:prstGeom prst="line">
            <a:avLst/>
          </a:prstGeom>
          <a:noFill/>
          <a:ln w="5080">
            <a:solidFill>
              <a:srgbClr val="0B304B">
                <a:alpha val="10000"/>
              </a:srgbClr>
            </a:solidFill>
            <a:prstDash val="solid"/>
          </a:ln>
        </p:spPr>
      </p:sp>
      <p:sp>
        <p:nvSpPr>
          <p:cNvPr id="31" name="Shape 29"/>
          <p:cNvSpPr/>
          <p:nvPr/>
        </p:nvSpPr>
        <p:spPr>
          <a:xfrm>
            <a:off x="502920" y="3584448"/>
            <a:ext cx="11201400" cy="0"/>
          </a:xfrm>
          <a:prstGeom prst="line">
            <a:avLst/>
          </a:prstGeom>
          <a:noFill/>
          <a:ln w="5080">
            <a:solidFill>
              <a:srgbClr val="0B304B">
                <a:alpha val="10000"/>
              </a:srgbClr>
            </a:solidFill>
            <a:prstDash val="solid"/>
          </a:ln>
        </p:spPr>
      </p:sp>
      <p:sp>
        <p:nvSpPr>
          <p:cNvPr id="32" name="Shape 30"/>
          <p:cNvSpPr/>
          <p:nvPr/>
        </p:nvSpPr>
        <p:spPr>
          <a:xfrm>
            <a:off x="502920" y="4087368"/>
            <a:ext cx="11201400" cy="0"/>
          </a:xfrm>
          <a:prstGeom prst="line">
            <a:avLst/>
          </a:prstGeom>
          <a:noFill/>
          <a:ln w="5080">
            <a:solidFill>
              <a:srgbClr val="0B304B">
                <a:alpha val="10000"/>
              </a:srgbClr>
            </a:solidFill>
            <a:prstDash val="solid"/>
          </a:ln>
        </p:spPr>
      </p:sp>
      <p:sp>
        <p:nvSpPr>
          <p:cNvPr id="33" name="Shape 31"/>
          <p:cNvSpPr/>
          <p:nvPr/>
        </p:nvSpPr>
        <p:spPr>
          <a:xfrm>
            <a:off x="502920" y="4590288"/>
            <a:ext cx="11201400" cy="0"/>
          </a:xfrm>
          <a:prstGeom prst="line">
            <a:avLst/>
          </a:prstGeom>
          <a:noFill/>
          <a:ln w="5080">
            <a:solidFill>
              <a:srgbClr val="0B304B">
                <a:alpha val="10000"/>
              </a:srgbClr>
            </a:solidFill>
            <a:prstDash val="solid"/>
          </a:ln>
        </p:spPr>
      </p:sp>
      <p:sp>
        <p:nvSpPr>
          <p:cNvPr id="34" name="Shape 32"/>
          <p:cNvSpPr/>
          <p:nvPr/>
        </p:nvSpPr>
        <p:spPr>
          <a:xfrm>
            <a:off x="502920" y="5093208"/>
            <a:ext cx="11201400" cy="0"/>
          </a:xfrm>
          <a:prstGeom prst="line">
            <a:avLst/>
          </a:prstGeom>
          <a:noFill/>
          <a:ln w="5080">
            <a:solidFill>
              <a:srgbClr val="0B304B">
                <a:alpha val="10000"/>
              </a:srgbClr>
            </a:solidFill>
            <a:prstDash val="solid"/>
          </a:ln>
        </p:spPr>
      </p:sp>
      <p:sp>
        <p:nvSpPr>
          <p:cNvPr id="35" name="Shape 33"/>
          <p:cNvSpPr/>
          <p:nvPr/>
        </p:nvSpPr>
        <p:spPr>
          <a:xfrm>
            <a:off x="502920" y="5596128"/>
            <a:ext cx="11201400" cy="0"/>
          </a:xfrm>
          <a:prstGeom prst="line">
            <a:avLst/>
          </a:prstGeom>
          <a:noFill/>
          <a:ln w="5080">
            <a:solidFill>
              <a:srgbClr val="0B304B">
                <a:alpha val="10000"/>
              </a:srgbClr>
            </a:solidFill>
            <a:prstDash val="solid"/>
          </a:ln>
        </p:spPr>
      </p:sp>
      <p:sp>
        <p:nvSpPr>
          <p:cNvPr id="36" name="Shape 34"/>
          <p:cNvSpPr/>
          <p:nvPr/>
        </p:nvSpPr>
        <p:spPr>
          <a:xfrm>
            <a:off x="502920" y="6099048"/>
            <a:ext cx="11201400" cy="0"/>
          </a:xfrm>
          <a:prstGeom prst="line">
            <a:avLst/>
          </a:prstGeom>
          <a:noFill/>
          <a:ln w="5080">
            <a:solidFill>
              <a:srgbClr val="0B304B">
                <a:alpha val="10000"/>
              </a:srgbClr>
            </a:solidFill>
            <a:prstDash val="solid"/>
          </a:ln>
        </p:spPr>
      </p:sp>
      <p:sp>
        <p:nvSpPr>
          <p:cNvPr id="37" name="Shape 35"/>
          <p:cNvSpPr/>
          <p:nvPr/>
        </p:nvSpPr>
        <p:spPr>
          <a:xfrm>
            <a:off x="530352" y="329184"/>
            <a:ext cx="1463040" cy="256032"/>
          </a:xfrm>
          <a:prstGeom prst="roundRect">
            <a:avLst>
              <a:gd name="adj" fmla="val 17857"/>
            </a:avLst>
          </a:prstGeom>
          <a:solidFill>
            <a:srgbClr val="09273D"/>
          </a:solidFill>
          <a:ln w="10160">
            <a:solidFill>
              <a:srgbClr val="3FE0B5">
                <a:alpha val="65000"/>
              </a:srgbClr>
            </a:solidFill>
            <a:prstDash val="solid"/>
          </a:ln>
        </p:spPr>
      </p:sp>
      <p:sp>
        <p:nvSpPr>
          <p:cNvPr id="38" name="Text 36"/>
          <p:cNvSpPr/>
          <p:nvPr/>
        </p:nvSpPr>
        <p:spPr>
          <a:xfrm>
            <a:off x="603504" y="379476"/>
            <a:ext cx="131673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3FE0B5"/>
                </a:solidFill>
                <a:latin typeface="Aptos" pitchFamily="34" charset="0"/>
                <a:ea typeface="Aptos" pitchFamily="34" charset="-122"/>
                <a:cs typeface="Aptos" pitchFamily="34" charset="-120"/>
              </a:rPr>
              <a:t>DASHBOARD VIEW</a:t>
            </a:r>
            <a:endParaRPr lang="en-US" sz="560" dirty="0"/>
          </a:p>
        </p:txBody>
      </p:sp>
      <p:sp>
        <p:nvSpPr>
          <p:cNvPr id="39" name="Text 37"/>
          <p:cNvSpPr/>
          <p:nvPr/>
        </p:nvSpPr>
        <p:spPr>
          <a:xfrm>
            <a:off x="548640" y="658368"/>
            <a:ext cx="8046720" cy="384048"/>
          </a:xfrm>
          <a:prstGeom prst="rect">
            <a:avLst/>
          </a:prstGeom>
          <a:noFill/>
          <a:ln/>
        </p:spPr>
        <p:txBody>
          <a:bodyPr wrap="square" lIns="0" tIns="0" rIns="0" bIns="0" rtlCol="0" anchor="ctr">
            <a:normAutofit/>
          </a:bodyPr>
          <a:lstStyle/>
          <a:p>
            <a:pPr marL="0" indent="0">
              <a:buNone/>
            </a:pPr>
            <a:r>
              <a:rPr lang="en-US" sz="2000" b="1" dirty="0">
                <a:solidFill>
                  <a:srgbClr val="F5FAFE"/>
                </a:solidFill>
                <a:latin typeface="Aptos Display" pitchFamily="34" charset="0"/>
                <a:ea typeface="Aptos Display" pitchFamily="34" charset="-122"/>
                <a:cs typeface="Aptos Display" pitchFamily="34" charset="-120"/>
              </a:rPr>
              <a:t>Dashboard 2 — Geographic &amp; Environmental Risk</a:t>
            </a:r>
            <a:endParaRPr lang="en-US" sz="2000" dirty="0"/>
          </a:p>
        </p:txBody>
      </p:sp>
      <p:sp>
        <p:nvSpPr>
          <p:cNvPr id="40" name="Shape 38"/>
          <p:cNvSpPr/>
          <p:nvPr/>
        </p:nvSpPr>
        <p:spPr>
          <a:xfrm>
            <a:off x="621792" y="1261872"/>
            <a:ext cx="10945368" cy="4526280"/>
          </a:xfrm>
          <a:prstGeom prst="roundRect">
            <a:avLst>
              <a:gd name="adj" fmla="val 1616"/>
            </a:avLst>
          </a:prstGeom>
          <a:solidFill>
            <a:srgbClr val="071625"/>
          </a:solidFill>
          <a:ln w="11430">
            <a:solidFill>
              <a:srgbClr val="3FE0B5">
                <a:alpha val="90000"/>
              </a:srgbClr>
            </a:solidFill>
            <a:prstDash val="solid"/>
          </a:ln>
          <a:effectLst>
            <a:outerShdw algn="bl" rotWithShape="0">
              <a:srgbClr val="000000">
                <a:alpha val="0"/>
              </a:srgbClr>
            </a:outerShdw>
          </a:effectLst>
        </p:spPr>
      </p:sp>
      <p:pic>
        <p:nvPicPr>
          <p:cNvPr id="41" name="Image 0" descr="/mnt/data/nti_render/slide-17.png"/>
          <p:cNvPicPr>
            <a:picLocks noChangeAspect="1"/>
          </p:cNvPicPr>
          <p:nvPr/>
        </p:nvPicPr>
        <p:blipFill>
          <a:blip r:embed="rId3"/>
          <a:stretch>
            <a:fillRect/>
          </a:stretch>
        </p:blipFill>
        <p:spPr>
          <a:xfrm>
            <a:off x="2324288" y="1408176"/>
            <a:ext cx="7531232" cy="4233672"/>
          </a:xfrm>
          <a:prstGeom prst="rect">
            <a:avLst/>
          </a:prstGeom>
        </p:spPr>
      </p:pic>
      <p:sp>
        <p:nvSpPr>
          <p:cNvPr id="42" name="Shape 39"/>
          <p:cNvSpPr/>
          <p:nvPr/>
        </p:nvSpPr>
        <p:spPr>
          <a:xfrm>
            <a:off x="768096" y="1307592"/>
            <a:ext cx="54864" cy="54864"/>
          </a:xfrm>
          <a:prstGeom prst="ellipse">
            <a:avLst/>
          </a:prstGeom>
          <a:solidFill>
            <a:srgbClr val="FF6B70"/>
          </a:solidFill>
          <a:ln w="12700">
            <a:solidFill>
              <a:srgbClr val="333333">
                <a:alpha val="0"/>
              </a:srgbClr>
            </a:solidFill>
            <a:prstDash val="solid"/>
          </a:ln>
        </p:spPr>
      </p:sp>
      <p:sp>
        <p:nvSpPr>
          <p:cNvPr id="43" name="Shape 40"/>
          <p:cNvSpPr/>
          <p:nvPr/>
        </p:nvSpPr>
        <p:spPr>
          <a:xfrm>
            <a:off x="896112" y="1307592"/>
            <a:ext cx="54864" cy="54864"/>
          </a:xfrm>
          <a:prstGeom prst="ellipse">
            <a:avLst/>
          </a:prstGeom>
          <a:solidFill>
            <a:srgbClr val="FFBF45"/>
          </a:solidFill>
          <a:ln w="12700">
            <a:solidFill>
              <a:srgbClr val="333333">
                <a:alpha val="0"/>
              </a:srgbClr>
            </a:solidFill>
            <a:prstDash val="solid"/>
          </a:ln>
        </p:spPr>
      </p:sp>
      <p:sp>
        <p:nvSpPr>
          <p:cNvPr id="44" name="Shape 41"/>
          <p:cNvSpPr/>
          <p:nvPr/>
        </p:nvSpPr>
        <p:spPr>
          <a:xfrm>
            <a:off x="1024128" y="1307592"/>
            <a:ext cx="54864" cy="54864"/>
          </a:xfrm>
          <a:prstGeom prst="ellipse">
            <a:avLst/>
          </a:prstGeom>
          <a:solidFill>
            <a:srgbClr val="3FE0B5"/>
          </a:solidFill>
          <a:ln w="12700">
            <a:solidFill>
              <a:srgbClr val="333333">
                <a:alpha val="0"/>
              </a:srgbClr>
            </a:solidFill>
            <a:prstDash val="solid"/>
          </a:ln>
        </p:spPr>
      </p:sp>
      <p:sp>
        <p:nvSpPr>
          <p:cNvPr id="45" name="Shape 42">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46" name="Text 43">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47" name="Shape 44">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48" name="Shape 45">
            <a:hlinkClick r:id="rId5" action="ppaction://hlinksldjump"/>
          </p:cNvPr>
          <p:cNvSpPr/>
          <p:nvPr/>
        </p:nvSpPr>
        <p:spPr>
          <a:xfrm rot="16200000">
            <a:off x="11018520" y="6181344"/>
            <a:ext cx="146304" cy="146304"/>
          </a:xfrm>
          <a:prstGeom prst="chevron">
            <a:avLst/>
          </a:prstGeom>
          <a:solidFill>
            <a:srgbClr val="16DFF7"/>
          </a:solidFill>
          <a:ln w="12700">
            <a:solidFill>
              <a:srgbClr val="16DFF7"/>
            </a:solidFill>
            <a:prstDash val="solid"/>
          </a:ln>
        </p:spPr>
      </p:sp>
      <p:sp>
        <p:nvSpPr>
          <p:cNvPr id="49" name="Shape 46">
            <a:hlinkClick r:id="rId6" action="ppaction://hlinksldjump"/>
          </p:cNvPr>
          <p:cNvSpPr/>
          <p:nvPr/>
        </p:nvSpPr>
        <p:spPr>
          <a:xfrm>
            <a:off x="11338560" y="6099048"/>
            <a:ext cx="347472" cy="347472"/>
          </a:xfrm>
          <a:prstGeom prst="ellipse">
            <a:avLst/>
          </a:prstGeom>
          <a:solidFill>
            <a:srgbClr val="0B2940"/>
          </a:solidFill>
          <a:ln w="10160">
            <a:solidFill>
              <a:srgbClr val="16718B"/>
            </a:solidFill>
            <a:prstDash val="solid"/>
          </a:ln>
        </p:spPr>
      </p:sp>
      <p:sp>
        <p:nvSpPr>
          <p:cNvPr id="50" name="Text 47">
            <a:hlinkClick r:id="rId6" action="ppaction://hlinksldjump"/>
          </p:cNvPr>
          <p:cNvSpPr/>
          <p:nvPr/>
        </p:nvSpPr>
        <p:spPr>
          <a:xfrm>
            <a:off x="11356848"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6" action="ppaction://hlinksldjump">
                  <a:extLst>
                    <a:ext uri="{A12FA001-AC4F-418D-AE19-62706E023703}">
                      <ahyp:hlinkClr xmlns:ahyp="http://schemas.microsoft.com/office/drawing/2018/hyperlinkcolor" val="tx"/>
                    </a:ext>
                  </a:extLst>
                </a:hlinkClick>
              </a:rPr>
              <a:t>›</a:t>
            </a:r>
            <a:endParaRPr lang="en-US" sz="1700" dirty="0"/>
          </a:p>
        </p:txBody>
      </p:sp>
      <p:sp>
        <p:nvSpPr>
          <p:cNvPr id="51"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8000"/>
              </a:srgbClr>
            </a:solidFill>
            <a:prstDash val="solid"/>
          </a:ln>
        </p:spPr>
      </p:sp>
      <p:sp>
        <p:nvSpPr>
          <p:cNvPr id="3" name="Shape 1"/>
          <p:cNvSpPr/>
          <p:nvPr/>
        </p:nvSpPr>
        <p:spPr>
          <a:xfrm>
            <a:off x="1051560" y="502920"/>
            <a:ext cx="0" cy="5715000"/>
          </a:xfrm>
          <a:prstGeom prst="line">
            <a:avLst/>
          </a:prstGeom>
          <a:noFill/>
          <a:ln w="5080">
            <a:solidFill>
              <a:srgbClr val="0B304B">
                <a:alpha val="8000"/>
              </a:srgbClr>
            </a:solidFill>
            <a:prstDash val="solid"/>
          </a:ln>
        </p:spPr>
      </p:sp>
      <p:sp>
        <p:nvSpPr>
          <p:cNvPr id="4" name="Shape 2"/>
          <p:cNvSpPr/>
          <p:nvPr/>
        </p:nvSpPr>
        <p:spPr>
          <a:xfrm>
            <a:off x="1554480" y="502920"/>
            <a:ext cx="0" cy="5715000"/>
          </a:xfrm>
          <a:prstGeom prst="line">
            <a:avLst/>
          </a:prstGeom>
          <a:noFill/>
          <a:ln w="5080">
            <a:solidFill>
              <a:srgbClr val="0B304B">
                <a:alpha val="8000"/>
              </a:srgbClr>
            </a:solidFill>
            <a:prstDash val="solid"/>
          </a:ln>
        </p:spPr>
      </p:sp>
      <p:sp>
        <p:nvSpPr>
          <p:cNvPr id="5" name="Shape 3"/>
          <p:cNvSpPr/>
          <p:nvPr/>
        </p:nvSpPr>
        <p:spPr>
          <a:xfrm>
            <a:off x="2057400" y="502920"/>
            <a:ext cx="0" cy="5715000"/>
          </a:xfrm>
          <a:prstGeom prst="line">
            <a:avLst/>
          </a:prstGeom>
          <a:noFill/>
          <a:ln w="5080">
            <a:solidFill>
              <a:srgbClr val="0B304B">
                <a:alpha val="8000"/>
              </a:srgbClr>
            </a:solidFill>
            <a:prstDash val="solid"/>
          </a:ln>
        </p:spPr>
      </p:sp>
      <p:sp>
        <p:nvSpPr>
          <p:cNvPr id="6" name="Shape 4"/>
          <p:cNvSpPr/>
          <p:nvPr/>
        </p:nvSpPr>
        <p:spPr>
          <a:xfrm>
            <a:off x="2560320" y="502920"/>
            <a:ext cx="0" cy="5715000"/>
          </a:xfrm>
          <a:prstGeom prst="line">
            <a:avLst/>
          </a:prstGeom>
          <a:noFill/>
          <a:ln w="5080">
            <a:solidFill>
              <a:srgbClr val="0B304B">
                <a:alpha val="8000"/>
              </a:srgbClr>
            </a:solidFill>
            <a:prstDash val="solid"/>
          </a:ln>
        </p:spPr>
      </p:sp>
      <p:sp>
        <p:nvSpPr>
          <p:cNvPr id="7" name="Shape 5"/>
          <p:cNvSpPr/>
          <p:nvPr/>
        </p:nvSpPr>
        <p:spPr>
          <a:xfrm>
            <a:off x="3063240" y="502920"/>
            <a:ext cx="0" cy="5715000"/>
          </a:xfrm>
          <a:prstGeom prst="line">
            <a:avLst/>
          </a:prstGeom>
          <a:noFill/>
          <a:ln w="5080">
            <a:solidFill>
              <a:srgbClr val="0B304B">
                <a:alpha val="8000"/>
              </a:srgbClr>
            </a:solidFill>
            <a:prstDash val="solid"/>
          </a:ln>
        </p:spPr>
      </p:sp>
      <p:sp>
        <p:nvSpPr>
          <p:cNvPr id="8" name="Shape 6"/>
          <p:cNvSpPr/>
          <p:nvPr/>
        </p:nvSpPr>
        <p:spPr>
          <a:xfrm>
            <a:off x="3566160" y="502920"/>
            <a:ext cx="0" cy="5715000"/>
          </a:xfrm>
          <a:prstGeom prst="line">
            <a:avLst/>
          </a:prstGeom>
          <a:noFill/>
          <a:ln w="5080">
            <a:solidFill>
              <a:srgbClr val="0B304B">
                <a:alpha val="8000"/>
              </a:srgbClr>
            </a:solidFill>
            <a:prstDash val="solid"/>
          </a:ln>
        </p:spPr>
      </p:sp>
      <p:sp>
        <p:nvSpPr>
          <p:cNvPr id="9" name="Shape 7"/>
          <p:cNvSpPr/>
          <p:nvPr/>
        </p:nvSpPr>
        <p:spPr>
          <a:xfrm>
            <a:off x="4069080" y="502920"/>
            <a:ext cx="0" cy="5715000"/>
          </a:xfrm>
          <a:prstGeom prst="line">
            <a:avLst/>
          </a:prstGeom>
          <a:noFill/>
          <a:ln w="5080">
            <a:solidFill>
              <a:srgbClr val="0B304B">
                <a:alpha val="8000"/>
              </a:srgbClr>
            </a:solidFill>
            <a:prstDash val="solid"/>
          </a:ln>
        </p:spPr>
      </p:sp>
      <p:sp>
        <p:nvSpPr>
          <p:cNvPr id="10" name="Shape 8"/>
          <p:cNvSpPr/>
          <p:nvPr/>
        </p:nvSpPr>
        <p:spPr>
          <a:xfrm>
            <a:off x="4572000" y="502920"/>
            <a:ext cx="0" cy="5715000"/>
          </a:xfrm>
          <a:prstGeom prst="line">
            <a:avLst/>
          </a:prstGeom>
          <a:noFill/>
          <a:ln w="5080">
            <a:solidFill>
              <a:srgbClr val="0B304B">
                <a:alpha val="8000"/>
              </a:srgbClr>
            </a:solidFill>
            <a:prstDash val="solid"/>
          </a:ln>
        </p:spPr>
      </p:sp>
      <p:sp>
        <p:nvSpPr>
          <p:cNvPr id="11" name="Shape 9"/>
          <p:cNvSpPr/>
          <p:nvPr/>
        </p:nvSpPr>
        <p:spPr>
          <a:xfrm>
            <a:off x="5074920" y="502920"/>
            <a:ext cx="0" cy="5715000"/>
          </a:xfrm>
          <a:prstGeom prst="line">
            <a:avLst/>
          </a:prstGeom>
          <a:noFill/>
          <a:ln w="5080">
            <a:solidFill>
              <a:srgbClr val="0B304B">
                <a:alpha val="8000"/>
              </a:srgbClr>
            </a:solidFill>
            <a:prstDash val="solid"/>
          </a:ln>
        </p:spPr>
      </p:sp>
      <p:sp>
        <p:nvSpPr>
          <p:cNvPr id="12" name="Shape 10"/>
          <p:cNvSpPr/>
          <p:nvPr/>
        </p:nvSpPr>
        <p:spPr>
          <a:xfrm>
            <a:off x="5577840" y="502920"/>
            <a:ext cx="0" cy="5715000"/>
          </a:xfrm>
          <a:prstGeom prst="line">
            <a:avLst/>
          </a:prstGeom>
          <a:noFill/>
          <a:ln w="5080">
            <a:solidFill>
              <a:srgbClr val="0B304B">
                <a:alpha val="8000"/>
              </a:srgbClr>
            </a:solidFill>
            <a:prstDash val="solid"/>
          </a:ln>
        </p:spPr>
      </p:sp>
      <p:sp>
        <p:nvSpPr>
          <p:cNvPr id="13" name="Shape 11"/>
          <p:cNvSpPr/>
          <p:nvPr/>
        </p:nvSpPr>
        <p:spPr>
          <a:xfrm>
            <a:off x="6080760" y="502920"/>
            <a:ext cx="0" cy="5715000"/>
          </a:xfrm>
          <a:prstGeom prst="line">
            <a:avLst/>
          </a:prstGeom>
          <a:noFill/>
          <a:ln w="5080">
            <a:solidFill>
              <a:srgbClr val="0B304B">
                <a:alpha val="8000"/>
              </a:srgbClr>
            </a:solidFill>
            <a:prstDash val="solid"/>
          </a:ln>
        </p:spPr>
      </p:sp>
      <p:sp>
        <p:nvSpPr>
          <p:cNvPr id="14" name="Shape 12"/>
          <p:cNvSpPr/>
          <p:nvPr/>
        </p:nvSpPr>
        <p:spPr>
          <a:xfrm>
            <a:off x="6583680" y="502920"/>
            <a:ext cx="0" cy="5715000"/>
          </a:xfrm>
          <a:prstGeom prst="line">
            <a:avLst/>
          </a:prstGeom>
          <a:noFill/>
          <a:ln w="5080">
            <a:solidFill>
              <a:srgbClr val="0B304B">
                <a:alpha val="8000"/>
              </a:srgbClr>
            </a:solidFill>
            <a:prstDash val="solid"/>
          </a:ln>
        </p:spPr>
      </p:sp>
      <p:sp>
        <p:nvSpPr>
          <p:cNvPr id="15" name="Shape 13"/>
          <p:cNvSpPr/>
          <p:nvPr/>
        </p:nvSpPr>
        <p:spPr>
          <a:xfrm>
            <a:off x="7086600" y="502920"/>
            <a:ext cx="0" cy="5715000"/>
          </a:xfrm>
          <a:prstGeom prst="line">
            <a:avLst/>
          </a:prstGeom>
          <a:noFill/>
          <a:ln w="5080">
            <a:solidFill>
              <a:srgbClr val="0B304B">
                <a:alpha val="8000"/>
              </a:srgbClr>
            </a:solidFill>
            <a:prstDash val="solid"/>
          </a:ln>
        </p:spPr>
      </p:sp>
      <p:sp>
        <p:nvSpPr>
          <p:cNvPr id="16" name="Shape 14"/>
          <p:cNvSpPr/>
          <p:nvPr/>
        </p:nvSpPr>
        <p:spPr>
          <a:xfrm>
            <a:off x="7589520" y="502920"/>
            <a:ext cx="0" cy="5715000"/>
          </a:xfrm>
          <a:prstGeom prst="line">
            <a:avLst/>
          </a:prstGeom>
          <a:noFill/>
          <a:ln w="5080">
            <a:solidFill>
              <a:srgbClr val="0B304B">
                <a:alpha val="8000"/>
              </a:srgbClr>
            </a:solidFill>
            <a:prstDash val="solid"/>
          </a:ln>
        </p:spPr>
      </p:sp>
      <p:sp>
        <p:nvSpPr>
          <p:cNvPr id="17" name="Shape 15"/>
          <p:cNvSpPr/>
          <p:nvPr/>
        </p:nvSpPr>
        <p:spPr>
          <a:xfrm>
            <a:off x="8092440" y="502920"/>
            <a:ext cx="0" cy="5715000"/>
          </a:xfrm>
          <a:prstGeom prst="line">
            <a:avLst/>
          </a:prstGeom>
          <a:noFill/>
          <a:ln w="5080">
            <a:solidFill>
              <a:srgbClr val="0B304B">
                <a:alpha val="8000"/>
              </a:srgbClr>
            </a:solidFill>
            <a:prstDash val="solid"/>
          </a:ln>
        </p:spPr>
      </p:sp>
      <p:sp>
        <p:nvSpPr>
          <p:cNvPr id="18" name="Shape 16"/>
          <p:cNvSpPr/>
          <p:nvPr/>
        </p:nvSpPr>
        <p:spPr>
          <a:xfrm>
            <a:off x="8595360" y="502920"/>
            <a:ext cx="0" cy="5715000"/>
          </a:xfrm>
          <a:prstGeom prst="line">
            <a:avLst/>
          </a:prstGeom>
          <a:noFill/>
          <a:ln w="5080">
            <a:solidFill>
              <a:srgbClr val="0B304B">
                <a:alpha val="8000"/>
              </a:srgbClr>
            </a:solidFill>
            <a:prstDash val="solid"/>
          </a:ln>
        </p:spPr>
      </p:sp>
      <p:sp>
        <p:nvSpPr>
          <p:cNvPr id="19" name="Shape 17"/>
          <p:cNvSpPr/>
          <p:nvPr/>
        </p:nvSpPr>
        <p:spPr>
          <a:xfrm>
            <a:off x="9098280" y="502920"/>
            <a:ext cx="0" cy="5715000"/>
          </a:xfrm>
          <a:prstGeom prst="line">
            <a:avLst/>
          </a:prstGeom>
          <a:noFill/>
          <a:ln w="5080">
            <a:solidFill>
              <a:srgbClr val="0B304B">
                <a:alpha val="8000"/>
              </a:srgbClr>
            </a:solidFill>
            <a:prstDash val="solid"/>
          </a:ln>
        </p:spPr>
      </p:sp>
      <p:sp>
        <p:nvSpPr>
          <p:cNvPr id="20" name="Shape 18"/>
          <p:cNvSpPr/>
          <p:nvPr/>
        </p:nvSpPr>
        <p:spPr>
          <a:xfrm>
            <a:off x="9601200" y="502920"/>
            <a:ext cx="0" cy="5715000"/>
          </a:xfrm>
          <a:prstGeom prst="line">
            <a:avLst/>
          </a:prstGeom>
          <a:noFill/>
          <a:ln w="5080">
            <a:solidFill>
              <a:srgbClr val="0B304B">
                <a:alpha val="8000"/>
              </a:srgbClr>
            </a:solidFill>
            <a:prstDash val="solid"/>
          </a:ln>
        </p:spPr>
      </p:sp>
      <p:sp>
        <p:nvSpPr>
          <p:cNvPr id="21" name="Shape 19"/>
          <p:cNvSpPr/>
          <p:nvPr/>
        </p:nvSpPr>
        <p:spPr>
          <a:xfrm>
            <a:off x="10104120" y="502920"/>
            <a:ext cx="0" cy="5715000"/>
          </a:xfrm>
          <a:prstGeom prst="line">
            <a:avLst/>
          </a:prstGeom>
          <a:noFill/>
          <a:ln w="5080">
            <a:solidFill>
              <a:srgbClr val="0B304B">
                <a:alpha val="8000"/>
              </a:srgbClr>
            </a:solidFill>
            <a:prstDash val="solid"/>
          </a:ln>
        </p:spPr>
      </p:sp>
      <p:sp>
        <p:nvSpPr>
          <p:cNvPr id="22" name="Shape 20"/>
          <p:cNvSpPr/>
          <p:nvPr/>
        </p:nvSpPr>
        <p:spPr>
          <a:xfrm>
            <a:off x="10607040" y="502920"/>
            <a:ext cx="0" cy="5715000"/>
          </a:xfrm>
          <a:prstGeom prst="line">
            <a:avLst/>
          </a:prstGeom>
          <a:noFill/>
          <a:ln w="5080">
            <a:solidFill>
              <a:srgbClr val="0B304B">
                <a:alpha val="8000"/>
              </a:srgbClr>
            </a:solidFill>
            <a:prstDash val="solid"/>
          </a:ln>
        </p:spPr>
      </p:sp>
      <p:sp>
        <p:nvSpPr>
          <p:cNvPr id="23" name="Shape 21"/>
          <p:cNvSpPr/>
          <p:nvPr/>
        </p:nvSpPr>
        <p:spPr>
          <a:xfrm>
            <a:off x="11109960" y="502920"/>
            <a:ext cx="0" cy="5715000"/>
          </a:xfrm>
          <a:prstGeom prst="line">
            <a:avLst/>
          </a:prstGeom>
          <a:noFill/>
          <a:ln w="5080">
            <a:solidFill>
              <a:srgbClr val="0B304B">
                <a:alpha val="8000"/>
              </a:srgbClr>
            </a:solidFill>
            <a:prstDash val="solid"/>
          </a:ln>
        </p:spPr>
      </p:sp>
      <p:sp>
        <p:nvSpPr>
          <p:cNvPr id="24" name="Shape 22"/>
          <p:cNvSpPr/>
          <p:nvPr/>
        </p:nvSpPr>
        <p:spPr>
          <a:xfrm>
            <a:off x="11612880" y="502920"/>
            <a:ext cx="0" cy="5715000"/>
          </a:xfrm>
          <a:prstGeom prst="line">
            <a:avLst/>
          </a:prstGeom>
          <a:noFill/>
          <a:ln w="5080">
            <a:solidFill>
              <a:srgbClr val="0B304B">
                <a:alpha val="8000"/>
              </a:srgbClr>
            </a:solidFill>
            <a:prstDash val="solid"/>
          </a:ln>
        </p:spPr>
      </p:sp>
      <p:sp>
        <p:nvSpPr>
          <p:cNvPr id="25" name="Shape 23"/>
          <p:cNvSpPr/>
          <p:nvPr/>
        </p:nvSpPr>
        <p:spPr>
          <a:xfrm>
            <a:off x="502920" y="566928"/>
            <a:ext cx="11201400" cy="0"/>
          </a:xfrm>
          <a:prstGeom prst="line">
            <a:avLst/>
          </a:prstGeom>
          <a:noFill/>
          <a:ln w="5080">
            <a:solidFill>
              <a:srgbClr val="0B304B">
                <a:alpha val="8000"/>
              </a:srgbClr>
            </a:solidFill>
            <a:prstDash val="solid"/>
          </a:ln>
        </p:spPr>
      </p:sp>
      <p:sp>
        <p:nvSpPr>
          <p:cNvPr id="26" name="Shape 24"/>
          <p:cNvSpPr/>
          <p:nvPr/>
        </p:nvSpPr>
        <p:spPr>
          <a:xfrm>
            <a:off x="502920" y="1069848"/>
            <a:ext cx="11201400" cy="0"/>
          </a:xfrm>
          <a:prstGeom prst="line">
            <a:avLst/>
          </a:prstGeom>
          <a:noFill/>
          <a:ln w="5080">
            <a:solidFill>
              <a:srgbClr val="0B304B">
                <a:alpha val="8000"/>
              </a:srgbClr>
            </a:solidFill>
            <a:prstDash val="solid"/>
          </a:ln>
        </p:spPr>
      </p:sp>
      <p:sp>
        <p:nvSpPr>
          <p:cNvPr id="27" name="Shape 25"/>
          <p:cNvSpPr/>
          <p:nvPr/>
        </p:nvSpPr>
        <p:spPr>
          <a:xfrm>
            <a:off x="502920" y="1572768"/>
            <a:ext cx="11201400" cy="0"/>
          </a:xfrm>
          <a:prstGeom prst="line">
            <a:avLst/>
          </a:prstGeom>
          <a:noFill/>
          <a:ln w="5080">
            <a:solidFill>
              <a:srgbClr val="0B304B">
                <a:alpha val="8000"/>
              </a:srgbClr>
            </a:solidFill>
            <a:prstDash val="solid"/>
          </a:ln>
        </p:spPr>
      </p:sp>
      <p:sp>
        <p:nvSpPr>
          <p:cNvPr id="28" name="Shape 26"/>
          <p:cNvSpPr/>
          <p:nvPr/>
        </p:nvSpPr>
        <p:spPr>
          <a:xfrm>
            <a:off x="502920" y="2075688"/>
            <a:ext cx="11201400" cy="0"/>
          </a:xfrm>
          <a:prstGeom prst="line">
            <a:avLst/>
          </a:prstGeom>
          <a:noFill/>
          <a:ln w="5080">
            <a:solidFill>
              <a:srgbClr val="0B304B">
                <a:alpha val="8000"/>
              </a:srgbClr>
            </a:solidFill>
            <a:prstDash val="solid"/>
          </a:ln>
        </p:spPr>
      </p:sp>
      <p:sp>
        <p:nvSpPr>
          <p:cNvPr id="29" name="Shape 27"/>
          <p:cNvSpPr/>
          <p:nvPr/>
        </p:nvSpPr>
        <p:spPr>
          <a:xfrm>
            <a:off x="502920" y="2578608"/>
            <a:ext cx="11201400" cy="0"/>
          </a:xfrm>
          <a:prstGeom prst="line">
            <a:avLst/>
          </a:prstGeom>
          <a:noFill/>
          <a:ln w="5080">
            <a:solidFill>
              <a:srgbClr val="0B304B">
                <a:alpha val="8000"/>
              </a:srgbClr>
            </a:solidFill>
            <a:prstDash val="solid"/>
          </a:ln>
        </p:spPr>
      </p:sp>
      <p:sp>
        <p:nvSpPr>
          <p:cNvPr id="30" name="Shape 28"/>
          <p:cNvSpPr/>
          <p:nvPr/>
        </p:nvSpPr>
        <p:spPr>
          <a:xfrm>
            <a:off x="502920" y="3081528"/>
            <a:ext cx="11201400" cy="0"/>
          </a:xfrm>
          <a:prstGeom prst="line">
            <a:avLst/>
          </a:prstGeom>
          <a:noFill/>
          <a:ln w="5080">
            <a:solidFill>
              <a:srgbClr val="0B304B">
                <a:alpha val="8000"/>
              </a:srgbClr>
            </a:solidFill>
            <a:prstDash val="solid"/>
          </a:ln>
        </p:spPr>
      </p:sp>
      <p:sp>
        <p:nvSpPr>
          <p:cNvPr id="31" name="Shape 29"/>
          <p:cNvSpPr/>
          <p:nvPr/>
        </p:nvSpPr>
        <p:spPr>
          <a:xfrm>
            <a:off x="502920" y="3584448"/>
            <a:ext cx="11201400" cy="0"/>
          </a:xfrm>
          <a:prstGeom prst="line">
            <a:avLst/>
          </a:prstGeom>
          <a:noFill/>
          <a:ln w="5080">
            <a:solidFill>
              <a:srgbClr val="0B304B">
                <a:alpha val="8000"/>
              </a:srgbClr>
            </a:solidFill>
            <a:prstDash val="solid"/>
          </a:ln>
        </p:spPr>
      </p:sp>
      <p:sp>
        <p:nvSpPr>
          <p:cNvPr id="32" name="Shape 30"/>
          <p:cNvSpPr/>
          <p:nvPr/>
        </p:nvSpPr>
        <p:spPr>
          <a:xfrm>
            <a:off x="502920" y="4087368"/>
            <a:ext cx="11201400" cy="0"/>
          </a:xfrm>
          <a:prstGeom prst="line">
            <a:avLst/>
          </a:prstGeom>
          <a:noFill/>
          <a:ln w="5080">
            <a:solidFill>
              <a:srgbClr val="0B304B">
                <a:alpha val="8000"/>
              </a:srgbClr>
            </a:solidFill>
            <a:prstDash val="solid"/>
          </a:ln>
        </p:spPr>
      </p:sp>
      <p:sp>
        <p:nvSpPr>
          <p:cNvPr id="33" name="Shape 31"/>
          <p:cNvSpPr/>
          <p:nvPr/>
        </p:nvSpPr>
        <p:spPr>
          <a:xfrm>
            <a:off x="502920" y="4590288"/>
            <a:ext cx="11201400" cy="0"/>
          </a:xfrm>
          <a:prstGeom prst="line">
            <a:avLst/>
          </a:prstGeom>
          <a:noFill/>
          <a:ln w="5080">
            <a:solidFill>
              <a:srgbClr val="0B304B">
                <a:alpha val="8000"/>
              </a:srgbClr>
            </a:solidFill>
            <a:prstDash val="solid"/>
          </a:ln>
        </p:spPr>
      </p:sp>
      <p:sp>
        <p:nvSpPr>
          <p:cNvPr id="34" name="Shape 32"/>
          <p:cNvSpPr/>
          <p:nvPr/>
        </p:nvSpPr>
        <p:spPr>
          <a:xfrm>
            <a:off x="502920" y="5093208"/>
            <a:ext cx="11201400" cy="0"/>
          </a:xfrm>
          <a:prstGeom prst="line">
            <a:avLst/>
          </a:prstGeom>
          <a:noFill/>
          <a:ln w="5080">
            <a:solidFill>
              <a:srgbClr val="0B304B">
                <a:alpha val="8000"/>
              </a:srgbClr>
            </a:solidFill>
            <a:prstDash val="solid"/>
          </a:ln>
        </p:spPr>
      </p:sp>
      <p:sp>
        <p:nvSpPr>
          <p:cNvPr id="35" name="Shape 33"/>
          <p:cNvSpPr/>
          <p:nvPr/>
        </p:nvSpPr>
        <p:spPr>
          <a:xfrm>
            <a:off x="502920" y="5596128"/>
            <a:ext cx="11201400" cy="0"/>
          </a:xfrm>
          <a:prstGeom prst="line">
            <a:avLst/>
          </a:prstGeom>
          <a:noFill/>
          <a:ln w="5080">
            <a:solidFill>
              <a:srgbClr val="0B304B">
                <a:alpha val="8000"/>
              </a:srgbClr>
            </a:solidFill>
            <a:prstDash val="solid"/>
          </a:ln>
        </p:spPr>
      </p:sp>
      <p:sp>
        <p:nvSpPr>
          <p:cNvPr id="36" name="Shape 34"/>
          <p:cNvSpPr/>
          <p:nvPr/>
        </p:nvSpPr>
        <p:spPr>
          <a:xfrm>
            <a:off x="502920" y="6099048"/>
            <a:ext cx="11201400" cy="0"/>
          </a:xfrm>
          <a:prstGeom prst="line">
            <a:avLst/>
          </a:prstGeom>
          <a:noFill/>
          <a:ln w="5080">
            <a:solidFill>
              <a:srgbClr val="0B304B">
                <a:alpha val="8000"/>
              </a:srgbClr>
            </a:solidFill>
            <a:prstDash val="solid"/>
          </a:ln>
        </p:spPr>
      </p:sp>
      <p:sp>
        <p:nvSpPr>
          <p:cNvPr id="37" name="Shape 35"/>
          <p:cNvSpPr/>
          <p:nvPr/>
        </p:nvSpPr>
        <p:spPr>
          <a:xfrm>
            <a:off x="502920" y="320040"/>
            <a:ext cx="1417320" cy="256032"/>
          </a:xfrm>
          <a:prstGeom prst="roundRect">
            <a:avLst>
              <a:gd name="adj" fmla="val 17857"/>
            </a:avLst>
          </a:prstGeom>
          <a:solidFill>
            <a:srgbClr val="09273D"/>
          </a:solidFill>
          <a:ln w="10160">
            <a:solidFill>
              <a:srgbClr val="FFB22C">
                <a:alpha val="65000"/>
              </a:srgbClr>
            </a:solidFill>
            <a:prstDash val="solid"/>
          </a:ln>
        </p:spPr>
      </p:sp>
      <p:sp>
        <p:nvSpPr>
          <p:cNvPr id="38"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FFB22C"/>
                </a:solidFill>
                <a:latin typeface="Aptos" pitchFamily="34" charset="0"/>
                <a:ea typeface="Aptos" pitchFamily="34" charset="-122"/>
                <a:cs typeface="Aptos" pitchFamily="34" charset="-120"/>
              </a:rPr>
              <a:t>DASHBOARD 3</a:t>
            </a:r>
            <a:endParaRPr lang="en-US" sz="560" dirty="0"/>
          </a:p>
        </p:txBody>
      </p:sp>
      <p:sp>
        <p:nvSpPr>
          <p:cNvPr id="39"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Dashboard 3 — Aircraft &amp; Engine Analysis</a:t>
            </a:r>
            <a:endParaRPr lang="en-US" sz="2350" dirty="0"/>
          </a:p>
        </p:txBody>
      </p:sp>
      <p:pic>
        <p:nvPicPr>
          <p:cNvPr id="40" name="Image 0" descr="/mnt/data/radar_sweep.gif"/>
          <p:cNvPicPr>
            <a:picLocks noChangeAspect="1"/>
          </p:cNvPicPr>
          <p:nvPr/>
        </p:nvPicPr>
        <p:blipFill>
          <a:blip r:embed="rId3"/>
          <a:stretch>
            <a:fillRect/>
          </a:stretch>
        </p:blipFill>
        <p:spPr>
          <a:xfrm>
            <a:off x="10625328" y="621792"/>
            <a:ext cx="713232" cy="713232"/>
          </a:xfrm>
          <a:prstGeom prst="rect">
            <a:avLst/>
          </a:prstGeom>
        </p:spPr>
      </p:pic>
      <p:sp>
        <p:nvSpPr>
          <p:cNvPr id="41" name="Shape 38"/>
          <p:cNvSpPr/>
          <p:nvPr/>
        </p:nvSpPr>
        <p:spPr>
          <a:xfrm>
            <a:off x="566928" y="1536192"/>
            <a:ext cx="5321808" cy="731520"/>
          </a:xfrm>
          <a:prstGeom prst="roundRect">
            <a:avLst>
              <a:gd name="adj" fmla="val 10000"/>
            </a:avLst>
          </a:prstGeom>
          <a:solidFill>
            <a:srgbClr val="0A2035"/>
          </a:solidFill>
          <a:ln w="11430">
            <a:solidFill>
              <a:srgbClr val="16445F">
                <a:alpha val="90000"/>
              </a:srgbClr>
            </a:solidFill>
            <a:prstDash val="solid"/>
          </a:ln>
        </p:spPr>
      </p:sp>
      <p:sp>
        <p:nvSpPr>
          <p:cNvPr id="42" name="Shape 39"/>
          <p:cNvSpPr/>
          <p:nvPr/>
        </p:nvSpPr>
        <p:spPr>
          <a:xfrm>
            <a:off x="566928" y="1536192"/>
            <a:ext cx="41148" cy="731520"/>
          </a:xfrm>
          <a:prstGeom prst="rect">
            <a:avLst/>
          </a:prstGeom>
          <a:solidFill>
            <a:srgbClr val="FFB22C"/>
          </a:solidFill>
          <a:ln w="12700">
            <a:solidFill>
              <a:srgbClr val="FFB22C"/>
            </a:solidFill>
            <a:prstDash val="solid"/>
          </a:ln>
        </p:spPr>
      </p:sp>
      <p:sp>
        <p:nvSpPr>
          <p:cNvPr id="43" name="Shape 40"/>
          <p:cNvSpPr/>
          <p:nvPr/>
        </p:nvSpPr>
        <p:spPr>
          <a:xfrm>
            <a:off x="731520" y="1709928"/>
            <a:ext cx="347472" cy="347472"/>
          </a:xfrm>
          <a:prstGeom prst="ellipse">
            <a:avLst/>
          </a:prstGeom>
          <a:solidFill>
            <a:srgbClr val="FFB22C"/>
          </a:solidFill>
          <a:ln w="12700">
            <a:solidFill>
              <a:srgbClr val="FFB22C">
                <a:alpha val="0"/>
              </a:srgbClr>
            </a:solidFill>
            <a:prstDash val="solid"/>
          </a:ln>
        </p:spPr>
      </p:sp>
      <p:sp>
        <p:nvSpPr>
          <p:cNvPr id="44" name="Text 41"/>
          <p:cNvSpPr/>
          <p:nvPr/>
        </p:nvSpPr>
        <p:spPr>
          <a:xfrm>
            <a:off x="731520" y="1773936"/>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1</a:t>
            </a:r>
            <a:endParaRPr lang="en-US" sz="800" dirty="0"/>
          </a:p>
        </p:txBody>
      </p:sp>
      <p:sp>
        <p:nvSpPr>
          <p:cNvPr id="45" name="Text 42"/>
          <p:cNvSpPr/>
          <p:nvPr/>
        </p:nvSpPr>
        <p:spPr>
          <a:xfrm>
            <a:off x="1225296" y="1664208"/>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Which aircraft manufacturers (Make) have the highest number of recorded accidents?</a:t>
            </a:r>
            <a:endParaRPr lang="en-US" sz="930" dirty="0"/>
          </a:p>
        </p:txBody>
      </p:sp>
      <p:sp>
        <p:nvSpPr>
          <p:cNvPr id="46" name="Shape 43"/>
          <p:cNvSpPr/>
          <p:nvPr/>
        </p:nvSpPr>
        <p:spPr>
          <a:xfrm>
            <a:off x="6153912" y="1536192"/>
            <a:ext cx="5321808" cy="731520"/>
          </a:xfrm>
          <a:prstGeom prst="roundRect">
            <a:avLst>
              <a:gd name="adj" fmla="val 10000"/>
            </a:avLst>
          </a:prstGeom>
          <a:solidFill>
            <a:srgbClr val="0A2035"/>
          </a:solidFill>
          <a:ln w="11430">
            <a:solidFill>
              <a:srgbClr val="16445F">
                <a:alpha val="90000"/>
              </a:srgbClr>
            </a:solidFill>
            <a:prstDash val="solid"/>
          </a:ln>
        </p:spPr>
      </p:sp>
      <p:sp>
        <p:nvSpPr>
          <p:cNvPr id="47" name="Shape 44"/>
          <p:cNvSpPr/>
          <p:nvPr/>
        </p:nvSpPr>
        <p:spPr>
          <a:xfrm>
            <a:off x="6153912" y="1536192"/>
            <a:ext cx="41148" cy="731520"/>
          </a:xfrm>
          <a:prstGeom prst="rect">
            <a:avLst/>
          </a:prstGeom>
          <a:solidFill>
            <a:srgbClr val="FFB22C"/>
          </a:solidFill>
          <a:ln w="12700">
            <a:solidFill>
              <a:srgbClr val="FFB22C"/>
            </a:solidFill>
            <a:prstDash val="solid"/>
          </a:ln>
        </p:spPr>
      </p:sp>
      <p:sp>
        <p:nvSpPr>
          <p:cNvPr id="48" name="Shape 45"/>
          <p:cNvSpPr/>
          <p:nvPr/>
        </p:nvSpPr>
        <p:spPr>
          <a:xfrm>
            <a:off x="6318504" y="1709928"/>
            <a:ext cx="347472" cy="347472"/>
          </a:xfrm>
          <a:prstGeom prst="ellipse">
            <a:avLst/>
          </a:prstGeom>
          <a:solidFill>
            <a:srgbClr val="FFB22C"/>
          </a:solidFill>
          <a:ln w="12700">
            <a:solidFill>
              <a:srgbClr val="FFB22C">
                <a:alpha val="0"/>
              </a:srgbClr>
            </a:solidFill>
            <a:prstDash val="solid"/>
          </a:ln>
        </p:spPr>
      </p:sp>
      <p:sp>
        <p:nvSpPr>
          <p:cNvPr id="49" name="Text 46"/>
          <p:cNvSpPr/>
          <p:nvPr/>
        </p:nvSpPr>
        <p:spPr>
          <a:xfrm>
            <a:off x="6318504" y="1773936"/>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2</a:t>
            </a:r>
            <a:endParaRPr lang="en-US" sz="800" dirty="0"/>
          </a:p>
        </p:txBody>
      </p:sp>
      <p:sp>
        <p:nvSpPr>
          <p:cNvPr id="50" name="Text 47"/>
          <p:cNvSpPr/>
          <p:nvPr/>
        </p:nvSpPr>
        <p:spPr>
          <a:xfrm>
            <a:off x="6812280" y="1664208"/>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Which specific aircraft models appear most frequently in fatal accidents?</a:t>
            </a:r>
            <a:endParaRPr lang="en-US" sz="930" dirty="0"/>
          </a:p>
        </p:txBody>
      </p:sp>
      <p:sp>
        <p:nvSpPr>
          <p:cNvPr id="51" name="Shape 48"/>
          <p:cNvSpPr/>
          <p:nvPr/>
        </p:nvSpPr>
        <p:spPr>
          <a:xfrm>
            <a:off x="566928" y="2395728"/>
            <a:ext cx="5321808" cy="731520"/>
          </a:xfrm>
          <a:prstGeom prst="roundRect">
            <a:avLst>
              <a:gd name="adj" fmla="val 10000"/>
            </a:avLst>
          </a:prstGeom>
          <a:solidFill>
            <a:srgbClr val="0A2035"/>
          </a:solidFill>
          <a:ln w="11430">
            <a:solidFill>
              <a:srgbClr val="16445F">
                <a:alpha val="90000"/>
              </a:srgbClr>
            </a:solidFill>
            <a:prstDash val="solid"/>
          </a:ln>
        </p:spPr>
      </p:sp>
      <p:sp>
        <p:nvSpPr>
          <p:cNvPr id="52" name="Shape 49"/>
          <p:cNvSpPr/>
          <p:nvPr/>
        </p:nvSpPr>
        <p:spPr>
          <a:xfrm>
            <a:off x="566928" y="2395728"/>
            <a:ext cx="41148" cy="731520"/>
          </a:xfrm>
          <a:prstGeom prst="rect">
            <a:avLst/>
          </a:prstGeom>
          <a:solidFill>
            <a:srgbClr val="FFB22C"/>
          </a:solidFill>
          <a:ln w="12700">
            <a:solidFill>
              <a:srgbClr val="FFB22C"/>
            </a:solidFill>
            <a:prstDash val="solid"/>
          </a:ln>
        </p:spPr>
      </p:sp>
      <p:sp>
        <p:nvSpPr>
          <p:cNvPr id="53" name="Shape 50"/>
          <p:cNvSpPr/>
          <p:nvPr/>
        </p:nvSpPr>
        <p:spPr>
          <a:xfrm>
            <a:off x="731520" y="2569464"/>
            <a:ext cx="347472" cy="347472"/>
          </a:xfrm>
          <a:prstGeom prst="ellipse">
            <a:avLst/>
          </a:prstGeom>
          <a:solidFill>
            <a:srgbClr val="FFB22C"/>
          </a:solidFill>
          <a:ln w="12700">
            <a:solidFill>
              <a:srgbClr val="FFB22C">
                <a:alpha val="0"/>
              </a:srgbClr>
            </a:solidFill>
            <a:prstDash val="solid"/>
          </a:ln>
        </p:spPr>
      </p:sp>
      <p:sp>
        <p:nvSpPr>
          <p:cNvPr id="54" name="Text 51"/>
          <p:cNvSpPr/>
          <p:nvPr/>
        </p:nvSpPr>
        <p:spPr>
          <a:xfrm>
            <a:off x="731520" y="2633472"/>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3</a:t>
            </a:r>
            <a:endParaRPr lang="en-US" sz="800" dirty="0"/>
          </a:p>
        </p:txBody>
      </p:sp>
      <p:sp>
        <p:nvSpPr>
          <p:cNvPr id="55" name="Text 52"/>
          <p:cNvSpPr/>
          <p:nvPr/>
        </p:nvSpPr>
        <p:spPr>
          <a:xfrm>
            <a:off x="1225296" y="2523744"/>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What percentage of accidents involve amateur-built aircraft vs certified aircraft?</a:t>
            </a:r>
            <a:endParaRPr lang="en-US" sz="930" dirty="0"/>
          </a:p>
        </p:txBody>
      </p:sp>
      <p:sp>
        <p:nvSpPr>
          <p:cNvPr id="56" name="Shape 53"/>
          <p:cNvSpPr/>
          <p:nvPr/>
        </p:nvSpPr>
        <p:spPr>
          <a:xfrm>
            <a:off x="6153912" y="2395728"/>
            <a:ext cx="5321808" cy="731520"/>
          </a:xfrm>
          <a:prstGeom prst="roundRect">
            <a:avLst>
              <a:gd name="adj" fmla="val 10000"/>
            </a:avLst>
          </a:prstGeom>
          <a:solidFill>
            <a:srgbClr val="0A2035"/>
          </a:solidFill>
          <a:ln w="11430">
            <a:solidFill>
              <a:srgbClr val="16445F">
                <a:alpha val="90000"/>
              </a:srgbClr>
            </a:solidFill>
            <a:prstDash val="solid"/>
          </a:ln>
        </p:spPr>
      </p:sp>
      <p:sp>
        <p:nvSpPr>
          <p:cNvPr id="57" name="Shape 54"/>
          <p:cNvSpPr/>
          <p:nvPr/>
        </p:nvSpPr>
        <p:spPr>
          <a:xfrm>
            <a:off x="6153912" y="2395728"/>
            <a:ext cx="41148" cy="731520"/>
          </a:xfrm>
          <a:prstGeom prst="rect">
            <a:avLst/>
          </a:prstGeom>
          <a:solidFill>
            <a:srgbClr val="FFB22C"/>
          </a:solidFill>
          <a:ln w="12700">
            <a:solidFill>
              <a:srgbClr val="FFB22C"/>
            </a:solidFill>
            <a:prstDash val="solid"/>
          </a:ln>
        </p:spPr>
      </p:sp>
      <p:sp>
        <p:nvSpPr>
          <p:cNvPr id="58" name="Shape 55"/>
          <p:cNvSpPr/>
          <p:nvPr/>
        </p:nvSpPr>
        <p:spPr>
          <a:xfrm>
            <a:off x="6318504" y="2569464"/>
            <a:ext cx="347472" cy="347472"/>
          </a:xfrm>
          <a:prstGeom prst="ellipse">
            <a:avLst/>
          </a:prstGeom>
          <a:solidFill>
            <a:srgbClr val="FFB22C"/>
          </a:solidFill>
          <a:ln w="12700">
            <a:solidFill>
              <a:srgbClr val="FFB22C">
                <a:alpha val="0"/>
              </a:srgbClr>
            </a:solidFill>
            <a:prstDash val="solid"/>
          </a:ln>
        </p:spPr>
      </p:sp>
      <p:sp>
        <p:nvSpPr>
          <p:cNvPr id="59" name="Text 56"/>
          <p:cNvSpPr/>
          <p:nvPr/>
        </p:nvSpPr>
        <p:spPr>
          <a:xfrm>
            <a:off x="6318504" y="2633472"/>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4</a:t>
            </a:r>
            <a:endParaRPr lang="en-US" sz="800" dirty="0"/>
          </a:p>
        </p:txBody>
      </p:sp>
      <p:sp>
        <p:nvSpPr>
          <p:cNvPr id="60" name="Text 57"/>
          <p:cNvSpPr/>
          <p:nvPr/>
        </p:nvSpPr>
        <p:spPr>
          <a:xfrm>
            <a:off x="6812280" y="2523744"/>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Is there a relationship between number of engines and severity of aircraft damage?</a:t>
            </a:r>
            <a:endParaRPr lang="en-US" sz="930" dirty="0"/>
          </a:p>
        </p:txBody>
      </p:sp>
      <p:sp>
        <p:nvSpPr>
          <p:cNvPr id="61" name="Shape 58"/>
          <p:cNvSpPr/>
          <p:nvPr/>
        </p:nvSpPr>
        <p:spPr>
          <a:xfrm>
            <a:off x="566928" y="3255264"/>
            <a:ext cx="5321808" cy="731520"/>
          </a:xfrm>
          <a:prstGeom prst="roundRect">
            <a:avLst>
              <a:gd name="adj" fmla="val 10000"/>
            </a:avLst>
          </a:prstGeom>
          <a:solidFill>
            <a:srgbClr val="0A2035"/>
          </a:solidFill>
          <a:ln w="11430">
            <a:solidFill>
              <a:srgbClr val="16445F">
                <a:alpha val="90000"/>
              </a:srgbClr>
            </a:solidFill>
            <a:prstDash val="solid"/>
          </a:ln>
        </p:spPr>
      </p:sp>
      <p:sp>
        <p:nvSpPr>
          <p:cNvPr id="62" name="Shape 59"/>
          <p:cNvSpPr/>
          <p:nvPr/>
        </p:nvSpPr>
        <p:spPr>
          <a:xfrm>
            <a:off x="566928" y="3255264"/>
            <a:ext cx="41148" cy="731520"/>
          </a:xfrm>
          <a:prstGeom prst="rect">
            <a:avLst/>
          </a:prstGeom>
          <a:solidFill>
            <a:srgbClr val="FFB22C"/>
          </a:solidFill>
          <a:ln w="12700">
            <a:solidFill>
              <a:srgbClr val="FFB22C"/>
            </a:solidFill>
            <a:prstDash val="solid"/>
          </a:ln>
        </p:spPr>
      </p:sp>
      <p:sp>
        <p:nvSpPr>
          <p:cNvPr id="63" name="Shape 60"/>
          <p:cNvSpPr/>
          <p:nvPr/>
        </p:nvSpPr>
        <p:spPr>
          <a:xfrm>
            <a:off x="731520" y="3429000"/>
            <a:ext cx="347472" cy="347472"/>
          </a:xfrm>
          <a:prstGeom prst="ellipse">
            <a:avLst/>
          </a:prstGeom>
          <a:solidFill>
            <a:srgbClr val="FFB22C"/>
          </a:solidFill>
          <a:ln w="12700">
            <a:solidFill>
              <a:srgbClr val="FFB22C">
                <a:alpha val="0"/>
              </a:srgbClr>
            </a:solidFill>
            <a:prstDash val="solid"/>
          </a:ln>
        </p:spPr>
      </p:sp>
      <p:sp>
        <p:nvSpPr>
          <p:cNvPr id="64" name="Text 61"/>
          <p:cNvSpPr/>
          <p:nvPr/>
        </p:nvSpPr>
        <p:spPr>
          <a:xfrm>
            <a:off x="731520" y="349300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5</a:t>
            </a:r>
            <a:endParaRPr lang="en-US" sz="800" dirty="0"/>
          </a:p>
        </p:txBody>
      </p:sp>
      <p:sp>
        <p:nvSpPr>
          <p:cNvPr id="65" name="Text 62"/>
          <p:cNvSpPr/>
          <p:nvPr/>
        </p:nvSpPr>
        <p:spPr>
          <a:xfrm>
            <a:off x="1225296" y="3383280"/>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Which engine type (Reciprocating, Turbine, etc.) has the highest fatality rate?</a:t>
            </a:r>
            <a:endParaRPr lang="en-US" sz="930" dirty="0"/>
          </a:p>
        </p:txBody>
      </p:sp>
      <p:sp>
        <p:nvSpPr>
          <p:cNvPr id="66" name="Shape 63"/>
          <p:cNvSpPr/>
          <p:nvPr/>
        </p:nvSpPr>
        <p:spPr>
          <a:xfrm>
            <a:off x="6153912" y="3255264"/>
            <a:ext cx="5321808" cy="731520"/>
          </a:xfrm>
          <a:prstGeom prst="roundRect">
            <a:avLst>
              <a:gd name="adj" fmla="val 10000"/>
            </a:avLst>
          </a:prstGeom>
          <a:solidFill>
            <a:srgbClr val="0A2035"/>
          </a:solidFill>
          <a:ln w="11430">
            <a:solidFill>
              <a:srgbClr val="16445F">
                <a:alpha val="90000"/>
              </a:srgbClr>
            </a:solidFill>
            <a:prstDash val="solid"/>
          </a:ln>
        </p:spPr>
      </p:sp>
      <p:sp>
        <p:nvSpPr>
          <p:cNvPr id="67" name="Shape 64"/>
          <p:cNvSpPr/>
          <p:nvPr/>
        </p:nvSpPr>
        <p:spPr>
          <a:xfrm>
            <a:off x="6153912" y="3255264"/>
            <a:ext cx="41148" cy="731520"/>
          </a:xfrm>
          <a:prstGeom prst="rect">
            <a:avLst/>
          </a:prstGeom>
          <a:solidFill>
            <a:srgbClr val="FFB22C"/>
          </a:solidFill>
          <a:ln w="12700">
            <a:solidFill>
              <a:srgbClr val="FFB22C"/>
            </a:solidFill>
            <a:prstDash val="solid"/>
          </a:ln>
        </p:spPr>
      </p:sp>
      <p:sp>
        <p:nvSpPr>
          <p:cNvPr id="68" name="Shape 65"/>
          <p:cNvSpPr/>
          <p:nvPr/>
        </p:nvSpPr>
        <p:spPr>
          <a:xfrm>
            <a:off x="6318504" y="3429000"/>
            <a:ext cx="347472" cy="347472"/>
          </a:xfrm>
          <a:prstGeom prst="ellipse">
            <a:avLst/>
          </a:prstGeom>
          <a:solidFill>
            <a:srgbClr val="FFB22C"/>
          </a:solidFill>
          <a:ln w="12700">
            <a:solidFill>
              <a:srgbClr val="FFB22C">
                <a:alpha val="0"/>
              </a:srgbClr>
            </a:solidFill>
            <a:prstDash val="solid"/>
          </a:ln>
        </p:spPr>
      </p:sp>
      <p:sp>
        <p:nvSpPr>
          <p:cNvPr id="69" name="Text 66"/>
          <p:cNvSpPr/>
          <p:nvPr/>
        </p:nvSpPr>
        <p:spPr>
          <a:xfrm>
            <a:off x="6318504" y="349300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6</a:t>
            </a:r>
            <a:endParaRPr lang="en-US" sz="800" dirty="0"/>
          </a:p>
        </p:txBody>
      </p:sp>
      <p:sp>
        <p:nvSpPr>
          <p:cNvPr id="70" name="Text 67"/>
          <p:cNvSpPr/>
          <p:nvPr/>
        </p:nvSpPr>
        <p:spPr>
          <a:xfrm>
            <a:off x="6812280" y="3383280"/>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What is the distribution of "Aircraft Damage" severity (Destroyed/Substantial/Minor) by manufacturer?</a:t>
            </a:r>
            <a:endParaRPr lang="en-US" sz="930" dirty="0"/>
          </a:p>
        </p:txBody>
      </p:sp>
      <p:sp>
        <p:nvSpPr>
          <p:cNvPr id="71" name="Shape 68"/>
          <p:cNvSpPr/>
          <p:nvPr/>
        </p:nvSpPr>
        <p:spPr>
          <a:xfrm>
            <a:off x="566928" y="4114800"/>
            <a:ext cx="5321808" cy="731520"/>
          </a:xfrm>
          <a:prstGeom prst="roundRect">
            <a:avLst>
              <a:gd name="adj" fmla="val 10000"/>
            </a:avLst>
          </a:prstGeom>
          <a:solidFill>
            <a:srgbClr val="0A2035"/>
          </a:solidFill>
          <a:ln w="11430">
            <a:solidFill>
              <a:srgbClr val="16445F">
                <a:alpha val="90000"/>
              </a:srgbClr>
            </a:solidFill>
            <a:prstDash val="solid"/>
          </a:ln>
        </p:spPr>
      </p:sp>
      <p:sp>
        <p:nvSpPr>
          <p:cNvPr id="72" name="Shape 69"/>
          <p:cNvSpPr/>
          <p:nvPr/>
        </p:nvSpPr>
        <p:spPr>
          <a:xfrm>
            <a:off x="566928" y="4114800"/>
            <a:ext cx="41148" cy="731520"/>
          </a:xfrm>
          <a:prstGeom prst="rect">
            <a:avLst/>
          </a:prstGeom>
          <a:solidFill>
            <a:srgbClr val="FFB22C"/>
          </a:solidFill>
          <a:ln w="12700">
            <a:solidFill>
              <a:srgbClr val="FFB22C"/>
            </a:solidFill>
            <a:prstDash val="solid"/>
          </a:ln>
        </p:spPr>
      </p:sp>
      <p:sp>
        <p:nvSpPr>
          <p:cNvPr id="73" name="Shape 70"/>
          <p:cNvSpPr/>
          <p:nvPr/>
        </p:nvSpPr>
        <p:spPr>
          <a:xfrm>
            <a:off x="731520" y="4288536"/>
            <a:ext cx="347472" cy="347472"/>
          </a:xfrm>
          <a:prstGeom prst="ellipse">
            <a:avLst/>
          </a:prstGeom>
          <a:solidFill>
            <a:srgbClr val="FFB22C"/>
          </a:solidFill>
          <a:ln w="12700">
            <a:solidFill>
              <a:srgbClr val="FFB22C">
                <a:alpha val="0"/>
              </a:srgbClr>
            </a:solidFill>
            <a:prstDash val="solid"/>
          </a:ln>
        </p:spPr>
      </p:sp>
      <p:sp>
        <p:nvSpPr>
          <p:cNvPr id="74" name="Text 71"/>
          <p:cNvSpPr/>
          <p:nvPr/>
        </p:nvSpPr>
        <p:spPr>
          <a:xfrm>
            <a:off x="731520" y="4352544"/>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7</a:t>
            </a:r>
            <a:endParaRPr lang="en-US" sz="800" dirty="0"/>
          </a:p>
        </p:txBody>
      </p:sp>
      <p:sp>
        <p:nvSpPr>
          <p:cNvPr id="75" name="Text 72"/>
          <p:cNvSpPr/>
          <p:nvPr/>
        </p:nvSpPr>
        <p:spPr>
          <a:xfrm>
            <a:off x="1225296" y="4242816"/>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Do amateur-built aircraft show a higher fatal injury rate compared to standard aircraft?</a:t>
            </a:r>
            <a:endParaRPr lang="en-US" sz="930" dirty="0"/>
          </a:p>
        </p:txBody>
      </p:sp>
      <p:sp>
        <p:nvSpPr>
          <p:cNvPr id="76" name="Shape 73">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77" name="Text 74">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78" name="Shape 75">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79" name="Shape 76">
            <a:hlinkClick r:id="rId5" action="ppaction://hlinksldjump"/>
          </p:cNvPr>
          <p:cNvSpPr/>
          <p:nvPr/>
        </p:nvSpPr>
        <p:spPr>
          <a:xfrm rot="16200000">
            <a:off x="11018520" y="6181344"/>
            <a:ext cx="146304" cy="146304"/>
          </a:xfrm>
          <a:prstGeom prst="chevron">
            <a:avLst/>
          </a:prstGeom>
          <a:solidFill>
            <a:srgbClr val="16DFF7"/>
          </a:solidFill>
          <a:ln w="12700">
            <a:solidFill>
              <a:srgbClr val="16DFF7"/>
            </a:solidFill>
            <a:prstDash val="solid"/>
          </a:ln>
        </p:spPr>
      </p:sp>
      <p:sp>
        <p:nvSpPr>
          <p:cNvPr id="80" name="Shape 77">
            <a:hlinkClick r:id="rId6" action="ppaction://hlinksldjump"/>
          </p:cNvPr>
          <p:cNvSpPr/>
          <p:nvPr/>
        </p:nvSpPr>
        <p:spPr>
          <a:xfrm>
            <a:off x="11338560" y="6099048"/>
            <a:ext cx="347472" cy="347472"/>
          </a:xfrm>
          <a:prstGeom prst="ellipse">
            <a:avLst/>
          </a:prstGeom>
          <a:solidFill>
            <a:srgbClr val="0B2940"/>
          </a:solidFill>
          <a:ln w="10160">
            <a:solidFill>
              <a:srgbClr val="16718B"/>
            </a:solidFill>
            <a:prstDash val="solid"/>
          </a:ln>
        </p:spPr>
      </p:sp>
      <p:sp>
        <p:nvSpPr>
          <p:cNvPr id="81" name="Text 78">
            <a:hlinkClick r:id="rId6" action="ppaction://hlinksldjump"/>
          </p:cNvPr>
          <p:cNvSpPr/>
          <p:nvPr/>
        </p:nvSpPr>
        <p:spPr>
          <a:xfrm>
            <a:off x="11356848"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6" action="ppaction://hlinksldjump">
                  <a:extLst>
                    <a:ext uri="{A12FA001-AC4F-418D-AE19-62706E023703}">
                      <ahyp:hlinkClr xmlns:ahyp="http://schemas.microsoft.com/office/drawing/2018/hyperlinkcolor" val="tx"/>
                    </a:ext>
                  </a:extLst>
                </a:hlinkClick>
              </a:rPr>
              <a:t>›</a:t>
            </a:r>
            <a:endParaRPr lang="en-US" sz="1700" dirty="0"/>
          </a:p>
        </p:txBody>
      </p:sp>
      <p:sp>
        <p:nvSpPr>
          <p:cNvPr id="82"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10000"/>
              </a:srgbClr>
            </a:solidFill>
            <a:prstDash val="solid"/>
          </a:ln>
        </p:spPr>
      </p:sp>
      <p:sp>
        <p:nvSpPr>
          <p:cNvPr id="3" name="Shape 1"/>
          <p:cNvSpPr/>
          <p:nvPr/>
        </p:nvSpPr>
        <p:spPr>
          <a:xfrm>
            <a:off x="1051560" y="502920"/>
            <a:ext cx="0" cy="5715000"/>
          </a:xfrm>
          <a:prstGeom prst="line">
            <a:avLst/>
          </a:prstGeom>
          <a:noFill/>
          <a:ln w="5080">
            <a:solidFill>
              <a:srgbClr val="0B304B">
                <a:alpha val="10000"/>
              </a:srgbClr>
            </a:solidFill>
            <a:prstDash val="solid"/>
          </a:ln>
        </p:spPr>
      </p:sp>
      <p:sp>
        <p:nvSpPr>
          <p:cNvPr id="4" name="Shape 2"/>
          <p:cNvSpPr/>
          <p:nvPr/>
        </p:nvSpPr>
        <p:spPr>
          <a:xfrm>
            <a:off x="1554480" y="502920"/>
            <a:ext cx="0" cy="5715000"/>
          </a:xfrm>
          <a:prstGeom prst="line">
            <a:avLst/>
          </a:prstGeom>
          <a:noFill/>
          <a:ln w="5080">
            <a:solidFill>
              <a:srgbClr val="0B304B">
                <a:alpha val="10000"/>
              </a:srgbClr>
            </a:solidFill>
            <a:prstDash val="solid"/>
          </a:ln>
        </p:spPr>
      </p:sp>
      <p:sp>
        <p:nvSpPr>
          <p:cNvPr id="5" name="Shape 3"/>
          <p:cNvSpPr/>
          <p:nvPr/>
        </p:nvSpPr>
        <p:spPr>
          <a:xfrm>
            <a:off x="2057400" y="502920"/>
            <a:ext cx="0" cy="5715000"/>
          </a:xfrm>
          <a:prstGeom prst="line">
            <a:avLst/>
          </a:prstGeom>
          <a:noFill/>
          <a:ln w="5080">
            <a:solidFill>
              <a:srgbClr val="0B304B">
                <a:alpha val="10000"/>
              </a:srgbClr>
            </a:solidFill>
            <a:prstDash val="solid"/>
          </a:ln>
        </p:spPr>
      </p:sp>
      <p:sp>
        <p:nvSpPr>
          <p:cNvPr id="6" name="Shape 4"/>
          <p:cNvSpPr/>
          <p:nvPr/>
        </p:nvSpPr>
        <p:spPr>
          <a:xfrm>
            <a:off x="2560320" y="502920"/>
            <a:ext cx="0" cy="5715000"/>
          </a:xfrm>
          <a:prstGeom prst="line">
            <a:avLst/>
          </a:prstGeom>
          <a:noFill/>
          <a:ln w="5080">
            <a:solidFill>
              <a:srgbClr val="0B304B">
                <a:alpha val="10000"/>
              </a:srgbClr>
            </a:solidFill>
            <a:prstDash val="solid"/>
          </a:ln>
        </p:spPr>
      </p:sp>
      <p:sp>
        <p:nvSpPr>
          <p:cNvPr id="7" name="Shape 5"/>
          <p:cNvSpPr/>
          <p:nvPr/>
        </p:nvSpPr>
        <p:spPr>
          <a:xfrm>
            <a:off x="3063240" y="502920"/>
            <a:ext cx="0" cy="5715000"/>
          </a:xfrm>
          <a:prstGeom prst="line">
            <a:avLst/>
          </a:prstGeom>
          <a:noFill/>
          <a:ln w="5080">
            <a:solidFill>
              <a:srgbClr val="0B304B">
                <a:alpha val="10000"/>
              </a:srgbClr>
            </a:solidFill>
            <a:prstDash val="solid"/>
          </a:ln>
        </p:spPr>
      </p:sp>
      <p:sp>
        <p:nvSpPr>
          <p:cNvPr id="8" name="Shape 6"/>
          <p:cNvSpPr/>
          <p:nvPr/>
        </p:nvSpPr>
        <p:spPr>
          <a:xfrm>
            <a:off x="3566160" y="502920"/>
            <a:ext cx="0" cy="5715000"/>
          </a:xfrm>
          <a:prstGeom prst="line">
            <a:avLst/>
          </a:prstGeom>
          <a:noFill/>
          <a:ln w="5080">
            <a:solidFill>
              <a:srgbClr val="0B304B">
                <a:alpha val="10000"/>
              </a:srgbClr>
            </a:solidFill>
            <a:prstDash val="solid"/>
          </a:ln>
        </p:spPr>
      </p:sp>
      <p:sp>
        <p:nvSpPr>
          <p:cNvPr id="9" name="Shape 7"/>
          <p:cNvSpPr/>
          <p:nvPr/>
        </p:nvSpPr>
        <p:spPr>
          <a:xfrm>
            <a:off x="4069080" y="502920"/>
            <a:ext cx="0" cy="5715000"/>
          </a:xfrm>
          <a:prstGeom prst="line">
            <a:avLst/>
          </a:prstGeom>
          <a:noFill/>
          <a:ln w="5080">
            <a:solidFill>
              <a:srgbClr val="0B304B">
                <a:alpha val="10000"/>
              </a:srgbClr>
            </a:solidFill>
            <a:prstDash val="solid"/>
          </a:ln>
        </p:spPr>
      </p:sp>
      <p:sp>
        <p:nvSpPr>
          <p:cNvPr id="10" name="Shape 8"/>
          <p:cNvSpPr/>
          <p:nvPr/>
        </p:nvSpPr>
        <p:spPr>
          <a:xfrm>
            <a:off x="4572000" y="502920"/>
            <a:ext cx="0" cy="5715000"/>
          </a:xfrm>
          <a:prstGeom prst="line">
            <a:avLst/>
          </a:prstGeom>
          <a:noFill/>
          <a:ln w="5080">
            <a:solidFill>
              <a:srgbClr val="0B304B">
                <a:alpha val="10000"/>
              </a:srgbClr>
            </a:solidFill>
            <a:prstDash val="solid"/>
          </a:ln>
        </p:spPr>
      </p:sp>
      <p:sp>
        <p:nvSpPr>
          <p:cNvPr id="11" name="Shape 9"/>
          <p:cNvSpPr/>
          <p:nvPr/>
        </p:nvSpPr>
        <p:spPr>
          <a:xfrm>
            <a:off x="5074920" y="502920"/>
            <a:ext cx="0" cy="5715000"/>
          </a:xfrm>
          <a:prstGeom prst="line">
            <a:avLst/>
          </a:prstGeom>
          <a:noFill/>
          <a:ln w="5080">
            <a:solidFill>
              <a:srgbClr val="0B304B">
                <a:alpha val="10000"/>
              </a:srgbClr>
            </a:solidFill>
            <a:prstDash val="solid"/>
          </a:ln>
        </p:spPr>
      </p:sp>
      <p:sp>
        <p:nvSpPr>
          <p:cNvPr id="12" name="Shape 10"/>
          <p:cNvSpPr/>
          <p:nvPr/>
        </p:nvSpPr>
        <p:spPr>
          <a:xfrm>
            <a:off x="5577840" y="502920"/>
            <a:ext cx="0" cy="5715000"/>
          </a:xfrm>
          <a:prstGeom prst="line">
            <a:avLst/>
          </a:prstGeom>
          <a:noFill/>
          <a:ln w="5080">
            <a:solidFill>
              <a:srgbClr val="0B304B">
                <a:alpha val="10000"/>
              </a:srgbClr>
            </a:solidFill>
            <a:prstDash val="solid"/>
          </a:ln>
        </p:spPr>
      </p:sp>
      <p:sp>
        <p:nvSpPr>
          <p:cNvPr id="13" name="Shape 11"/>
          <p:cNvSpPr/>
          <p:nvPr/>
        </p:nvSpPr>
        <p:spPr>
          <a:xfrm>
            <a:off x="6080760" y="502920"/>
            <a:ext cx="0" cy="5715000"/>
          </a:xfrm>
          <a:prstGeom prst="line">
            <a:avLst/>
          </a:prstGeom>
          <a:noFill/>
          <a:ln w="5080">
            <a:solidFill>
              <a:srgbClr val="0B304B">
                <a:alpha val="10000"/>
              </a:srgbClr>
            </a:solidFill>
            <a:prstDash val="solid"/>
          </a:ln>
        </p:spPr>
      </p:sp>
      <p:sp>
        <p:nvSpPr>
          <p:cNvPr id="14" name="Shape 12"/>
          <p:cNvSpPr/>
          <p:nvPr/>
        </p:nvSpPr>
        <p:spPr>
          <a:xfrm>
            <a:off x="6583680" y="502920"/>
            <a:ext cx="0" cy="5715000"/>
          </a:xfrm>
          <a:prstGeom prst="line">
            <a:avLst/>
          </a:prstGeom>
          <a:noFill/>
          <a:ln w="5080">
            <a:solidFill>
              <a:srgbClr val="0B304B">
                <a:alpha val="10000"/>
              </a:srgbClr>
            </a:solidFill>
            <a:prstDash val="solid"/>
          </a:ln>
        </p:spPr>
      </p:sp>
      <p:sp>
        <p:nvSpPr>
          <p:cNvPr id="15" name="Shape 13"/>
          <p:cNvSpPr/>
          <p:nvPr/>
        </p:nvSpPr>
        <p:spPr>
          <a:xfrm>
            <a:off x="7086600" y="502920"/>
            <a:ext cx="0" cy="5715000"/>
          </a:xfrm>
          <a:prstGeom prst="line">
            <a:avLst/>
          </a:prstGeom>
          <a:noFill/>
          <a:ln w="5080">
            <a:solidFill>
              <a:srgbClr val="0B304B">
                <a:alpha val="10000"/>
              </a:srgbClr>
            </a:solidFill>
            <a:prstDash val="solid"/>
          </a:ln>
        </p:spPr>
      </p:sp>
      <p:sp>
        <p:nvSpPr>
          <p:cNvPr id="16" name="Shape 14"/>
          <p:cNvSpPr/>
          <p:nvPr/>
        </p:nvSpPr>
        <p:spPr>
          <a:xfrm>
            <a:off x="7589520" y="502920"/>
            <a:ext cx="0" cy="5715000"/>
          </a:xfrm>
          <a:prstGeom prst="line">
            <a:avLst/>
          </a:prstGeom>
          <a:noFill/>
          <a:ln w="5080">
            <a:solidFill>
              <a:srgbClr val="0B304B">
                <a:alpha val="10000"/>
              </a:srgbClr>
            </a:solidFill>
            <a:prstDash val="solid"/>
          </a:ln>
        </p:spPr>
      </p:sp>
      <p:sp>
        <p:nvSpPr>
          <p:cNvPr id="17" name="Shape 15"/>
          <p:cNvSpPr/>
          <p:nvPr/>
        </p:nvSpPr>
        <p:spPr>
          <a:xfrm>
            <a:off x="8092440" y="502920"/>
            <a:ext cx="0" cy="5715000"/>
          </a:xfrm>
          <a:prstGeom prst="line">
            <a:avLst/>
          </a:prstGeom>
          <a:noFill/>
          <a:ln w="5080">
            <a:solidFill>
              <a:srgbClr val="0B304B">
                <a:alpha val="10000"/>
              </a:srgbClr>
            </a:solidFill>
            <a:prstDash val="solid"/>
          </a:ln>
        </p:spPr>
      </p:sp>
      <p:sp>
        <p:nvSpPr>
          <p:cNvPr id="18" name="Shape 16"/>
          <p:cNvSpPr/>
          <p:nvPr/>
        </p:nvSpPr>
        <p:spPr>
          <a:xfrm>
            <a:off x="8595360" y="502920"/>
            <a:ext cx="0" cy="5715000"/>
          </a:xfrm>
          <a:prstGeom prst="line">
            <a:avLst/>
          </a:prstGeom>
          <a:noFill/>
          <a:ln w="5080">
            <a:solidFill>
              <a:srgbClr val="0B304B">
                <a:alpha val="10000"/>
              </a:srgbClr>
            </a:solidFill>
            <a:prstDash val="solid"/>
          </a:ln>
        </p:spPr>
      </p:sp>
      <p:sp>
        <p:nvSpPr>
          <p:cNvPr id="19" name="Shape 17"/>
          <p:cNvSpPr/>
          <p:nvPr/>
        </p:nvSpPr>
        <p:spPr>
          <a:xfrm>
            <a:off x="9098280" y="502920"/>
            <a:ext cx="0" cy="5715000"/>
          </a:xfrm>
          <a:prstGeom prst="line">
            <a:avLst/>
          </a:prstGeom>
          <a:noFill/>
          <a:ln w="5080">
            <a:solidFill>
              <a:srgbClr val="0B304B">
                <a:alpha val="10000"/>
              </a:srgbClr>
            </a:solidFill>
            <a:prstDash val="solid"/>
          </a:ln>
        </p:spPr>
      </p:sp>
      <p:sp>
        <p:nvSpPr>
          <p:cNvPr id="20" name="Shape 18"/>
          <p:cNvSpPr/>
          <p:nvPr/>
        </p:nvSpPr>
        <p:spPr>
          <a:xfrm>
            <a:off x="9601200" y="502920"/>
            <a:ext cx="0" cy="5715000"/>
          </a:xfrm>
          <a:prstGeom prst="line">
            <a:avLst/>
          </a:prstGeom>
          <a:noFill/>
          <a:ln w="5080">
            <a:solidFill>
              <a:srgbClr val="0B304B">
                <a:alpha val="10000"/>
              </a:srgbClr>
            </a:solidFill>
            <a:prstDash val="solid"/>
          </a:ln>
        </p:spPr>
      </p:sp>
      <p:sp>
        <p:nvSpPr>
          <p:cNvPr id="21" name="Shape 19"/>
          <p:cNvSpPr/>
          <p:nvPr/>
        </p:nvSpPr>
        <p:spPr>
          <a:xfrm>
            <a:off x="10104120" y="502920"/>
            <a:ext cx="0" cy="5715000"/>
          </a:xfrm>
          <a:prstGeom prst="line">
            <a:avLst/>
          </a:prstGeom>
          <a:noFill/>
          <a:ln w="5080">
            <a:solidFill>
              <a:srgbClr val="0B304B">
                <a:alpha val="10000"/>
              </a:srgbClr>
            </a:solidFill>
            <a:prstDash val="solid"/>
          </a:ln>
        </p:spPr>
      </p:sp>
      <p:sp>
        <p:nvSpPr>
          <p:cNvPr id="22" name="Shape 20"/>
          <p:cNvSpPr/>
          <p:nvPr/>
        </p:nvSpPr>
        <p:spPr>
          <a:xfrm>
            <a:off x="10607040" y="502920"/>
            <a:ext cx="0" cy="5715000"/>
          </a:xfrm>
          <a:prstGeom prst="line">
            <a:avLst/>
          </a:prstGeom>
          <a:noFill/>
          <a:ln w="5080">
            <a:solidFill>
              <a:srgbClr val="0B304B">
                <a:alpha val="10000"/>
              </a:srgbClr>
            </a:solidFill>
            <a:prstDash val="solid"/>
          </a:ln>
        </p:spPr>
      </p:sp>
      <p:sp>
        <p:nvSpPr>
          <p:cNvPr id="23" name="Shape 21"/>
          <p:cNvSpPr/>
          <p:nvPr/>
        </p:nvSpPr>
        <p:spPr>
          <a:xfrm>
            <a:off x="11109960" y="502920"/>
            <a:ext cx="0" cy="5715000"/>
          </a:xfrm>
          <a:prstGeom prst="line">
            <a:avLst/>
          </a:prstGeom>
          <a:noFill/>
          <a:ln w="5080">
            <a:solidFill>
              <a:srgbClr val="0B304B">
                <a:alpha val="10000"/>
              </a:srgbClr>
            </a:solidFill>
            <a:prstDash val="solid"/>
          </a:ln>
        </p:spPr>
      </p:sp>
      <p:sp>
        <p:nvSpPr>
          <p:cNvPr id="24" name="Shape 22"/>
          <p:cNvSpPr/>
          <p:nvPr/>
        </p:nvSpPr>
        <p:spPr>
          <a:xfrm>
            <a:off x="11612880" y="502920"/>
            <a:ext cx="0" cy="5715000"/>
          </a:xfrm>
          <a:prstGeom prst="line">
            <a:avLst/>
          </a:prstGeom>
          <a:noFill/>
          <a:ln w="5080">
            <a:solidFill>
              <a:srgbClr val="0B304B">
                <a:alpha val="10000"/>
              </a:srgbClr>
            </a:solidFill>
            <a:prstDash val="solid"/>
          </a:ln>
        </p:spPr>
      </p:sp>
      <p:sp>
        <p:nvSpPr>
          <p:cNvPr id="25" name="Shape 23"/>
          <p:cNvSpPr/>
          <p:nvPr/>
        </p:nvSpPr>
        <p:spPr>
          <a:xfrm>
            <a:off x="502920" y="566928"/>
            <a:ext cx="11201400" cy="0"/>
          </a:xfrm>
          <a:prstGeom prst="line">
            <a:avLst/>
          </a:prstGeom>
          <a:noFill/>
          <a:ln w="5080">
            <a:solidFill>
              <a:srgbClr val="0B304B">
                <a:alpha val="10000"/>
              </a:srgbClr>
            </a:solidFill>
            <a:prstDash val="solid"/>
          </a:ln>
        </p:spPr>
      </p:sp>
      <p:sp>
        <p:nvSpPr>
          <p:cNvPr id="26" name="Shape 24"/>
          <p:cNvSpPr/>
          <p:nvPr/>
        </p:nvSpPr>
        <p:spPr>
          <a:xfrm>
            <a:off x="502920" y="1069848"/>
            <a:ext cx="11201400" cy="0"/>
          </a:xfrm>
          <a:prstGeom prst="line">
            <a:avLst/>
          </a:prstGeom>
          <a:noFill/>
          <a:ln w="5080">
            <a:solidFill>
              <a:srgbClr val="0B304B">
                <a:alpha val="10000"/>
              </a:srgbClr>
            </a:solidFill>
            <a:prstDash val="solid"/>
          </a:ln>
        </p:spPr>
      </p:sp>
      <p:sp>
        <p:nvSpPr>
          <p:cNvPr id="27" name="Shape 25"/>
          <p:cNvSpPr/>
          <p:nvPr/>
        </p:nvSpPr>
        <p:spPr>
          <a:xfrm>
            <a:off x="502920" y="1572768"/>
            <a:ext cx="11201400" cy="0"/>
          </a:xfrm>
          <a:prstGeom prst="line">
            <a:avLst/>
          </a:prstGeom>
          <a:noFill/>
          <a:ln w="5080">
            <a:solidFill>
              <a:srgbClr val="0B304B">
                <a:alpha val="10000"/>
              </a:srgbClr>
            </a:solidFill>
            <a:prstDash val="solid"/>
          </a:ln>
        </p:spPr>
      </p:sp>
      <p:sp>
        <p:nvSpPr>
          <p:cNvPr id="28" name="Shape 26"/>
          <p:cNvSpPr/>
          <p:nvPr/>
        </p:nvSpPr>
        <p:spPr>
          <a:xfrm>
            <a:off x="502920" y="2075688"/>
            <a:ext cx="11201400" cy="0"/>
          </a:xfrm>
          <a:prstGeom prst="line">
            <a:avLst/>
          </a:prstGeom>
          <a:noFill/>
          <a:ln w="5080">
            <a:solidFill>
              <a:srgbClr val="0B304B">
                <a:alpha val="10000"/>
              </a:srgbClr>
            </a:solidFill>
            <a:prstDash val="solid"/>
          </a:ln>
        </p:spPr>
      </p:sp>
      <p:sp>
        <p:nvSpPr>
          <p:cNvPr id="29" name="Shape 27"/>
          <p:cNvSpPr/>
          <p:nvPr/>
        </p:nvSpPr>
        <p:spPr>
          <a:xfrm>
            <a:off x="502920" y="2578608"/>
            <a:ext cx="11201400" cy="0"/>
          </a:xfrm>
          <a:prstGeom prst="line">
            <a:avLst/>
          </a:prstGeom>
          <a:noFill/>
          <a:ln w="5080">
            <a:solidFill>
              <a:srgbClr val="0B304B">
                <a:alpha val="10000"/>
              </a:srgbClr>
            </a:solidFill>
            <a:prstDash val="solid"/>
          </a:ln>
        </p:spPr>
      </p:sp>
      <p:sp>
        <p:nvSpPr>
          <p:cNvPr id="30" name="Shape 28"/>
          <p:cNvSpPr/>
          <p:nvPr/>
        </p:nvSpPr>
        <p:spPr>
          <a:xfrm>
            <a:off x="502920" y="3081528"/>
            <a:ext cx="11201400" cy="0"/>
          </a:xfrm>
          <a:prstGeom prst="line">
            <a:avLst/>
          </a:prstGeom>
          <a:noFill/>
          <a:ln w="5080">
            <a:solidFill>
              <a:srgbClr val="0B304B">
                <a:alpha val="10000"/>
              </a:srgbClr>
            </a:solidFill>
            <a:prstDash val="solid"/>
          </a:ln>
        </p:spPr>
      </p:sp>
      <p:sp>
        <p:nvSpPr>
          <p:cNvPr id="31" name="Shape 29"/>
          <p:cNvSpPr/>
          <p:nvPr/>
        </p:nvSpPr>
        <p:spPr>
          <a:xfrm>
            <a:off x="502920" y="3584448"/>
            <a:ext cx="11201400" cy="0"/>
          </a:xfrm>
          <a:prstGeom prst="line">
            <a:avLst/>
          </a:prstGeom>
          <a:noFill/>
          <a:ln w="5080">
            <a:solidFill>
              <a:srgbClr val="0B304B">
                <a:alpha val="10000"/>
              </a:srgbClr>
            </a:solidFill>
            <a:prstDash val="solid"/>
          </a:ln>
        </p:spPr>
      </p:sp>
      <p:sp>
        <p:nvSpPr>
          <p:cNvPr id="32" name="Shape 30"/>
          <p:cNvSpPr/>
          <p:nvPr/>
        </p:nvSpPr>
        <p:spPr>
          <a:xfrm>
            <a:off x="502920" y="4087368"/>
            <a:ext cx="11201400" cy="0"/>
          </a:xfrm>
          <a:prstGeom prst="line">
            <a:avLst/>
          </a:prstGeom>
          <a:noFill/>
          <a:ln w="5080">
            <a:solidFill>
              <a:srgbClr val="0B304B">
                <a:alpha val="10000"/>
              </a:srgbClr>
            </a:solidFill>
            <a:prstDash val="solid"/>
          </a:ln>
        </p:spPr>
      </p:sp>
      <p:sp>
        <p:nvSpPr>
          <p:cNvPr id="33" name="Shape 31"/>
          <p:cNvSpPr/>
          <p:nvPr/>
        </p:nvSpPr>
        <p:spPr>
          <a:xfrm>
            <a:off x="502920" y="4590288"/>
            <a:ext cx="11201400" cy="0"/>
          </a:xfrm>
          <a:prstGeom prst="line">
            <a:avLst/>
          </a:prstGeom>
          <a:noFill/>
          <a:ln w="5080">
            <a:solidFill>
              <a:srgbClr val="0B304B">
                <a:alpha val="10000"/>
              </a:srgbClr>
            </a:solidFill>
            <a:prstDash val="solid"/>
          </a:ln>
        </p:spPr>
      </p:sp>
      <p:sp>
        <p:nvSpPr>
          <p:cNvPr id="34" name="Shape 32"/>
          <p:cNvSpPr/>
          <p:nvPr/>
        </p:nvSpPr>
        <p:spPr>
          <a:xfrm>
            <a:off x="502920" y="5093208"/>
            <a:ext cx="11201400" cy="0"/>
          </a:xfrm>
          <a:prstGeom prst="line">
            <a:avLst/>
          </a:prstGeom>
          <a:noFill/>
          <a:ln w="5080">
            <a:solidFill>
              <a:srgbClr val="0B304B">
                <a:alpha val="10000"/>
              </a:srgbClr>
            </a:solidFill>
            <a:prstDash val="solid"/>
          </a:ln>
        </p:spPr>
      </p:sp>
      <p:sp>
        <p:nvSpPr>
          <p:cNvPr id="35" name="Shape 33"/>
          <p:cNvSpPr/>
          <p:nvPr/>
        </p:nvSpPr>
        <p:spPr>
          <a:xfrm>
            <a:off x="502920" y="5596128"/>
            <a:ext cx="11201400" cy="0"/>
          </a:xfrm>
          <a:prstGeom prst="line">
            <a:avLst/>
          </a:prstGeom>
          <a:noFill/>
          <a:ln w="5080">
            <a:solidFill>
              <a:srgbClr val="0B304B">
                <a:alpha val="10000"/>
              </a:srgbClr>
            </a:solidFill>
            <a:prstDash val="solid"/>
          </a:ln>
        </p:spPr>
      </p:sp>
      <p:sp>
        <p:nvSpPr>
          <p:cNvPr id="36" name="Shape 34"/>
          <p:cNvSpPr/>
          <p:nvPr/>
        </p:nvSpPr>
        <p:spPr>
          <a:xfrm>
            <a:off x="502920" y="6099048"/>
            <a:ext cx="11201400" cy="0"/>
          </a:xfrm>
          <a:prstGeom prst="line">
            <a:avLst/>
          </a:prstGeom>
          <a:noFill/>
          <a:ln w="5080">
            <a:solidFill>
              <a:srgbClr val="0B304B">
                <a:alpha val="10000"/>
              </a:srgbClr>
            </a:solidFill>
            <a:prstDash val="solid"/>
          </a:ln>
        </p:spPr>
      </p:sp>
      <p:sp>
        <p:nvSpPr>
          <p:cNvPr id="37" name="Shape 35"/>
          <p:cNvSpPr/>
          <p:nvPr/>
        </p:nvSpPr>
        <p:spPr>
          <a:xfrm>
            <a:off x="530352" y="329184"/>
            <a:ext cx="1463040" cy="256032"/>
          </a:xfrm>
          <a:prstGeom prst="roundRect">
            <a:avLst>
              <a:gd name="adj" fmla="val 17857"/>
            </a:avLst>
          </a:prstGeom>
          <a:solidFill>
            <a:srgbClr val="09273D"/>
          </a:solidFill>
          <a:ln w="10160">
            <a:solidFill>
              <a:srgbClr val="FFB22C">
                <a:alpha val="65000"/>
              </a:srgbClr>
            </a:solidFill>
            <a:prstDash val="solid"/>
          </a:ln>
        </p:spPr>
      </p:sp>
      <p:sp>
        <p:nvSpPr>
          <p:cNvPr id="38" name="Text 36"/>
          <p:cNvSpPr/>
          <p:nvPr/>
        </p:nvSpPr>
        <p:spPr>
          <a:xfrm>
            <a:off x="603504" y="379476"/>
            <a:ext cx="131673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FFB22C"/>
                </a:solidFill>
                <a:latin typeface="Aptos" pitchFamily="34" charset="0"/>
                <a:ea typeface="Aptos" pitchFamily="34" charset="-122"/>
                <a:cs typeface="Aptos" pitchFamily="34" charset="-120"/>
              </a:rPr>
              <a:t>DASHBOARD VIEW</a:t>
            </a:r>
            <a:endParaRPr lang="en-US" sz="560" dirty="0"/>
          </a:p>
        </p:txBody>
      </p:sp>
      <p:sp>
        <p:nvSpPr>
          <p:cNvPr id="39" name="Text 37"/>
          <p:cNvSpPr/>
          <p:nvPr/>
        </p:nvSpPr>
        <p:spPr>
          <a:xfrm>
            <a:off x="548640" y="658368"/>
            <a:ext cx="8046720" cy="384048"/>
          </a:xfrm>
          <a:prstGeom prst="rect">
            <a:avLst/>
          </a:prstGeom>
          <a:noFill/>
          <a:ln/>
        </p:spPr>
        <p:txBody>
          <a:bodyPr wrap="square" lIns="0" tIns="0" rIns="0" bIns="0" rtlCol="0" anchor="ctr">
            <a:normAutofit/>
          </a:bodyPr>
          <a:lstStyle/>
          <a:p>
            <a:pPr marL="0" indent="0">
              <a:buNone/>
            </a:pPr>
            <a:r>
              <a:rPr lang="en-US" sz="2000" b="1" dirty="0">
                <a:solidFill>
                  <a:srgbClr val="F5FAFE"/>
                </a:solidFill>
                <a:latin typeface="Aptos Display" pitchFamily="34" charset="0"/>
                <a:ea typeface="Aptos Display" pitchFamily="34" charset="-122"/>
                <a:cs typeface="Aptos Display" pitchFamily="34" charset="-120"/>
              </a:rPr>
              <a:t>Dashboard 3 — Aircraft &amp; Engine Analysis</a:t>
            </a:r>
            <a:endParaRPr lang="en-US" sz="2000" dirty="0"/>
          </a:p>
        </p:txBody>
      </p:sp>
      <p:sp>
        <p:nvSpPr>
          <p:cNvPr id="40" name="Shape 38"/>
          <p:cNvSpPr/>
          <p:nvPr/>
        </p:nvSpPr>
        <p:spPr>
          <a:xfrm>
            <a:off x="621792" y="1261872"/>
            <a:ext cx="10945368" cy="4526280"/>
          </a:xfrm>
          <a:prstGeom prst="roundRect">
            <a:avLst>
              <a:gd name="adj" fmla="val 1616"/>
            </a:avLst>
          </a:prstGeom>
          <a:solidFill>
            <a:srgbClr val="071625"/>
          </a:solidFill>
          <a:ln w="11430">
            <a:solidFill>
              <a:srgbClr val="FFB22C">
                <a:alpha val="90000"/>
              </a:srgbClr>
            </a:solidFill>
            <a:prstDash val="solid"/>
          </a:ln>
          <a:effectLst>
            <a:outerShdw algn="bl" rotWithShape="0">
              <a:srgbClr val="000000">
                <a:alpha val="0"/>
              </a:srgbClr>
            </a:outerShdw>
          </a:effectLst>
        </p:spPr>
      </p:sp>
      <p:pic>
        <p:nvPicPr>
          <p:cNvPr id="41" name="Image 0" descr="/mnt/data/nti_render/slide-19.png"/>
          <p:cNvPicPr>
            <a:picLocks noChangeAspect="1"/>
          </p:cNvPicPr>
          <p:nvPr/>
        </p:nvPicPr>
        <p:blipFill>
          <a:blip r:embed="rId3"/>
          <a:stretch>
            <a:fillRect/>
          </a:stretch>
        </p:blipFill>
        <p:spPr>
          <a:xfrm>
            <a:off x="2324288" y="1408176"/>
            <a:ext cx="7531232" cy="4233672"/>
          </a:xfrm>
          <a:prstGeom prst="rect">
            <a:avLst/>
          </a:prstGeom>
        </p:spPr>
      </p:pic>
      <p:sp>
        <p:nvSpPr>
          <p:cNvPr id="42" name="Shape 39"/>
          <p:cNvSpPr/>
          <p:nvPr/>
        </p:nvSpPr>
        <p:spPr>
          <a:xfrm>
            <a:off x="768096" y="1307592"/>
            <a:ext cx="54864" cy="54864"/>
          </a:xfrm>
          <a:prstGeom prst="ellipse">
            <a:avLst/>
          </a:prstGeom>
          <a:solidFill>
            <a:srgbClr val="FF6B70"/>
          </a:solidFill>
          <a:ln w="12700">
            <a:solidFill>
              <a:srgbClr val="333333">
                <a:alpha val="0"/>
              </a:srgbClr>
            </a:solidFill>
            <a:prstDash val="solid"/>
          </a:ln>
        </p:spPr>
      </p:sp>
      <p:sp>
        <p:nvSpPr>
          <p:cNvPr id="43" name="Shape 40"/>
          <p:cNvSpPr/>
          <p:nvPr/>
        </p:nvSpPr>
        <p:spPr>
          <a:xfrm>
            <a:off x="896112" y="1307592"/>
            <a:ext cx="54864" cy="54864"/>
          </a:xfrm>
          <a:prstGeom prst="ellipse">
            <a:avLst/>
          </a:prstGeom>
          <a:solidFill>
            <a:srgbClr val="FFBF45"/>
          </a:solidFill>
          <a:ln w="12700">
            <a:solidFill>
              <a:srgbClr val="333333">
                <a:alpha val="0"/>
              </a:srgbClr>
            </a:solidFill>
            <a:prstDash val="solid"/>
          </a:ln>
        </p:spPr>
      </p:sp>
      <p:sp>
        <p:nvSpPr>
          <p:cNvPr id="44" name="Shape 41"/>
          <p:cNvSpPr/>
          <p:nvPr/>
        </p:nvSpPr>
        <p:spPr>
          <a:xfrm>
            <a:off x="1024128" y="1307592"/>
            <a:ext cx="54864" cy="54864"/>
          </a:xfrm>
          <a:prstGeom prst="ellipse">
            <a:avLst/>
          </a:prstGeom>
          <a:solidFill>
            <a:srgbClr val="3FE0B5"/>
          </a:solidFill>
          <a:ln w="12700">
            <a:solidFill>
              <a:srgbClr val="333333">
                <a:alpha val="0"/>
              </a:srgbClr>
            </a:solidFill>
            <a:prstDash val="solid"/>
          </a:ln>
        </p:spPr>
      </p:sp>
      <p:sp>
        <p:nvSpPr>
          <p:cNvPr id="45" name="Shape 42">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46" name="Text 43">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47" name="Shape 44">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48" name="Shape 45">
            <a:hlinkClick r:id="rId5" action="ppaction://hlinksldjump"/>
          </p:cNvPr>
          <p:cNvSpPr/>
          <p:nvPr/>
        </p:nvSpPr>
        <p:spPr>
          <a:xfrm rot="16200000">
            <a:off x="11018520" y="6181344"/>
            <a:ext cx="146304" cy="146304"/>
          </a:xfrm>
          <a:prstGeom prst="chevron">
            <a:avLst/>
          </a:prstGeom>
          <a:solidFill>
            <a:srgbClr val="16DFF7"/>
          </a:solidFill>
          <a:ln w="12700">
            <a:solidFill>
              <a:srgbClr val="16DFF7"/>
            </a:solidFill>
            <a:prstDash val="solid"/>
          </a:ln>
        </p:spPr>
      </p:sp>
      <p:sp>
        <p:nvSpPr>
          <p:cNvPr id="49" name="Shape 46">
            <a:hlinkClick r:id="rId6" action="ppaction://hlinksldjump"/>
          </p:cNvPr>
          <p:cNvSpPr/>
          <p:nvPr/>
        </p:nvSpPr>
        <p:spPr>
          <a:xfrm>
            <a:off x="11338560" y="6099048"/>
            <a:ext cx="347472" cy="347472"/>
          </a:xfrm>
          <a:prstGeom prst="ellipse">
            <a:avLst/>
          </a:prstGeom>
          <a:solidFill>
            <a:srgbClr val="0B2940"/>
          </a:solidFill>
          <a:ln w="10160">
            <a:solidFill>
              <a:srgbClr val="16718B"/>
            </a:solidFill>
            <a:prstDash val="solid"/>
          </a:ln>
        </p:spPr>
      </p:sp>
      <p:sp>
        <p:nvSpPr>
          <p:cNvPr id="50" name="Text 47">
            <a:hlinkClick r:id="rId6" action="ppaction://hlinksldjump"/>
          </p:cNvPr>
          <p:cNvSpPr/>
          <p:nvPr/>
        </p:nvSpPr>
        <p:spPr>
          <a:xfrm>
            <a:off x="11356848"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6" action="ppaction://hlinksldjump">
                  <a:extLst>
                    <a:ext uri="{A12FA001-AC4F-418D-AE19-62706E023703}">
                      <ahyp:hlinkClr xmlns:ahyp="http://schemas.microsoft.com/office/drawing/2018/hyperlinkcolor" val="tx"/>
                    </a:ext>
                  </a:extLst>
                </a:hlinkClick>
              </a:rPr>
              <a:t>›</a:t>
            </a:r>
            <a:endParaRPr lang="en-US" sz="1700" dirty="0"/>
          </a:p>
        </p:txBody>
      </p:sp>
      <p:sp>
        <p:nvSpPr>
          <p:cNvPr id="51"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8000"/>
              </a:srgbClr>
            </a:solidFill>
            <a:prstDash val="solid"/>
          </a:ln>
        </p:spPr>
      </p:sp>
      <p:sp>
        <p:nvSpPr>
          <p:cNvPr id="3" name="Shape 1"/>
          <p:cNvSpPr/>
          <p:nvPr/>
        </p:nvSpPr>
        <p:spPr>
          <a:xfrm>
            <a:off x="1051560" y="502920"/>
            <a:ext cx="0" cy="5715000"/>
          </a:xfrm>
          <a:prstGeom prst="line">
            <a:avLst/>
          </a:prstGeom>
          <a:noFill/>
          <a:ln w="5080">
            <a:solidFill>
              <a:srgbClr val="0B304B">
                <a:alpha val="8000"/>
              </a:srgbClr>
            </a:solidFill>
            <a:prstDash val="solid"/>
          </a:ln>
        </p:spPr>
      </p:sp>
      <p:sp>
        <p:nvSpPr>
          <p:cNvPr id="4" name="Shape 2"/>
          <p:cNvSpPr/>
          <p:nvPr/>
        </p:nvSpPr>
        <p:spPr>
          <a:xfrm>
            <a:off x="1554480" y="502920"/>
            <a:ext cx="0" cy="5715000"/>
          </a:xfrm>
          <a:prstGeom prst="line">
            <a:avLst/>
          </a:prstGeom>
          <a:noFill/>
          <a:ln w="5080">
            <a:solidFill>
              <a:srgbClr val="0B304B">
                <a:alpha val="8000"/>
              </a:srgbClr>
            </a:solidFill>
            <a:prstDash val="solid"/>
          </a:ln>
        </p:spPr>
      </p:sp>
      <p:sp>
        <p:nvSpPr>
          <p:cNvPr id="5" name="Shape 3"/>
          <p:cNvSpPr/>
          <p:nvPr/>
        </p:nvSpPr>
        <p:spPr>
          <a:xfrm>
            <a:off x="2057400" y="502920"/>
            <a:ext cx="0" cy="5715000"/>
          </a:xfrm>
          <a:prstGeom prst="line">
            <a:avLst/>
          </a:prstGeom>
          <a:noFill/>
          <a:ln w="5080">
            <a:solidFill>
              <a:srgbClr val="0B304B">
                <a:alpha val="8000"/>
              </a:srgbClr>
            </a:solidFill>
            <a:prstDash val="solid"/>
          </a:ln>
        </p:spPr>
      </p:sp>
      <p:sp>
        <p:nvSpPr>
          <p:cNvPr id="6" name="Shape 4"/>
          <p:cNvSpPr/>
          <p:nvPr/>
        </p:nvSpPr>
        <p:spPr>
          <a:xfrm>
            <a:off x="2560320" y="502920"/>
            <a:ext cx="0" cy="5715000"/>
          </a:xfrm>
          <a:prstGeom prst="line">
            <a:avLst/>
          </a:prstGeom>
          <a:noFill/>
          <a:ln w="5080">
            <a:solidFill>
              <a:srgbClr val="0B304B">
                <a:alpha val="8000"/>
              </a:srgbClr>
            </a:solidFill>
            <a:prstDash val="solid"/>
          </a:ln>
        </p:spPr>
      </p:sp>
      <p:sp>
        <p:nvSpPr>
          <p:cNvPr id="7" name="Shape 5"/>
          <p:cNvSpPr/>
          <p:nvPr/>
        </p:nvSpPr>
        <p:spPr>
          <a:xfrm>
            <a:off x="3063240" y="502920"/>
            <a:ext cx="0" cy="5715000"/>
          </a:xfrm>
          <a:prstGeom prst="line">
            <a:avLst/>
          </a:prstGeom>
          <a:noFill/>
          <a:ln w="5080">
            <a:solidFill>
              <a:srgbClr val="0B304B">
                <a:alpha val="8000"/>
              </a:srgbClr>
            </a:solidFill>
            <a:prstDash val="solid"/>
          </a:ln>
        </p:spPr>
      </p:sp>
      <p:sp>
        <p:nvSpPr>
          <p:cNvPr id="8" name="Shape 6"/>
          <p:cNvSpPr/>
          <p:nvPr/>
        </p:nvSpPr>
        <p:spPr>
          <a:xfrm>
            <a:off x="3566160" y="502920"/>
            <a:ext cx="0" cy="5715000"/>
          </a:xfrm>
          <a:prstGeom prst="line">
            <a:avLst/>
          </a:prstGeom>
          <a:noFill/>
          <a:ln w="5080">
            <a:solidFill>
              <a:srgbClr val="0B304B">
                <a:alpha val="8000"/>
              </a:srgbClr>
            </a:solidFill>
            <a:prstDash val="solid"/>
          </a:ln>
        </p:spPr>
      </p:sp>
      <p:sp>
        <p:nvSpPr>
          <p:cNvPr id="9" name="Shape 7"/>
          <p:cNvSpPr/>
          <p:nvPr/>
        </p:nvSpPr>
        <p:spPr>
          <a:xfrm>
            <a:off x="4069080" y="502920"/>
            <a:ext cx="0" cy="5715000"/>
          </a:xfrm>
          <a:prstGeom prst="line">
            <a:avLst/>
          </a:prstGeom>
          <a:noFill/>
          <a:ln w="5080">
            <a:solidFill>
              <a:srgbClr val="0B304B">
                <a:alpha val="8000"/>
              </a:srgbClr>
            </a:solidFill>
            <a:prstDash val="solid"/>
          </a:ln>
        </p:spPr>
      </p:sp>
      <p:sp>
        <p:nvSpPr>
          <p:cNvPr id="10" name="Shape 8"/>
          <p:cNvSpPr/>
          <p:nvPr/>
        </p:nvSpPr>
        <p:spPr>
          <a:xfrm>
            <a:off x="4572000" y="502920"/>
            <a:ext cx="0" cy="5715000"/>
          </a:xfrm>
          <a:prstGeom prst="line">
            <a:avLst/>
          </a:prstGeom>
          <a:noFill/>
          <a:ln w="5080">
            <a:solidFill>
              <a:srgbClr val="0B304B">
                <a:alpha val="8000"/>
              </a:srgbClr>
            </a:solidFill>
            <a:prstDash val="solid"/>
          </a:ln>
        </p:spPr>
      </p:sp>
      <p:sp>
        <p:nvSpPr>
          <p:cNvPr id="11" name="Shape 9"/>
          <p:cNvSpPr/>
          <p:nvPr/>
        </p:nvSpPr>
        <p:spPr>
          <a:xfrm>
            <a:off x="5074920" y="502920"/>
            <a:ext cx="0" cy="5715000"/>
          </a:xfrm>
          <a:prstGeom prst="line">
            <a:avLst/>
          </a:prstGeom>
          <a:noFill/>
          <a:ln w="5080">
            <a:solidFill>
              <a:srgbClr val="0B304B">
                <a:alpha val="8000"/>
              </a:srgbClr>
            </a:solidFill>
            <a:prstDash val="solid"/>
          </a:ln>
        </p:spPr>
      </p:sp>
      <p:sp>
        <p:nvSpPr>
          <p:cNvPr id="12" name="Shape 10"/>
          <p:cNvSpPr/>
          <p:nvPr/>
        </p:nvSpPr>
        <p:spPr>
          <a:xfrm>
            <a:off x="5577840" y="502920"/>
            <a:ext cx="0" cy="5715000"/>
          </a:xfrm>
          <a:prstGeom prst="line">
            <a:avLst/>
          </a:prstGeom>
          <a:noFill/>
          <a:ln w="5080">
            <a:solidFill>
              <a:srgbClr val="0B304B">
                <a:alpha val="8000"/>
              </a:srgbClr>
            </a:solidFill>
            <a:prstDash val="solid"/>
          </a:ln>
        </p:spPr>
      </p:sp>
      <p:sp>
        <p:nvSpPr>
          <p:cNvPr id="13" name="Shape 11"/>
          <p:cNvSpPr/>
          <p:nvPr/>
        </p:nvSpPr>
        <p:spPr>
          <a:xfrm>
            <a:off x="6080760" y="502920"/>
            <a:ext cx="0" cy="5715000"/>
          </a:xfrm>
          <a:prstGeom prst="line">
            <a:avLst/>
          </a:prstGeom>
          <a:noFill/>
          <a:ln w="5080">
            <a:solidFill>
              <a:srgbClr val="0B304B">
                <a:alpha val="8000"/>
              </a:srgbClr>
            </a:solidFill>
            <a:prstDash val="solid"/>
          </a:ln>
        </p:spPr>
      </p:sp>
      <p:sp>
        <p:nvSpPr>
          <p:cNvPr id="14" name="Shape 12"/>
          <p:cNvSpPr/>
          <p:nvPr/>
        </p:nvSpPr>
        <p:spPr>
          <a:xfrm>
            <a:off x="6583680" y="502920"/>
            <a:ext cx="0" cy="5715000"/>
          </a:xfrm>
          <a:prstGeom prst="line">
            <a:avLst/>
          </a:prstGeom>
          <a:noFill/>
          <a:ln w="5080">
            <a:solidFill>
              <a:srgbClr val="0B304B">
                <a:alpha val="8000"/>
              </a:srgbClr>
            </a:solidFill>
            <a:prstDash val="solid"/>
          </a:ln>
        </p:spPr>
      </p:sp>
      <p:sp>
        <p:nvSpPr>
          <p:cNvPr id="15" name="Shape 13"/>
          <p:cNvSpPr/>
          <p:nvPr/>
        </p:nvSpPr>
        <p:spPr>
          <a:xfrm>
            <a:off x="7086600" y="502920"/>
            <a:ext cx="0" cy="5715000"/>
          </a:xfrm>
          <a:prstGeom prst="line">
            <a:avLst/>
          </a:prstGeom>
          <a:noFill/>
          <a:ln w="5080">
            <a:solidFill>
              <a:srgbClr val="0B304B">
                <a:alpha val="8000"/>
              </a:srgbClr>
            </a:solidFill>
            <a:prstDash val="solid"/>
          </a:ln>
        </p:spPr>
      </p:sp>
      <p:sp>
        <p:nvSpPr>
          <p:cNvPr id="16" name="Shape 14"/>
          <p:cNvSpPr/>
          <p:nvPr/>
        </p:nvSpPr>
        <p:spPr>
          <a:xfrm>
            <a:off x="7589520" y="502920"/>
            <a:ext cx="0" cy="5715000"/>
          </a:xfrm>
          <a:prstGeom prst="line">
            <a:avLst/>
          </a:prstGeom>
          <a:noFill/>
          <a:ln w="5080">
            <a:solidFill>
              <a:srgbClr val="0B304B">
                <a:alpha val="8000"/>
              </a:srgbClr>
            </a:solidFill>
            <a:prstDash val="solid"/>
          </a:ln>
        </p:spPr>
      </p:sp>
      <p:sp>
        <p:nvSpPr>
          <p:cNvPr id="17" name="Shape 15"/>
          <p:cNvSpPr/>
          <p:nvPr/>
        </p:nvSpPr>
        <p:spPr>
          <a:xfrm>
            <a:off x="8092440" y="502920"/>
            <a:ext cx="0" cy="5715000"/>
          </a:xfrm>
          <a:prstGeom prst="line">
            <a:avLst/>
          </a:prstGeom>
          <a:noFill/>
          <a:ln w="5080">
            <a:solidFill>
              <a:srgbClr val="0B304B">
                <a:alpha val="8000"/>
              </a:srgbClr>
            </a:solidFill>
            <a:prstDash val="solid"/>
          </a:ln>
        </p:spPr>
      </p:sp>
      <p:sp>
        <p:nvSpPr>
          <p:cNvPr id="18" name="Shape 16"/>
          <p:cNvSpPr/>
          <p:nvPr/>
        </p:nvSpPr>
        <p:spPr>
          <a:xfrm>
            <a:off x="8595360" y="502920"/>
            <a:ext cx="0" cy="5715000"/>
          </a:xfrm>
          <a:prstGeom prst="line">
            <a:avLst/>
          </a:prstGeom>
          <a:noFill/>
          <a:ln w="5080">
            <a:solidFill>
              <a:srgbClr val="0B304B">
                <a:alpha val="8000"/>
              </a:srgbClr>
            </a:solidFill>
            <a:prstDash val="solid"/>
          </a:ln>
        </p:spPr>
      </p:sp>
      <p:sp>
        <p:nvSpPr>
          <p:cNvPr id="19" name="Shape 17"/>
          <p:cNvSpPr/>
          <p:nvPr/>
        </p:nvSpPr>
        <p:spPr>
          <a:xfrm>
            <a:off x="9098280" y="502920"/>
            <a:ext cx="0" cy="5715000"/>
          </a:xfrm>
          <a:prstGeom prst="line">
            <a:avLst/>
          </a:prstGeom>
          <a:noFill/>
          <a:ln w="5080">
            <a:solidFill>
              <a:srgbClr val="0B304B">
                <a:alpha val="8000"/>
              </a:srgbClr>
            </a:solidFill>
            <a:prstDash val="solid"/>
          </a:ln>
        </p:spPr>
      </p:sp>
      <p:sp>
        <p:nvSpPr>
          <p:cNvPr id="20" name="Shape 18"/>
          <p:cNvSpPr/>
          <p:nvPr/>
        </p:nvSpPr>
        <p:spPr>
          <a:xfrm>
            <a:off x="9601200" y="502920"/>
            <a:ext cx="0" cy="5715000"/>
          </a:xfrm>
          <a:prstGeom prst="line">
            <a:avLst/>
          </a:prstGeom>
          <a:noFill/>
          <a:ln w="5080">
            <a:solidFill>
              <a:srgbClr val="0B304B">
                <a:alpha val="8000"/>
              </a:srgbClr>
            </a:solidFill>
            <a:prstDash val="solid"/>
          </a:ln>
        </p:spPr>
      </p:sp>
      <p:sp>
        <p:nvSpPr>
          <p:cNvPr id="21" name="Shape 19"/>
          <p:cNvSpPr/>
          <p:nvPr/>
        </p:nvSpPr>
        <p:spPr>
          <a:xfrm>
            <a:off x="10104120" y="502920"/>
            <a:ext cx="0" cy="5715000"/>
          </a:xfrm>
          <a:prstGeom prst="line">
            <a:avLst/>
          </a:prstGeom>
          <a:noFill/>
          <a:ln w="5080">
            <a:solidFill>
              <a:srgbClr val="0B304B">
                <a:alpha val="8000"/>
              </a:srgbClr>
            </a:solidFill>
            <a:prstDash val="solid"/>
          </a:ln>
        </p:spPr>
      </p:sp>
      <p:sp>
        <p:nvSpPr>
          <p:cNvPr id="22" name="Shape 20"/>
          <p:cNvSpPr/>
          <p:nvPr/>
        </p:nvSpPr>
        <p:spPr>
          <a:xfrm>
            <a:off x="10607040" y="502920"/>
            <a:ext cx="0" cy="5715000"/>
          </a:xfrm>
          <a:prstGeom prst="line">
            <a:avLst/>
          </a:prstGeom>
          <a:noFill/>
          <a:ln w="5080">
            <a:solidFill>
              <a:srgbClr val="0B304B">
                <a:alpha val="8000"/>
              </a:srgbClr>
            </a:solidFill>
            <a:prstDash val="solid"/>
          </a:ln>
        </p:spPr>
      </p:sp>
      <p:sp>
        <p:nvSpPr>
          <p:cNvPr id="23" name="Shape 21"/>
          <p:cNvSpPr/>
          <p:nvPr/>
        </p:nvSpPr>
        <p:spPr>
          <a:xfrm>
            <a:off x="11109960" y="502920"/>
            <a:ext cx="0" cy="5715000"/>
          </a:xfrm>
          <a:prstGeom prst="line">
            <a:avLst/>
          </a:prstGeom>
          <a:noFill/>
          <a:ln w="5080">
            <a:solidFill>
              <a:srgbClr val="0B304B">
                <a:alpha val="8000"/>
              </a:srgbClr>
            </a:solidFill>
            <a:prstDash val="solid"/>
          </a:ln>
        </p:spPr>
      </p:sp>
      <p:sp>
        <p:nvSpPr>
          <p:cNvPr id="24" name="Shape 22"/>
          <p:cNvSpPr/>
          <p:nvPr/>
        </p:nvSpPr>
        <p:spPr>
          <a:xfrm>
            <a:off x="11612880" y="502920"/>
            <a:ext cx="0" cy="5715000"/>
          </a:xfrm>
          <a:prstGeom prst="line">
            <a:avLst/>
          </a:prstGeom>
          <a:noFill/>
          <a:ln w="5080">
            <a:solidFill>
              <a:srgbClr val="0B304B">
                <a:alpha val="8000"/>
              </a:srgbClr>
            </a:solidFill>
            <a:prstDash val="solid"/>
          </a:ln>
        </p:spPr>
      </p:sp>
      <p:sp>
        <p:nvSpPr>
          <p:cNvPr id="25" name="Shape 23"/>
          <p:cNvSpPr/>
          <p:nvPr/>
        </p:nvSpPr>
        <p:spPr>
          <a:xfrm>
            <a:off x="502920" y="566928"/>
            <a:ext cx="11201400" cy="0"/>
          </a:xfrm>
          <a:prstGeom prst="line">
            <a:avLst/>
          </a:prstGeom>
          <a:noFill/>
          <a:ln w="5080">
            <a:solidFill>
              <a:srgbClr val="0B304B">
                <a:alpha val="8000"/>
              </a:srgbClr>
            </a:solidFill>
            <a:prstDash val="solid"/>
          </a:ln>
        </p:spPr>
      </p:sp>
      <p:sp>
        <p:nvSpPr>
          <p:cNvPr id="26" name="Shape 24"/>
          <p:cNvSpPr/>
          <p:nvPr/>
        </p:nvSpPr>
        <p:spPr>
          <a:xfrm>
            <a:off x="502920" y="1069848"/>
            <a:ext cx="11201400" cy="0"/>
          </a:xfrm>
          <a:prstGeom prst="line">
            <a:avLst/>
          </a:prstGeom>
          <a:noFill/>
          <a:ln w="5080">
            <a:solidFill>
              <a:srgbClr val="0B304B">
                <a:alpha val="8000"/>
              </a:srgbClr>
            </a:solidFill>
            <a:prstDash val="solid"/>
          </a:ln>
        </p:spPr>
      </p:sp>
      <p:sp>
        <p:nvSpPr>
          <p:cNvPr id="27" name="Shape 25"/>
          <p:cNvSpPr/>
          <p:nvPr/>
        </p:nvSpPr>
        <p:spPr>
          <a:xfrm>
            <a:off x="502920" y="1572768"/>
            <a:ext cx="11201400" cy="0"/>
          </a:xfrm>
          <a:prstGeom prst="line">
            <a:avLst/>
          </a:prstGeom>
          <a:noFill/>
          <a:ln w="5080">
            <a:solidFill>
              <a:srgbClr val="0B304B">
                <a:alpha val="8000"/>
              </a:srgbClr>
            </a:solidFill>
            <a:prstDash val="solid"/>
          </a:ln>
        </p:spPr>
      </p:sp>
      <p:sp>
        <p:nvSpPr>
          <p:cNvPr id="28" name="Shape 26"/>
          <p:cNvSpPr/>
          <p:nvPr/>
        </p:nvSpPr>
        <p:spPr>
          <a:xfrm>
            <a:off x="502920" y="2075688"/>
            <a:ext cx="11201400" cy="0"/>
          </a:xfrm>
          <a:prstGeom prst="line">
            <a:avLst/>
          </a:prstGeom>
          <a:noFill/>
          <a:ln w="5080">
            <a:solidFill>
              <a:srgbClr val="0B304B">
                <a:alpha val="8000"/>
              </a:srgbClr>
            </a:solidFill>
            <a:prstDash val="solid"/>
          </a:ln>
        </p:spPr>
      </p:sp>
      <p:sp>
        <p:nvSpPr>
          <p:cNvPr id="29" name="Shape 27"/>
          <p:cNvSpPr/>
          <p:nvPr/>
        </p:nvSpPr>
        <p:spPr>
          <a:xfrm>
            <a:off x="502920" y="2578608"/>
            <a:ext cx="11201400" cy="0"/>
          </a:xfrm>
          <a:prstGeom prst="line">
            <a:avLst/>
          </a:prstGeom>
          <a:noFill/>
          <a:ln w="5080">
            <a:solidFill>
              <a:srgbClr val="0B304B">
                <a:alpha val="8000"/>
              </a:srgbClr>
            </a:solidFill>
            <a:prstDash val="solid"/>
          </a:ln>
        </p:spPr>
      </p:sp>
      <p:sp>
        <p:nvSpPr>
          <p:cNvPr id="30" name="Shape 28"/>
          <p:cNvSpPr/>
          <p:nvPr/>
        </p:nvSpPr>
        <p:spPr>
          <a:xfrm>
            <a:off x="502920" y="3081528"/>
            <a:ext cx="11201400" cy="0"/>
          </a:xfrm>
          <a:prstGeom prst="line">
            <a:avLst/>
          </a:prstGeom>
          <a:noFill/>
          <a:ln w="5080">
            <a:solidFill>
              <a:srgbClr val="0B304B">
                <a:alpha val="8000"/>
              </a:srgbClr>
            </a:solidFill>
            <a:prstDash val="solid"/>
          </a:ln>
        </p:spPr>
      </p:sp>
      <p:sp>
        <p:nvSpPr>
          <p:cNvPr id="31" name="Shape 29"/>
          <p:cNvSpPr/>
          <p:nvPr/>
        </p:nvSpPr>
        <p:spPr>
          <a:xfrm>
            <a:off x="502920" y="3584448"/>
            <a:ext cx="11201400" cy="0"/>
          </a:xfrm>
          <a:prstGeom prst="line">
            <a:avLst/>
          </a:prstGeom>
          <a:noFill/>
          <a:ln w="5080">
            <a:solidFill>
              <a:srgbClr val="0B304B">
                <a:alpha val="8000"/>
              </a:srgbClr>
            </a:solidFill>
            <a:prstDash val="solid"/>
          </a:ln>
        </p:spPr>
      </p:sp>
      <p:sp>
        <p:nvSpPr>
          <p:cNvPr id="32" name="Shape 30"/>
          <p:cNvSpPr/>
          <p:nvPr/>
        </p:nvSpPr>
        <p:spPr>
          <a:xfrm>
            <a:off x="502920" y="4087368"/>
            <a:ext cx="11201400" cy="0"/>
          </a:xfrm>
          <a:prstGeom prst="line">
            <a:avLst/>
          </a:prstGeom>
          <a:noFill/>
          <a:ln w="5080">
            <a:solidFill>
              <a:srgbClr val="0B304B">
                <a:alpha val="8000"/>
              </a:srgbClr>
            </a:solidFill>
            <a:prstDash val="solid"/>
          </a:ln>
        </p:spPr>
      </p:sp>
      <p:sp>
        <p:nvSpPr>
          <p:cNvPr id="33" name="Shape 31"/>
          <p:cNvSpPr/>
          <p:nvPr/>
        </p:nvSpPr>
        <p:spPr>
          <a:xfrm>
            <a:off x="502920" y="4590288"/>
            <a:ext cx="11201400" cy="0"/>
          </a:xfrm>
          <a:prstGeom prst="line">
            <a:avLst/>
          </a:prstGeom>
          <a:noFill/>
          <a:ln w="5080">
            <a:solidFill>
              <a:srgbClr val="0B304B">
                <a:alpha val="8000"/>
              </a:srgbClr>
            </a:solidFill>
            <a:prstDash val="solid"/>
          </a:ln>
        </p:spPr>
      </p:sp>
      <p:sp>
        <p:nvSpPr>
          <p:cNvPr id="34" name="Shape 32"/>
          <p:cNvSpPr/>
          <p:nvPr/>
        </p:nvSpPr>
        <p:spPr>
          <a:xfrm>
            <a:off x="502920" y="5093208"/>
            <a:ext cx="11201400" cy="0"/>
          </a:xfrm>
          <a:prstGeom prst="line">
            <a:avLst/>
          </a:prstGeom>
          <a:noFill/>
          <a:ln w="5080">
            <a:solidFill>
              <a:srgbClr val="0B304B">
                <a:alpha val="8000"/>
              </a:srgbClr>
            </a:solidFill>
            <a:prstDash val="solid"/>
          </a:ln>
        </p:spPr>
      </p:sp>
      <p:sp>
        <p:nvSpPr>
          <p:cNvPr id="35" name="Shape 33"/>
          <p:cNvSpPr/>
          <p:nvPr/>
        </p:nvSpPr>
        <p:spPr>
          <a:xfrm>
            <a:off x="502920" y="5596128"/>
            <a:ext cx="11201400" cy="0"/>
          </a:xfrm>
          <a:prstGeom prst="line">
            <a:avLst/>
          </a:prstGeom>
          <a:noFill/>
          <a:ln w="5080">
            <a:solidFill>
              <a:srgbClr val="0B304B">
                <a:alpha val="8000"/>
              </a:srgbClr>
            </a:solidFill>
            <a:prstDash val="solid"/>
          </a:ln>
        </p:spPr>
      </p:sp>
      <p:sp>
        <p:nvSpPr>
          <p:cNvPr id="36" name="Shape 34"/>
          <p:cNvSpPr/>
          <p:nvPr/>
        </p:nvSpPr>
        <p:spPr>
          <a:xfrm>
            <a:off x="502920" y="6099048"/>
            <a:ext cx="11201400" cy="0"/>
          </a:xfrm>
          <a:prstGeom prst="line">
            <a:avLst/>
          </a:prstGeom>
          <a:noFill/>
          <a:ln w="5080">
            <a:solidFill>
              <a:srgbClr val="0B304B">
                <a:alpha val="8000"/>
              </a:srgbClr>
            </a:solidFill>
            <a:prstDash val="solid"/>
          </a:ln>
        </p:spPr>
      </p:sp>
      <p:sp>
        <p:nvSpPr>
          <p:cNvPr id="37" name="Shape 35"/>
          <p:cNvSpPr/>
          <p:nvPr/>
        </p:nvSpPr>
        <p:spPr>
          <a:xfrm>
            <a:off x="502920" y="320040"/>
            <a:ext cx="1417320" cy="256032"/>
          </a:xfrm>
          <a:prstGeom prst="roundRect">
            <a:avLst>
              <a:gd name="adj" fmla="val 17857"/>
            </a:avLst>
          </a:prstGeom>
          <a:solidFill>
            <a:srgbClr val="09273D"/>
          </a:solidFill>
          <a:ln w="10160">
            <a:solidFill>
              <a:srgbClr val="FF5D7A">
                <a:alpha val="65000"/>
              </a:srgbClr>
            </a:solidFill>
            <a:prstDash val="solid"/>
          </a:ln>
        </p:spPr>
      </p:sp>
      <p:sp>
        <p:nvSpPr>
          <p:cNvPr id="38" name="Text 36"/>
          <p:cNvSpPr/>
          <p:nvPr/>
        </p:nvSpPr>
        <p:spPr>
          <a:xfrm>
            <a:off x="576072" y="370332"/>
            <a:ext cx="127101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FF5D7A"/>
                </a:solidFill>
                <a:latin typeface="Aptos" pitchFamily="34" charset="0"/>
                <a:ea typeface="Aptos" pitchFamily="34" charset="-122"/>
                <a:cs typeface="Aptos" pitchFamily="34" charset="-120"/>
              </a:rPr>
              <a:t>DASHBOARD 4</a:t>
            </a:r>
            <a:endParaRPr lang="en-US" sz="560" dirty="0"/>
          </a:p>
        </p:txBody>
      </p:sp>
      <p:sp>
        <p:nvSpPr>
          <p:cNvPr id="39" name="Text 37"/>
          <p:cNvSpPr/>
          <p:nvPr/>
        </p:nvSpPr>
        <p:spPr>
          <a:xfrm>
            <a:off x="530352" y="658368"/>
            <a:ext cx="8138160" cy="475488"/>
          </a:xfrm>
          <a:prstGeom prst="rect">
            <a:avLst/>
          </a:prstGeom>
          <a:noFill/>
          <a:ln/>
        </p:spPr>
        <p:txBody>
          <a:bodyPr wrap="square" lIns="0" tIns="0" rIns="0" bIns="0" rtlCol="0" anchor="ctr">
            <a:normAutofit/>
          </a:bodyPr>
          <a:lstStyle/>
          <a:p>
            <a:pPr marL="0" indent="0">
              <a:buNone/>
            </a:pPr>
            <a:r>
              <a:rPr lang="en-US" sz="2350" b="1" dirty="0">
                <a:solidFill>
                  <a:srgbClr val="F5FAFE"/>
                </a:solidFill>
                <a:latin typeface="Aptos Display" pitchFamily="34" charset="0"/>
                <a:ea typeface="Aptos Display" pitchFamily="34" charset="-122"/>
                <a:cs typeface="Aptos Display" pitchFamily="34" charset="-120"/>
              </a:rPr>
              <a:t>Dashboard 4 — Flight Purpose &amp; Injury Impact</a:t>
            </a:r>
            <a:endParaRPr lang="en-US" sz="2350" dirty="0"/>
          </a:p>
        </p:txBody>
      </p:sp>
      <p:pic>
        <p:nvPicPr>
          <p:cNvPr id="40" name="Image 0" descr="/mnt/data/radar_sweep.gif"/>
          <p:cNvPicPr>
            <a:picLocks noChangeAspect="1"/>
          </p:cNvPicPr>
          <p:nvPr/>
        </p:nvPicPr>
        <p:blipFill>
          <a:blip r:embed="rId3"/>
          <a:stretch>
            <a:fillRect/>
          </a:stretch>
        </p:blipFill>
        <p:spPr>
          <a:xfrm>
            <a:off x="10625328" y="621792"/>
            <a:ext cx="713232" cy="713232"/>
          </a:xfrm>
          <a:prstGeom prst="rect">
            <a:avLst/>
          </a:prstGeom>
        </p:spPr>
      </p:pic>
      <p:sp>
        <p:nvSpPr>
          <p:cNvPr id="41" name="Shape 38"/>
          <p:cNvSpPr/>
          <p:nvPr/>
        </p:nvSpPr>
        <p:spPr>
          <a:xfrm>
            <a:off x="566928" y="1536192"/>
            <a:ext cx="5321808" cy="731520"/>
          </a:xfrm>
          <a:prstGeom prst="roundRect">
            <a:avLst>
              <a:gd name="adj" fmla="val 10000"/>
            </a:avLst>
          </a:prstGeom>
          <a:solidFill>
            <a:srgbClr val="0A2035"/>
          </a:solidFill>
          <a:ln w="11430">
            <a:solidFill>
              <a:srgbClr val="16445F">
                <a:alpha val="90000"/>
              </a:srgbClr>
            </a:solidFill>
            <a:prstDash val="solid"/>
          </a:ln>
        </p:spPr>
      </p:sp>
      <p:sp>
        <p:nvSpPr>
          <p:cNvPr id="42" name="Shape 39"/>
          <p:cNvSpPr/>
          <p:nvPr/>
        </p:nvSpPr>
        <p:spPr>
          <a:xfrm>
            <a:off x="566928" y="1536192"/>
            <a:ext cx="41148" cy="731520"/>
          </a:xfrm>
          <a:prstGeom prst="rect">
            <a:avLst/>
          </a:prstGeom>
          <a:solidFill>
            <a:srgbClr val="FF5D7A"/>
          </a:solidFill>
          <a:ln w="12700">
            <a:solidFill>
              <a:srgbClr val="FF5D7A"/>
            </a:solidFill>
            <a:prstDash val="solid"/>
          </a:ln>
        </p:spPr>
      </p:sp>
      <p:sp>
        <p:nvSpPr>
          <p:cNvPr id="43" name="Shape 40"/>
          <p:cNvSpPr/>
          <p:nvPr/>
        </p:nvSpPr>
        <p:spPr>
          <a:xfrm>
            <a:off x="731520" y="1709928"/>
            <a:ext cx="347472" cy="347472"/>
          </a:xfrm>
          <a:prstGeom prst="ellipse">
            <a:avLst/>
          </a:prstGeom>
          <a:solidFill>
            <a:srgbClr val="FF5D7A"/>
          </a:solidFill>
          <a:ln w="12700">
            <a:solidFill>
              <a:srgbClr val="FF5D7A">
                <a:alpha val="0"/>
              </a:srgbClr>
            </a:solidFill>
            <a:prstDash val="solid"/>
          </a:ln>
        </p:spPr>
      </p:sp>
      <p:sp>
        <p:nvSpPr>
          <p:cNvPr id="44" name="Text 41"/>
          <p:cNvSpPr/>
          <p:nvPr/>
        </p:nvSpPr>
        <p:spPr>
          <a:xfrm>
            <a:off x="731520" y="1773936"/>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1</a:t>
            </a:r>
            <a:endParaRPr lang="en-US" sz="800" dirty="0"/>
          </a:p>
        </p:txBody>
      </p:sp>
      <p:sp>
        <p:nvSpPr>
          <p:cNvPr id="45" name="Text 42"/>
          <p:cNvSpPr/>
          <p:nvPr/>
        </p:nvSpPr>
        <p:spPr>
          <a:xfrm>
            <a:off x="1225296" y="1664208"/>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Which "Purpose of Flight" categories (Personal, Instructional, Commercial, etc.) have the highest accident counts?</a:t>
            </a:r>
            <a:endParaRPr lang="en-US" sz="930" dirty="0"/>
          </a:p>
        </p:txBody>
      </p:sp>
      <p:sp>
        <p:nvSpPr>
          <p:cNvPr id="46" name="Shape 43"/>
          <p:cNvSpPr/>
          <p:nvPr/>
        </p:nvSpPr>
        <p:spPr>
          <a:xfrm>
            <a:off x="6153912" y="1536192"/>
            <a:ext cx="5321808" cy="731520"/>
          </a:xfrm>
          <a:prstGeom prst="roundRect">
            <a:avLst>
              <a:gd name="adj" fmla="val 10000"/>
            </a:avLst>
          </a:prstGeom>
          <a:solidFill>
            <a:srgbClr val="0A2035"/>
          </a:solidFill>
          <a:ln w="11430">
            <a:solidFill>
              <a:srgbClr val="16445F">
                <a:alpha val="90000"/>
              </a:srgbClr>
            </a:solidFill>
            <a:prstDash val="solid"/>
          </a:ln>
        </p:spPr>
      </p:sp>
      <p:sp>
        <p:nvSpPr>
          <p:cNvPr id="47" name="Shape 44"/>
          <p:cNvSpPr/>
          <p:nvPr/>
        </p:nvSpPr>
        <p:spPr>
          <a:xfrm>
            <a:off x="6153912" y="1536192"/>
            <a:ext cx="41148" cy="731520"/>
          </a:xfrm>
          <a:prstGeom prst="rect">
            <a:avLst/>
          </a:prstGeom>
          <a:solidFill>
            <a:srgbClr val="FF5D7A"/>
          </a:solidFill>
          <a:ln w="12700">
            <a:solidFill>
              <a:srgbClr val="FF5D7A"/>
            </a:solidFill>
            <a:prstDash val="solid"/>
          </a:ln>
        </p:spPr>
      </p:sp>
      <p:sp>
        <p:nvSpPr>
          <p:cNvPr id="48" name="Shape 45"/>
          <p:cNvSpPr/>
          <p:nvPr/>
        </p:nvSpPr>
        <p:spPr>
          <a:xfrm>
            <a:off x="6318504" y="1709928"/>
            <a:ext cx="347472" cy="347472"/>
          </a:xfrm>
          <a:prstGeom prst="ellipse">
            <a:avLst/>
          </a:prstGeom>
          <a:solidFill>
            <a:srgbClr val="FF5D7A"/>
          </a:solidFill>
          <a:ln w="12700">
            <a:solidFill>
              <a:srgbClr val="FF5D7A">
                <a:alpha val="0"/>
              </a:srgbClr>
            </a:solidFill>
            <a:prstDash val="solid"/>
          </a:ln>
        </p:spPr>
      </p:sp>
      <p:sp>
        <p:nvSpPr>
          <p:cNvPr id="49" name="Text 46"/>
          <p:cNvSpPr/>
          <p:nvPr/>
        </p:nvSpPr>
        <p:spPr>
          <a:xfrm>
            <a:off x="6318504" y="1773936"/>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2</a:t>
            </a:r>
            <a:endParaRPr lang="en-US" sz="800" dirty="0"/>
          </a:p>
        </p:txBody>
      </p:sp>
      <p:sp>
        <p:nvSpPr>
          <p:cNvPr id="50" name="Text 47"/>
          <p:cNvSpPr/>
          <p:nvPr/>
        </p:nvSpPr>
        <p:spPr>
          <a:xfrm>
            <a:off x="6812280" y="1664208"/>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Which flight purpose has the highest fatality rate?</a:t>
            </a:r>
            <a:endParaRPr lang="en-US" sz="930" dirty="0"/>
          </a:p>
        </p:txBody>
      </p:sp>
      <p:sp>
        <p:nvSpPr>
          <p:cNvPr id="51" name="Shape 48"/>
          <p:cNvSpPr/>
          <p:nvPr/>
        </p:nvSpPr>
        <p:spPr>
          <a:xfrm>
            <a:off x="566928" y="2395728"/>
            <a:ext cx="5321808" cy="731520"/>
          </a:xfrm>
          <a:prstGeom prst="roundRect">
            <a:avLst>
              <a:gd name="adj" fmla="val 10000"/>
            </a:avLst>
          </a:prstGeom>
          <a:solidFill>
            <a:srgbClr val="0A2035"/>
          </a:solidFill>
          <a:ln w="11430">
            <a:solidFill>
              <a:srgbClr val="16445F">
                <a:alpha val="90000"/>
              </a:srgbClr>
            </a:solidFill>
            <a:prstDash val="solid"/>
          </a:ln>
        </p:spPr>
      </p:sp>
      <p:sp>
        <p:nvSpPr>
          <p:cNvPr id="52" name="Shape 49"/>
          <p:cNvSpPr/>
          <p:nvPr/>
        </p:nvSpPr>
        <p:spPr>
          <a:xfrm>
            <a:off x="566928" y="2395728"/>
            <a:ext cx="41148" cy="731520"/>
          </a:xfrm>
          <a:prstGeom prst="rect">
            <a:avLst/>
          </a:prstGeom>
          <a:solidFill>
            <a:srgbClr val="FF5D7A"/>
          </a:solidFill>
          <a:ln w="12700">
            <a:solidFill>
              <a:srgbClr val="FF5D7A"/>
            </a:solidFill>
            <a:prstDash val="solid"/>
          </a:ln>
        </p:spPr>
      </p:sp>
      <p:sp>
        <p:nvSpPr>
          <p:cNvPr id="53" name="Shape 50"/>
          <p:cNvSpPr/>
          <p:nvPr/>
        </p:nvSpPr>
        <p:spPr>
          <a:xfrm>
            <a:off x="731520" y="2569464"/>
            <a:ext cx="347472" cy="347472"/>
          </a:xfrm>
          <a:prstGeom prst="ellipse">
            <a:avLst/>
          </a:prstGeom>
          <a:solidFill>
            <a:srgbClr val="FF5D7A"/>
          </a:solidFill>
          <a:ln w="12700">
            <a:solidFill>
              <a:srgbClr val="FF5D7A">
                <a:alpha val="0"/>
              </a:srgbClr>
            </a:solidFill>
            <a:prstDash val="solid"/>
          </a:ln>
        </p:spPr>
      </p:sp>
      <p:sp>
        <p:nvSpPr>
          <p:cNvPr id="54" name="Text 51"/>
          <p:cNvSpPr/>
          <p:nvPr/>
        </p:nvSpPr>
        <p:spPr>
          <a:xfrm>
            <a:off x="731520" y="2633472"/>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3</a:t>
            </a:r>
            <a:endParaRPr lang="en-US" sz="800" dirty="0"/>
          </a:p>
        </p:txBody>
      </p:sp>
      <p:sp>
        <p:nvSpPr>
          <p:cNvPr id="55" name="Text 52"/>
          <p:cNvSpPr/>
          <p:nvPr/>
        </p:nvSpPr>
        <p:spPr>
          <a:xfrm>
            <a:off x="1225296" y="2523744"/>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What is the average number of serious injuries per accident by flight purpose?</a:t>
            </a:r>
            <a:endParaRPr lang="en-US" sz="930" dirty="0"/>
          </a:p>
        </p:txBody>
      </p:sp>
      <p:sp>
        <p:nvSpPr>
          <p:cNvPr id="56" name="Shape 53"/>
          <p:cNvSpPr/>
          <p:nvPr/>
        </p:nvSpPr>
        <p:spPr>
          <a:xfrm>
            <a:off x="6153912" y="2395728"/>
            <a:ext cx="5321808" cy="731520"/>
          </a:xfrm>
          <a:prstGeom prst="roundRect">
            <a:avLst>
              <a:gd name="adj" fmla="val 10000"/>
            </a:avLst>
          </a:prstGeom>
          <a:solidFill>
            <a:srgbClr val="0A2035"/>
          </a:solidFill>
          <a:ln w="11430">
            <a:solidFill>
              <a:srgbClr val="16445F">
                <a:alpha val="90000"/>
              </a:srgbClr>
            </a:solidFill>
            <a:prstDash val="solid"/>
          </a:ln>
        </p:spPr>
      </p:sp>
      <p:sp>
        <p:nvSpPr>
          <p:cNvPr id="57" name="Shape 54"/>
          <p:cNvSpPr/>
          <p:nvPr/>
        </p:nvSpPr>
        <p:spPr>
          <a:xfrm>
            <a:off x="6153912" y="2395728"/>
            <a:ext cx="41148" cy="731520"/>
          </a:xfrm>
          <a:prstGeom prst="rect">
            <a:avLst/>
          </a:prstGeom>
          <a:solidFill>
            <a:srgbClr val="FF5D7A"/>
          </a:solidFill>
          <a:ln w="12700">
            <a:solidFill>
              <a:srgbClr val="FF5D7A"/>
            </a:solidFill>
            <a:prstDash val="solid"/>
          </a:ln>
        </p:spPr>
      </p:sp>
      <p:sp>
        <p:nvSpPr>
          <p:cNvPr id="58" name="Shape 55"/>
          <p:cNvSpPr/>
          <p:nvPr/>
        </p:nvSpPr>
        <p:spPr>
          <a:xfrm>
            <a:off x="6318504" y="2569464"/>
            <a:ext cx="347472" cy="347472"/>
          </a:xfrm>
          <a:prstGeom prst="ellipse">
            <a:avLst/>
          </a:prstGeom>
          <a:solidFill>
            <a:srgbClr val="FF5D7A"/>
          </a:solidFill>
          <a:ln w="12700">
            <a:solidFill>
              <a:srgbClr val="FF5D7A">
                <a:alpha val="0"/>
              </a:srgbClr>
            </a:solidFill>
            <a:prstDash val="solid"/>
          </a:ln>
        </p:spPr>
      </p:sp>
      <p:sp>
        <p:nvSpPr>
          <p:cNvPr id="59" name="Text 56"/>
          <p:cNvSpPr/>
          <p:nvPr/>
        </p:nvSpPr>
        <p:spPr>
          <a:xfrm>
            <a:off x="6318504" y="2633472"/>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4</a:t>
            </a:r>
            <a:endParaRPr lang="en-US" sz="800" dirty="0"/>
          </a:p>
        </p:txBody>
      </p:sp>
      <p:sp>
        <p:nvSpPr>
          <p:cNvPr id="60" name="Text 57"/>
          <p:cNvSpPr/>
          <p:nvPr/>
        </p:nvSpPr>
        <p:spPr>
          <a:xfrm>
            <a:off x="6812280" y="2523744"/>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Is there a difference in injury severity between instructional and personal flights?</a:t>
            </a:r>
            <a:endParaRPr lang="en-US" sz="930" dirty="0"/>
          </a:p>
        </p:txBody>
      </p:sp>
      <p:sp>
        <p:nvSpPr>
          <p:cNvPr id="61" name="Shape 58"/>
          <p:cNvSpPr/>
          <p:nvPr/>
        </p:nvSpPr>
        <p:spPr>
          <a:xfrm>
            <a:off x="566928" y="3255264"/>
            <a:ext cx="5321808" cy="731520"/>
          </a:xfrm>
          <a:prstGeom prst="roundRect">
            <a:avLst>
              <a:gd name="adj" fmla="val 10000"/>
            </a:avLst>
          </a:prstGeom>
          <a:solidFill>
            <a:srgbClr val="0A2035"/>
          </a:solidFill>
          <a:ln w="11430">
            <a:solidFill>
              <a:srgbClr val="16445F">
                <a:alpha val="90000"/>
              </a:srgbClr>
            </a:solidFill>
            <a:prstDash val="solid"/>
          </a:ln>
        </p:spPr>
      </p:sp>
      <p:sp>
        <p:nvSpPr>
          <p:cNvPr id="62" name="Shape 59"/>
          <p:cNvSpPr/>
          <p:nvPr/>
        </p:nvSpPr>
        <p:spPr>
          <a:xfrm>
            <a:off x="566928" y="3255264"/>
            <a:ext cx="41148" cy="731520"/>
          </a:xfrm>
          <a:prstGeom prst="rect">
            <a:avLst/>
          </a:prstGeom>
          <a:solidFill>
            <a:srgbClr val="FF5D7A"/>
          </a:solidFill>
          <a:ln w="12700">
            <a:solidFill>
              <a:srgbClr val="FF5D7A"/>
            </a:solidFill>
            <a:prstDash val="solid"/>
          </a:ln>
        </p:spPr>
      </p:sp>
      <p:sp>
        <p:nvSpPr>
          <p:cNvPr id="63" name="Shape 60"/>
          <p:cNvSpPr/>
          <p:nvPr/>
        </p:nvSpPr>
        <p:spPr>
          <a:xfrm>
            <a:off x="731520" y="3429000"/>
            <a:ext cx="347472" cy="347472"/>
          </a:xfrm>
          <a:prstGeom prst="ellipse">
            <a:avLst/>
          </a:prstGeom>
          <a:solidFill>
            <a:srgbClr val="FF5D7A"/>
          </a:solidFill>
          <a:ln w="12700">
            <a:solidFill>
              <a:srgbClr val="FF5D7A">
                <a:alpha val="0"/>
              </a:srgbClr>
            </a:solidFill>
            <a:prstDash val="solid"/>
          </a:ln>
        </p:spPr>
      </p:sp>
      <p:sp>
        <p:nvSpPr>
          <p:cNvPr id="64" name="Text 61"/>
          <p:cNvSpPr/>
          <p:nvPr/>
        </p:nvSpPr>
        <p:spPr>
          <a:xfrm>
            <a:off x="731520" y="349300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5</a:t>
            </a:r>
            <a:endParaRPr lang="en-US" sz="800" dirty="0"/>
          </a:p>
        </p:txBody>
      </p:sp>
      <p:sp>
        <p:nvSpPr>
          <p:cNvPr id="65" name="Text 62"/>
          <p:cNvSpPr/>
          <p:nvPr/>
        </p:nvSpPr>
        <p:spPr>
          <a:xfrm>
            <a:off x="1225296" y="3383280"/>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Which flight purpose category has the highest number of "Uninjured" outcomes?</a:t>
            </a:r>
            <a:endParaRPr lang="en-US" sz="930" dirty="0"/>
          </a:p>
        </p:txBody>
      </p:sp>
      <p:sp>
        <p:nvSpPr>
          <p:cNvPr id="66" name="Shape 63"/>
          <p:cNvSpPr/>
          <p:nvPr/>
        </p:nvSpPr>
        <p:spPr>
          <a:xfrm>
            <a:off x="6153912" y="3255264"/>
            <a:ext cx="5321808" cy="731520"/>
          </a:xfrm>
          <a:prstGeom prst="roundRect">
            <a:avLst>
              <a:gd name="adj" fmla="val 10000"/>
            </a:avLst>
          </a:prstGeom>
          <a:solidFill>
            <a:srgbClr val="0A2035"/>
          </a:solidFill>
          <a:ln w="11430">
            <a:solidFill>
              <a:srgbClr val="16445F">
                <a:alpha val="90000"/>
              </a:srgbClr>
            </a:solidFill>
            <a:prstDash val="solid"/>
          </a:ln>
        </p:spPr>
      </p:sp>
      <p:sp>
        <p:nvSpPr>
          <p:cNvPr id="67" name="Shape 64"/>
          <p:cNvSpPr/>
          <p:nvPr/>
        </p:nvSpPr>
        <p:spPr>
          <a:xfrm>
            <a:off x="6153912" y="3255264"/>
            <a:ext cx="41148" cy="731520"/>
          </a:xfrm>
          <a:prstGeom prst="rect">
            <a:avLst/>
          </a:prstGeom>
          <a:solidFill>
            <a:srgbClr val="FF5D7A"/>
          </a:solidFill>
          <a:ln w="12700">
            <a:solidFill>
              <a:srgbClr val="FF5D7A"/>
            </a:solidFill>
            <a:prstDash val="solid"/>
          </a:ln>
        </p:spPr>
      </p:sp>
      <p:sp>
        <p:nvSpPr>
          <p:cNvPr id="68" name="Shape 65"/>
          <p:cNvSpPr/>
          <p:nvPr/>
        </p:nvSpPr>
        <p:spPr>
          <a:xfrm>
            <a:off x="6318504" y="3429000"/>
            <a:ext cx="347472" cy="347472"/>
          </a:xfrm>
          <a:prstGeom prst="ellipse">
            <a:avLst/>
          </a:prstGeom>
          <a:solidFill>
            <a:srgbClr val="FF5D7A"/>
          </a:solidFill>
          <a:ln w="12700">
            <a:solidFill>
              <a:srgbClr val="FF5D7A">
                <a:alpha val="0"/>
              </a:srgbClr>
            </a:solidFill>
            <a:prstDash val="solid"/>
          </a:ln>
        </p:spPr>
      </p:sp>
      <p:sp>
        <p:nvSpPr>
          <p:cNvPr id="69" name="Text 66"/>
          <p:cNvSpPr/>
          <p:nvPr/>
        </p:nvSpPr>
        <p:spPr>
          <a:xfrm>
            <a:off x="6318504" y="3493008"/>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6</a:t>
            </a:r>
            <a:endParaRPr lang="en-US" sz="800" dirty="0"/>
          </a:p>
        </p:txBody>
      </p:sp>
      <p:sp>
        <p:nvSpPr>
          <p:cNvPr id="70" name="Text 67"/>
          <p:cNvSpPr/>
          <p:nvPr/>
        </p:nvSpPr>
        <p:spPr>
          <a:xfrm>
            <a:off x="6812280" y="3383280"/>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What is the total injury count (fatal + serious + minor) broken down by FAR Description (Part 91, Part 121, etc.)?</a:t>
            </a:r>
            <a:endParaRPr lang="en-US" sz="930" dirty="0"/>
          </a:p>
        </p:txBody>
      </p:sp>
      <p:sp>
        <p:nvSpPr>
          <p:cNvPr id="71" name="Shape 68"/>
          <p:cNvSpPr/>
          <p:nvPr/>
        </p:nvSpPr>
        <p:spPr>
          <a:xfrm>
            <a:off x="566928" y="4114800"/>
            <a:ext cx="5321808" cy="731520"/>
          </a:xfrm>
          <a:prstGeom prst="roundRect">
            <a:avLst>
              <a:gd name="adj" fmla="val 10000"/>
            </a:avLst>
          </a:prstGeom>
          <a:solidFill>
            <a:srgbClr val="0A2035"/>
          </a:solidFill>
          <a:ln w="11430">
            <a:solidFill>
              <a:srgbClr val="16445F">
                <a:alpha val="90000"/>
              </a:srgbClr>
            </a:solidFill>
            <a:prstDash val="solid"/>
          </a:ln>
        </p:spPr>
      </p:sp>
      <p:sp>
        <p:nvSpPr>
          <p:cNvPr id="72" name="Shape 69"/>
          <p:cNvSpPr/>
          <p:nvPr/>
        </p:nvSpPr>
        <p:spPr>
          <a:xfrm>
            <a:off x="566928" y="4114800"/>
            <a:ext cx="41148" cy="731520"/>
          </a:xfrm>
          <a:prstGeom prst="rect">
            <a:avLst/>
          </a:prstGeom>
          <a:solidFill>
            <a:srgbClr val="FF5D7A"/>
          </a:solidFill>
          <a:ln w="12700">
            <a:solidFill>
              <a:srgbClr val="FF5D7A"/>
            </a:solidFill>
            <a:prstDash val="solid"/>
          </a:ln>
        </p:spPr>
      </p:sp>
      <p:sp>
        <p:nvSpPr>
          <p:cNvPr id="73" name="Shape 70"/>
          <p:cNvSpPr/>
          <p:nvPr/>
        </p:nvSpPr>
        <p:spPr>
          <a:xfrm>
            <a:off x="731520" y="4288536"/>
            <a:ext cx="347472" cy="347472"/>
          </a:xfrm>
          <a:prstGeom prst="ellipse">
            <a:avLst/>
          </a:prstGeom>
          <a:solidFill>
            <a:srgbClr val="FF5D7A"/>
          </a:solidFill>
          <a:ln w="12700">
            <a:solidFill>
              <a:srgbClr val="FF5D7A">
                <a:alpha val="0"/>
              </a:srgbClr>
            </a:solidFill>
            <a:prstDash val="solid"/>
          </a:ln>
        </p:spPr>
      </p:sp>
      <p:sp>
        <p:nvSpPr>
          <p:cNvPr id="74" name="Text 71"/>
          <p:cNvSpPr/>
          <p:nvPr/>
        </p:nvSpPr>
        <p:spPr>
          <a:xfrm>
            <a:off x="731520" y="4352544"/>
            <a:ext cx="347472" cy="128016"/>
          </a:xfrm>
          <a:prstGeom prst="rect">
            <a:avLst/>
          </a:prstGeom>
          <a:noFill/>
          <a:ln/>
        </p:spPr>
        <p:txBody>
          <a:bodyPr wrap="square" lIns="0" tIns="0" rIns="0" bIns="0" rtlCol="0" anchor="ctr"/>
          <a:lstStyle/>
          <a:p>
            <a:pPr marL="0" indent="0" algn="ctr">
              <a:buNone/>
            </a:pPr>
            <a:r>
              <a:rPr lang="en-US" sz="800" b="1" dirty="0">
                <a:solidFill>
                  <a:srgbClr val="061525"/>
                </a:solidFill>
              </a:rPr>
              <a:t>7</a:t>
            </a:r>
            <a:endParaRPr lang="en-US" sz="800" dirty="0"/>
          </a:p>
        </p:txBody>
      </p:sp>
      <p:sp>
        <p:nvSpPr>
          <p:cNvPr id="75" name="Text 72"/>
          <p:cNvSpPr/>
          <p:nvPr/>
        </p:nvSpPr>
        <p:spPr>
          <a:xfrm>
            <a:off x="1225296" y="4242816"/>
            <a:ext cx="4498848" cy="530352"/>
          </a:xfrm>
          <a:prstGeom prst="rect">
            <a:avLst/>
          </a:prstGeom>
          <a:noFill/>
          <a:ln/>
        </p:spPr>
        <p:txBody>
          <a:bodyPr wrap="square" lIns="381" tIns="381" rIns="381" bIns="381" rtlCol="0" anchor="ctr">
            <a:normAutofit/>
          </a:bodyPr>
          <a:lstStyle/>
          <a:p>
            <a:pPr marL="0" indent="0">
              <a:buNone/>
            </a:pPr>
            <a:r>
              <a:rPr lang="en-US" sz="930" dirty="0">
                <a:solidFill>
                  <a:srgbClr val="DDEAF2"/>
                </a:solidFill>
                <a:latin typeface="Aptos" pitchFamily="34" charset="0"/>
                <a:ea typeface="Aptos" pitchFamily="34" charset="-122"/>
                <a:cs typeface="Aptos" pitchFamily="34" charset="-120"/>
              </a:rPr>
              <a:t>Which regulatory part (FAR Description) is associated with the most fatal accidents?</a:t>
            </a:r>
            <a:endParaRPr lang="en-US" sz="930" dirty="0"/>
          </a:p>
        </p:txBody>
      </p:sp>
      <p:sp>
        <p:nvSpPr>
          <p:cNvPr id="76" name="Shape 73">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77" name="Text 74">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78" name="Shape 75">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79" name="Shape 76">
            <a:hlinkClick r:id="rId5" action="ppaction://hlinksldjump"/>
          </p:cNvPr>
          <p:cNvSpPr/>
          <p:nvPr/>
        </p:nvSpPr>
        <p:spPr>
          <a:xfrm rot="16200000">
            <a:off x="11018520" y="6181344"/>
            <a:ext cx="146304" cy="146304"/>
          </a:xfrm>
          <a:prstGeom prst="chevron">
            <a:avLst/>
          </a:prstGeom>
          <a:solidFill>
            <a:srgbClr val="16DFF7"/>
          </a:solidFill>
          <a:ln w="12700">
            <a:solidFill>
              <a:srgbClr val="16DFF7"/>
            </a:solidFill>
            <a:prstDash val="solid"/>
          </a:ln>
        </p:spPr>
      </p:sp>
      <p:sp>
        <p:nvSpPr>
          <p:cNvPr id="80" name="Shape 77">
            <a:hlinkClick r:id="rId6" action="ppaction://hlinksldjump"/>
          </p:cNvPr>
          <p:cNvSpPr/>
          <p:nvPr/>
        </p:nvSpPr>
        <p:spPr>
          <a:xfrm>
            <a:off x="11338560" y="6099048"/>
            <a:ext cx="347472" cy="347472"/>
          </a:xfrm>
          <a:prstGeom prst="ellipse">
            <a:avLst/>
          </a:prstGeom>
          <a:solidFill>
            <a:srgbClr val="0B2940"/>
          </a:solidFill>
          <a:ln w="10160">
            <a:solidFill>
              <a:srgbClr val="16718B"/>
            </a:solidFill>
            <a:prstDash val="solid"/>
          </a:ln>
        </p:spPr>
      </p:sp>
      <p:sp>
        <p:nvSpPr>
          <p:cNvPr id="81" name="Text 78">
            <a:hlinkClick r:id="rId6" action="ppaction://hlinksldjump"/>
          </p:cNvPr>
          <p:cNvSpPr/>
          <p:nvPr/>
        </p:nvSpPr>
        <p:spPr>
          <a:xfrm>
            <a:off x="11356848"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6" action="ppaction://hlinksldjump">
                  <a:extLst>
                    <a:ext uri="{A12FA001-AC4F-418D-AE19-62706E023703}">
                      <ahyp:hlinkClr xmlns:ahyp="http://schemas.microsoft.com/office/drawing/2018/hyperlinkcolor" val="tx"/>
                    </a:ext>
                  </a:extLst>
                </a:hlinkClick>
              </a:rPr>
              <a:t>›</a:t>
            </a:r>
            <a:endParaRPr lang="en-US" sz="1700" dirty="0"/>
          </a:p>
        </p:txBody>
      </p:sp>
      <p:sp>
        <p:nvSpPr>
          <p:cNvPr id="82"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502920"/>
            <a:ext cx="0" cy="5715000"/>
          </a:xfrm>
          <a:prstGeom prst="line">
            <a:avLst/>
          </a:prstGeom>
          <a:noFill/>
          <a:ln w="5080">
            <a:solidFill>
              <a:srgbClr val="0B304B">
                <a:alpha val="10000"/>
              </a:srgbClr>
            </a:solidFill>
            <a:prstDash val="solid"/>
          </a:ln>
        </p:spPr>
      </p:sp>
      <p:sp>
        <p:nvSpPr>
          <p:cNvPr id="3" name="Shape 1"/>
          <p:cNvSpPr/>
          <p:nvPr/>
        </p:nvSpPr>
        <p:spPr>
          <a:xfrm>
            <a:off x="1051560" y="502920"/>
            <a:ext cx="0" cy="5715000"/>
          </a:xfrm>
          <a:prstGeom prst="line">
            <a:avLst/>
          </a:prstGeom>
          <a:noFill/>
          <a:ln w="5080">
            <a:solidFill>
              <a:srgbClr val="0B304B">
                <a:alpha val="10000"/>
              </a:srgbClr>
            </a:solidFill>
            <a:prstDash val="solid"/>
          </a:ln>
        </p:spPr>
      </p:sp>
      <p:sp>
        <p:nvSpPr>
          <p:cNvPr id="4" name="Shape 2"/>
          <p:cNvSpPr/>
          <p:nvPr/>
        </p:nvSpPr>
        <p:spPr>
          <a:xfrm>
            <a:off x="1554480" y="502920"/>
            <a:ext cx="0" cy="5715000"/>
          </a:xfrm>
          <a:prstGeom prst="line">
            <a:avLst/>
          </a:prstGeom>
          <a:noFill/>
          <a:ln w="5080">
            <a:solidFill>
              <a:srgbClr val="0B304B">
                <a:alpha val="10000"/>
              </a:srgbClr>
            </a:solidFill>
            <a:prstDash val="solid"/>
          </a:ln>
        </p:spPr>
      </p:sp>
      <p:sp>
        <p:nvSpPr>
          <p:cNvPr id="5" name="Shape 3"/>
          <p:cNvSpPr/>
          <p:nvPr/>
        </p:nvSpPr>
        <p:spPr>
          <a:xfrm>
            <a:off x="2057400" y="502920"/>
            <a:ext cx="0" cy="5715000"/>
          </a:xfrm>
          <a:prstGeom prst="line">
            <a:avLst/>
          </a:prstGeom>
          <a:noFill/>
          <a:ln w="5080">
            <a:solidFill>
              <a:srgbClr val="0B304B">
                <a:alpha val="10000"/>
              </a:srgbClr>
            </a:solidFill>
            <a:prstDash val="solid"/>
          </a:ln>
        </p:spPr>
      </p:sp>
      <p:sp>
        <p:nvSpPr>
          <p:cNvPr id="6" name="Shape 4"/>
          <p:cNvSpPr/>
          <p:nvPr/>
        </p:nvSpPr>
        <p:spPr>
          <a:xfrm>
            <a:off x="2560320" y="502920"/>
            <a:ext cx="0" cy="5715000"/>
          </a:xfrm>
          <a:prstGeom prst="line">
            <a:avLst/>
          </a:prstGeom>
          <a:noFill/>
          <a:ln w="5080">
            <a:solidFill>
              <a:srgbClr val="0B304B">
                <a:alpha val="10000"/>
              </a:srgbClr>
            </a:solidFill>
            <a:prstDash val="solid"/>
          </a:ln>
        </p:spPr>
      </p:sp>
      <p:sp>
        <p:nvSpPr>
          <p:cNvPr id="7" name="Shape 5"/>
          <p:cNvSpPr/>
          <p:nvPr/>
        </p:nvSpPr>
        <p:spPr>
          <a:xfrm>
            <a:off x="3063240" y="502920"/>
            <a:ext cx="0" cy="5715000"/>
          </a:xfrm>
          <a:prstGeom prst="line">
            <a:avLst/>
          </a:prstGeom>
          <a:noFill/>
          <a:ln w="5080">
            <a:solidFill>
              <a:srgbClr val="0B304B">
                <a:alpha val="10000"/>
              </a:srgbClr>
            </a:solidFill>
            <a:prstDash val="solid"/>
          </a:ln>
        </p:spPr>
      </p:sp>
      <p:sp>
        <p:nvSpPr>
          <p:cNvPr id="8" name="Shape 6"/>
          <p:cNvSpPr/>
          <p:nvPr/>
        </p:nvSpPr>
        <p:spPr>
          <a:xfrm>
            <a:off x="3566160" y="502920"/>
            <a:ext cx="0" cy="5715000"/>
          </a:xfrm>
          <a:prstGeom prst="line">
            <a:avLst/>
          </a:prstGeom>
          <a:noFill/>
          <a:ln w="5080">
            <a:solidFill>
              <a:srgbClr val="0B304B">
                <a:alpha val="10000"/>
              </a:srgbClr>
            </a:solidFill>
            <a:prstDash val="solid"/>
          </a:ln>
        </p:spPr>
      </p:sp>
      <p:sp>
        <p:nvSpPr>
          <p:cNvPr id="9" name="Shape 7"/>
          <p:cNvSpPr/>
          <p:nvPr/>
        </p:nvSpPr>
        <p:spPr>
          <a:xfrm>
            <a:off x="4069080" y="502920"/>
            <a:ext cx="0" cy="5715000"/>
          </a:xfrm>
          <a:prstGeom prst="line">
            <a:avLst/>
          </a:prstGeom>
          <a:noFill/>
          <a:ln w="5080">
            <a:solidFill>
              <a:srgbClr val="0B304B">
                <a:alpha val="10000"/>
              </a:srgbClr>
            </a:solidFill>
            <a:prstDash val="solid"/>
          </a:ln>
        </p:spPr>
      </p:sp>
      <p:sp>
        <p:nvSpPr>
          <p:cNvPr id="10" name="Shape 8"/>
          <p:cNvSpPr/>
          <p:nvPr/>
        </p:nvSpPr>
        <p:spPr>
          <a:xfrm>
            <a:off x="4572000" y="502920"/>
            <a:ext cx="0" cy="5715000"/>
          </a:xfrm>
          <a:prstGeom prst="line">
            <a:avLst/>
          </a:prstGeom>
          <a:noFill/>
          <a:ln w="5080">
            <a:solidFill>
              <a:srgbClr val="0B304B">
                <a:alpha val="10000"/>
              </a:srgbClr>
            </a:solidFill>
            <a:prstDash val="solid"/>
          </a:ln>
        </p:spPr>
      </p:sp>
      <p:sp>
        <p:nvSpPr>
          <p:cNvPr id="11" name="Shape 9"/>
          <p:cNvSpPr/>
          <p:nvPr/>
        </p:nvSpPr>
        <p:spPr>
          <a:xfrm>
            <a:off x="5074920" y="502920"/>
            <a:ext cx="0" cy="5715000"/>
          </a:xfrm>
          <a:prstGeom prst="line">
            <a:avLst/>
          </a:prstGeom>
          <a:noFill/>
          <a:ln w="5080">
            <a:solidFill>
              <a:srgbClr val="0B304B">
                <a:alpha val="10000"/>
              </a:srgbClr>
            </a:solidFill>
            <a:prstDash val="solid"/>
          </a:ln>
        </p:spPr>
      </p:sp>
      <p:sp>
        <p:nvSpPr>
          <p:cNvPr id="12" name="Shape 10"/>
          <p:cNvSpPr/>
          <p:nvPr/>
        </p:nvSpPr>
        <p:spPr>
          <a:xfrm>
            <a:off x="5577840" y="502920"/>
            <a:ext cx="0" cy="5715000"/>
          </a:xfrm>
          <a:prstGeom prst="line">
            <a:avLst/>
          </a:prstGeom>
          <a:noFill/>
          <a:ln w="5080">
            <a:solidFill>
              <a:srgbClr val="0B304B">
                <a:alpha val="10000"/>
              </a:srgbClr>
            </a:solidFill>
            <a:prstDash val="solid"/>
          </a:ln>
        </p:spPr>
      </p:sp>
      <p:sp>
        <p:nvSpPr>
          <p:cNvPr id="13" name="Shape 11"/>
          <p:cNvSpPr/>
          <p:nvPr/>
        </p:nvSpPr>
        <p:spPr>
          <a:xfrm>
            <a:off x="6080760" y="502920"/>
            <a:ext cx="0" cy="5715000"/>
          </a:xfrm>
          <a:prstGeom prst="line">
            <a:avLst/>
          </a:prstGeom>
          <a:noFill/>
          <a:ln w="5080">
            <a:solidFill>
              <a:srgbClr val="0B304B">
                <a:alpha val="10000"/>
              </a:srgbClr>
            </a:solidFill>
            <a:prstDash val="solid"/>
          </a:ln>
        </p:spPr>
      </p:sp>
      <p:sp>
        <p:nvSpPr>
          <p:cNvPr id="14" name="Shape 12"/>
          <p:cNvSpPr/>
          <p:nvPr/>
        </p:nvSpPr>
        <p:spPr>
          <a:xfrm>
            <a:off x="6583680" y="502920"/>
            <a:ext cx="0" cy="5715000"/>
          </a:xfrm>
          <a:prstGeom prst="line">
            <a:avLst/>
          </a:prstGeom>
          <a:noFill/>
          <a:ln w="5080">
            <a:solidFill>
              <a:srgbClr val="0B304B">
                <a:alpha val="10000"/>
              </a:srgbClr>
            </a:solidFill>
            <a:prstDash val="solid"/>
          </a:ln>
        </p:spPr>
      </p:sp>
      <p:sp>
        <p:nvSpPr>
          <p:cNvPr id="15" name="Shape 13"/>
          <p:cNvSpPr/>
          <p:nvPr/>
        </p:nvSpPr>
        <p:spPr>
          <a:xfrm>
            <a:off x="7086600" y="502920"/>
            <a:ext cx="0" cy="5715000"/>
          </a:xfrm>
          <a:prstGeom prst="line">
            <a:avLst/>
          </a:prstGeom>
          <a:noFill/>
          <a:ln w="5080">
            <a:solidFill>
              <a:srgbClr val="0B304B">
                <a:alpha val="10000"/>
              </a:srgbClr>
            </a:solidFill>
            <a:prstDash val="solid"/>
          </a:ln>
        </p:spPr>
      </p:sp>
      <p:sp>
        <p:nvSpPr>
          <p:cNvPr id="16" name="Shape 14"/>
          <p:cNvSpPr/>
          <p:nvPr/>
        </p:nvSpPr>
        <p:spPr>
          <a:xfrm>
            <a:off x="7589520" y="502920"/>
            <a:ext cx="0" cy="5715000"/>
          </a:xfrm>
          <a:prstGeom prst="line">
            <a:avLst/>
          </a:prstGeom>
          <a:noFill/>
          <a:ln w="5080">
            <a:solidFill>
              <a:srgbClr val="0B304B">
                <a:alpha val="10000"/>
              </a:srgbClr>
            </a:solidFill>
            <a:prstDash val="solid"/>
          </a:ln>
        </p:spPr>
      </p:sp>
      <p:sp>
        <p:nvSpPr>
          <p:cNvPr id="17" name="Shape 15"/>
          <p:cNvSpPr/>
          <p:nvPr/>
        </p:nvSpPr>
        <p:spPr>
          <a:xfrm>
            <a:off x="8092440" y="502920"/>
            <a:ext cx="0" cy="5715000"/>
          </a:xfrm>
          <a:prstGeom prst="line">
            <a:avLst/>
          </a:prstGeom>
          <a:noFill/>
          <a:ln w="5080">
            <a:solidFill>
              <a:srgbClr val="0B304B">
                <a:alpha val="10000"/>
              </a:srgbClr>
            </a:solidFill>
            <a:prstDash val="solid"/>
          </a:ln>
        </p:spPr>
      </p:sp>
      <p:sp>
        <p:nvSpPr>
          <p:cNvPr id="18" name="Shape 16"/>
          <p:cNvSpPr/>
          <p:nvPr/>
        </p:nvSpPr>
        <p:spPr>
          <a:xfrm>
            <a:off x="8595360" y="502920"/>
            <a:ext cx="0" cy="5715000"/>
          </a:xfrm>
          <a:prstGeom prst="line">
            <a:avLst/>
          </a:prstGeom>
          <a:noFill/>
          <a:ln w="5080">
            <a:solidFill>
              <a:srgbClr val="0B304B">
                <a:alpha val="10000"/>
              </a:srgbClr>
            </a:solidFill>
            <a:prstDash val="solid"/>
          </a:ln>
        </p:spPr>
      </p:sp>
      <p:sp>
        <p:nvSpPr>
          <p:cNvPr id="19" name="Shape 17"/>
          <p:cNvSpPr/>
          <p:nvPr/>
        </p:nvSpPr>
        <p:spPr>
          <a:xfrm>
            <a:off x="9098280" y="502920"/>
            <a:ext cx="0" cy="5715000"/>
          </a:xfrm>
          <a:prstGeom prst="line">
            <a:avLst/>
          </a:prstGeom>
          <a:noFill/>
          <a:ln w="5080">
            <a:solidFill>
              <a:srgbClr val="0B304B">
                <a:alpha val="10000"/>
              </a:srgbClr>
            </a:solidFill>
            <a:prstDash val="solid"/>
          </a:ln>
        </p:spPr>
      </p:sp>
      <p:sp>
        <p:nvSpPr>
          <p:cNvPr id="20" name="Shape 18"/>
          <p:cNvSpPr/>
          <p:nvPr/>
        </p:nvSpPr>
        <p:spPr>
          <a:xfrm>
            <a:off x="9601200" y="502920"/>
            <a:ext cx="0" cy="5715000"/>
          </a:xfrm>
          <a:prstGeom prst="line">
            <a:avLst/>
          </a:prstGeom>
          <a:noFill/>
          <a:ln w="5080">
            <a:solidFill>
              <a:srgbClr val="0B304B">
                <a:alpha val="10000"/>
              </a:srgbClr>
            </a:solidFill>
            <a:prstDash val="solid"/>
          </a:ln>
        </p:spPr>
      </p:sp>
      <p:sp>
        <p:nvSpPr>
          <p:cNvPr id="21" name="Shape 19"/>
          <p:cNvSpPr/>
          <p:nvPr/>
        </p:nvSpPr>
        <p:spPr>
          <a:xfrm>
            <a:off x="10104120" y="502920"/>
            <a:ext cx="0" cy="5715000"/>
          </a:xfrm>
          <a:prstGeom prst="line">
            <a:avLst/>
          </a:prstGeom>
          <a:noFill/>
          <a:ln w="5080">
            <a:solidFill>
              <a:srgbClr val="0B304B">
                <a:alpha val="10000"/>
              </a:srgbClr>
            </a:solidFill>
            <a:prstDash val="solid"/>
          </a:ln>
        </p:spPr>
      </p:sp>
      <p:sp>
        <p:nvSpPr>
          <p:cNvPr id="22" name="Shape 20"/>
          <p:cNvSpPr/>
          <p:nvPr/>
        </p:nvSpPr>
        <p:spPr>
          <a:xfrm>
            <a:off x="10607040" y="502920"/>
            <a:ext cx="0" cy="5715000"/>
          </a:xfrm>
          <a:prstGeom prst="line">
            <a:avLst/>
          </a:prstGeom>
          <a:noFill/>
          <a:ln w="5080">
            <a:solidFill>
              <a:srgbClr val="0B304B">
                <a:alpha val="10000"/>
              </a:srgbClr>
            </a:solidFill>
            <a:prstDash val="solid"/>
          </a:ln>
        </p:spPr>
      </p:sp>
      <p:sp>
        <p:nvSpPr>
          <p:cNvPr id="23" name="Shape 21"/>
          <p:cNvSpPr/>
          <p:nvPr/>
        </p:nvSpPr>
        <p:spPr>
          <a:xfrm>
            <a:off x="11109960" y="502920"/>
            <a:ext cx="0" cy="5715000"/>
          </a:xfrm>
          <a:prstGeom prst="line">
            <a:avLst/>
          </a:prstGeom>
          <a:noFill/>
          <a:ln w="5080">
            <a:solidFill>
              <a:srgbClr val="0B304B">
                <a:alpha val="10000"/>
              </a:srgbClr>
            </a:solidFill>
            <a:prstDash val="solid"/>
          </a:ln>
        </p:spPr>
      </p:sp>
      <p:sp>
        <p:nvSpPr>
          <p:cNvPr id="24" name="Shape 22"/>
          <p:cNvSpPr/>
          <p:nvPr/>
        </p:nvSpPr>
        <p:spPr>
          <a:xfrm>
            <a:off x="11612880" y="502920"/>
            <a:ext cx="0" cy="5715000"/>
          </a:xfrm>
          <a:prstGeom prst="line">
            <a:avLst/>
          </a:prstGeom>
          <a:noFill/>
          <a:ln w="5080">
            <a:solidFill>
              <a:srgbClr val="0B304B">
                <a:alpha val="10000"/>
              </a:srgbClr>
            </a:solidFill>
            <a:prstDash val="solid"/>
          </a:ln>
        </p:spPr>
      </p:sp>
      <p:sp>
        <p:nvSpPr>
          <p:cNvPr id="25" name="Shape 23"/>
          <p:cNvSpPr/>
          <p:nvPr/>
        </p:nvSpPr>
        <p:spPr>
          <a:xfrm>
            <a:off x="502920" y="566928"/>
            <a:ext cx="11201400" cy="0"/>
          </a:xfrm>
          <a:prstGeom prst="line">
            <a:avLst/>
          </a:prstGeom>
          <a:noFill/>
          <a:ln w="5080">
            <a:solidFill>
              <a:srgbClr val="0B304B">
                <a:alpha val="10000"/>
              </a:srgbClr>
            </a:solidFill>
            <a:prstDash val="solid"/>
          </a:ln>
        </p:spPr>
      </p:sp>
      <p:sp>
        <p:nvSpPr>
          <p:cNvPr id="26" name="Shape 24"/>
          <p:cNvSpPr/>
          <p:nvPr/>
        </p:nvSpPr>
        <p:spPr>
          <a:xfrm>
            <a:off x="502920" y="1069848"/>
            <a:ext cx="11201400" cy="0"/>
          </a:xfrm>
          <a:prstGeom prst="line">
            <a:avLst/>
          </a:prstGeom>
          <a:noFill/>
          <a:ln w="5080">
            <a:solidFill>
              <a:srgbClr val="0B304B">
                <a:alpha val="10000"/>
              </a:srgbClr>
            </a:solidFill>
            <a:prstDash val="solid"/>
          </a:ln>
        </p:spPr>
      </p:sp>
      <p:sp>
        <p:nvSpPr>
          <p:cNvPr id="27" name="Shape 25"/>
          <p:cNvSpPr/>
          <p:nvPr/>
        </p:nvSpPr>
        <p:spPr>
          <a:xfrm>
            <a:off x="502920" y="1572768"/>
            <a:ext cx="11201400" cy="0"/>
          </a:xfrm>
          <a:prstGeom prst="line">
            <a:avLst/>
          </a:prstGeom>
          <a:noFill/>
          <a:ln w="5080">
            <a:solidFill>
              <a:srgbClr val="0B304B">
                <a:alpha val="10000"/>
              </a:srgbClr>
            </a:solidFill>
            <a:prstDash val="solid"/>
          </a:ln>
        </p:spPr>
      </p:sp>
      <p:sp>
        <p:nvSpPr>
          <p:cNvPr id="28" name="Shape 26"/>
          <p:cNvSpPr/>
          <p:nvPr/>
        </p:nvSpPr>
        <p:spPr>
          <a:xfrm>
            <a:off x="502920" y="2075688"/>
            <a:ext cx="11201400" cy="0"/>
          </a:xfrm>
          <a:prstGeom prst="line">
            <a:avLst/>
          </a:prstGeom>
          <a:noFill/>
          <a:ln w="5080">
            <a:solidFill>
              <a:srgbClr val="0B304B">
                <a:alpha val="10000"/>
              </a:srgbClr>
            </a:solidFill>
            <a:prstDash val="solid"/>
          </a:ln>
        </p:spPr>
      </p:sp>
      <p:sp>
        <p:nvSpPr>
          <p:cNvPr id="29" name="Shape 27"/>
          <p:cNvSpPr/>
          <p:nvPr/>
        </p:nvSpPr>
        <p:spPr>
          <a:xfrm>
            <a:off x="502920" y="2578608"/>
            <a:ext cx="11201400" cy="0"/>
          </a:xfrm>
          <a:prstGeom prst="line">
            <a:avLst/>
          </a:prstGeom>
          <a:noFill/>
          <a:ln w="5080">
            <a:solidFill>
              <a:srgbClr val="0B304B">
                <a:alpha val="10000"/>
              </a:srgbClr>
            </a:solidFill>
            <a:prstDash val="solid"/>
          </a:ln>
        </p:spPr>
      </p:sp>
      <p:sp>
        <p:nvSpPr>
          <p:cNvPr id="30" name="Shape 28"/>
          <p:cNvSpPr/>
          <p:nvPr/>
        </p:nvSpPr>
        <p:spPr>
          <a:xfrm>
            <a:off x="502920" y="3081528"/>
            <a:ext cx="11201400" cy="0"/>
          </a:xfrm>
          <a:prstGeom prst="line">
            <a:avLst/>
          </a:prstGeom>
          <a:noFill/>
          <a:ln w="5080">
            <a:solidFill>
              <a:srgbClr val="0B304B">
                <a:alpha val="10000"/>
              </a:srgbClr>
            </a:solidFill>
            <a:prstDash val="solid"/>
          </a:ln>
        </p:spPr>
      </p:sp>
      <p:sp>
        <p:nvSpPr>
          <p:cNvPr id="31" name="Shape 29"/>
          <p:cNvSpPr/>
          <p:nvPr/>
        </p:nvSpPr>
        <p:spPr>
          <a:xfrm>
            <a:off x="502920" y="3584448"/>
            <a:ext cx="11201400" cy="0"/>
          </a:xfrm>
          <a:prstGeom prst="line">
            <a:avLst/>
          </a:prstGeom>
          <a:noFill/>
          <a:ln w="5080">
            <a:solidFill>
              <a:srgbClr val="0B304B">
                <a:alpha val="10000"/>
              </a:srgbClr>
            </a:solidFill>
            <a:prstDash val="solid"/>
          </a:ln>
        </p:spPr>
      </p:sp>
      <p:sp>
        <p:nvSpPr>
          <p:cNvPr id="32" name="Shape 30"/>
          <p:cNvSpPr/>
          <p:nvPr/>
        </p:nvSpPr>
        <p:spPr>
          <a:xfrm>
            <a:off x="502920" y="4087368"/>
            <a:ext cx="11201400" cy="0"/>
          </a:xfrm>
          <a:prstGeom prst="line">
            <a:avLst/>
          </a:prstGeom>
          <a:noFill/>
          <a:ln w="5080">
            <a:solidFill>
              <a:srgbClr val="0B304B">
                <a:alpha val="10000"/>
              </a:srgbClr>
            </a:solidFill>
            <a:prstDash val="solid"/>
          </a:ln>
        </p:spPr>
      </p:sp>
      <p:sp>
        <p:nvSpPr>
          <p:cNvPr id="33" name="Shape 31"/>
          <p:cNvSpPr/>
          <p:nvPr/>
        </p:nvSpPr>
        <p:spPr>
          <a:xfrm>
            <a:off x="502920" y="4590288"/>
            <a:ext cx="11201400" cy="0"/>
          </a:xfrm>
          <a:prstGeom prst="line">
            <a:avLst/>
          </a:prstGeom>
          <a:noFill/>
          <a:ln w="5080">
            <a:solidFill>
              <a:srgbClr val="0B304B">
                <a:alpha val="10000"/>
              </a:srgbClr>
            </a:solidFill>
            <a:prstDash val="solid"/>
          </a:ln>
        </p:spPr>
      </p:sp>
      <p:sp>
        <p:nvSpPr>
          <p:cNvPr id="34" name="Shape 32"/>
          <p:cNvSpPr/>
          <p:nvPr/>
        </p:nvSpPr>
        <p:spPr>
          <a:xfrm>
            <a:off x="502920" y="5093208"/>
            <a:ext cx="11201400" cy="0"/>
          </a:xfrm>
          <a:prstGeom prst="line">
            <a:avLst/>
          </a:prstGeom>
          <a:noFill/>
          <a:ln w="5080">
            <a:solidFill>
              <a:srgbClr val="0B304B">
                <a:alpha val="10000"/>
              </a:srgbClr>
            </a:solidFill>
            <a:prstDash val="solid"/>
          </a:ln>
        </p:spPr>
      </p:sp>
      <p:sp>
        <p:nvSpPr>
          <p:cNvPr id="35" name="Shape 33"/>
          <p:cNvSpPr/>
          <p:nvPr/>
        </p:nvSpPr>
        <p:spPr>
          <a:xfrm>
            <a:off x="502920" y="5596128"/>
            <a:ext cx="11201400" cy="0"/>
          </a:xfrm>
          <a:prstGeom prst="line">
            <a:avLst/>
          </a:prstGeom>
          <a:noFill/>
          <a:ln w="5080">
            <a:solidFill>
              <a:srgbClr val="0B304B">
                <a:alpha val="10000"/>
              </a:srgbClr>
            </a:solidFill>
            <a:prstDash val="solid"/>
          </a:ln>
        </p:spPr>
      </p:sp>
      <p:sp>
        <p:nvSpPr>
          <p:cNvPr id="36" name="Shape 34"/>
          <p:cNvSpPr/>
          <p:nvPr/>
        </p:nvSpPr>
        <p:spPr>
          <a:xfrm>
            <a:off x="502920" y="6099048"/>
            <a:ext cx="11201400" cy="0"/>
          </a:xfrm>
          <a:prstGeom prst="line">
            <a:avLst/>
          </a:prstGeom>
          <a:noFill/>
          <a:ln w="5080">
            <a:solidFill>
              <a:srgbClr val="0B304B">
                <a:alpha val="10000"/>
              </a:srgbClr>
            </a:solidFill>
            <a:prstDash val="solid"/>
          </a:ln>
        </p:spPr>
      </p:sp>
      <p:sp>
        <p:nvSpPr>
          <p:cNvPr id="37" name="Shape 35"/>
          <p:cNvSpPr/>
          <p:nvPr/>
        </p:nvSpPr>
        <p:spPr>
          <a:xfrm>
            <a:off x="530352" y="329184"/>
            <a:ext cx="1463040" cy="256032"/>
          </a:xfrm>
          <a:prstGeom prst="roundRect">
            <a:avLst>
              <a:gd name="adj" fmla="val 17857"/>
            </a:avLst>
          </a:prstGeom>
          <a:solidFill>
            <a:srgbClr val="09273D"/>
          </a:solidFill>
          <a:ln w="10160">
            <a:solidFill>
              <a:srgbClr val="FF5D7A">
                <a:alpha val="65000"/>
              </a:srgbClr>
            </a:solidFill>
            <a:prstDash val="solid"/>
          </a:ln>
        </p:spPr>
      </p:sp>
      <p:sp>
        <p:nvSpPr>
          <p:cNvPr id="38" name="Text 36"/>
          <p:cNvSpPr/>
          <p:nvPr/>
        </p:nvSpPr>
        <p:spPr>
          <a:xfrm>
            <a:off x="603504" y="379476"/>
            <a:ext cx="131673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FF5D7A"/>
                </a:solidFill>
                <a:latin typeface="Aptos" pitchFamily="34" charset="0"/>
                <a:ea typeface="Aptos" pitchFamily="34" charset="-122"/>
                <a:cs typeface="Aptos" pitchFamily="34" charset="-120"/>
              </a:rPr>
              <a:t>DASHBOARD VIEW</a:t>
            </a:r>
            <a:endParaRPr lang="en-US" sz="560" dirty="0"/>
          </a:p>
        </p:txBody>
      </p:sp>
      <p:sp>
        <p:nvSpPr>
          <p:cNvPr id="39" name="Text 37"/>
          <p:cNvSpPr/>
          <p:nvPr/>
        </p:nvSpPr>
        <p:spPr>
          <a:xfrm>
            <a:off x="548640" y="658368"/>
            <a:ext cx="8046720" cy="384048"/>
          </a:xfrm>
          <a:prstGeom prst="rect">
            <a:avLst/>
          </a:prstGeom>
          <a:noFill/>
          <a:ln/>
        </p:spPr>
        <p:txBody>
          <a:bodyPr wrap="square" lIns="0" tIns="0" rIns="0" bIns="0" rtlCol="0" anchor="ctr">
            <a:normAutofit/>
          </a:bodyPr>
          <a:lstStyle/>
          <a:p>
            <a:pPr marL="0" indent="0">
              <a:buNone/>
            </a:pPr>
            <a:r>
              <a:rPr lang="en-US" sz="2000" b="1" dirty="0">
                <a:solidFill>
                  <a:srgbClr val="F5FAFE"/>
                </a:solidFill>
                <a:latin typeface="Aptos Display" pitchFamily="34" charset="0"/>
                <a:ea typeface="Aptos Display" pitchFamily="34" charset="-122"/>
                <a:cs typeface="Aptos Display" pitchFamily="34" charset="-120"/>
              </a:rPr>
              <a:t>Dashboard 4 — Flight Purpose &amp; Injury Impact</a:t>
            </a:r>
            <a:endParaRPr lang="en-US" sz="2000" dirty="0"/>
          </a:p>
        </p:txBody>
      </p:sp>
      <p:sp>
        <p:nvSpPr>
          <p:cNvPr id="40" name="Shape 38"/>
          <p:cNvSpPr/>
          <p:nvPr/>
        </p:nvSpPr>
        <p:spPr>
          <a:xfrm>
            <a:off x="621792" y="1261872"/>
            <a:ext cx="10945368" cy="4526280"/>
          </a:xfrm>
          <a:prstGeom prst="roundRect">
            <a:avLst>
              <a:gd name="adj" fmla="val 1616"/>
            </a:avLst>
          </a:prstGeom>
          <a:solidFill>
            <a:srgbClr val="071625"/>
          </a:solidFill>
          <a:ln w="11430">
            <a:solidFill>
              <a:srgbClr val="FF5D7A">
                <a:alpha val="90000"/>
              </a:srgbClr>
            </a:solidFill>
            <a:prstDash val="solid"/>
          </a:ln>
          <a:effectLst>
            <a:outerShdw algn="bl" rotWithShape="0">
              <a:srgbClr val="000000">
                <a:alpha val="0"/>
              </a:srgbClr>
            </a:outerShdw>
          </a:effectLst>
        </p:spPr>
      </p:sp>
      <p:pic>
        <p:nvPicPr>
          <p:cNvPr id="41" name="Image 0" descr="/mnt/data/nti_render/slide-21.png"/>
          <p:cNvPicPr>
            <a:picLocks noChangeAspect="1"/>
          </p:cNvPicPr>
          <p:nvPr/>
        </p:nvPicPr>
        <p:blipFill>
          <a:blip r:embed="rId3"/>
          <a:stretch>
            <a:fillRect/>
          </a:stretch>
        </p:blipFill>
        <p:spPr>
          <a:xfrm>
            <a:off x="2324288" y="1408176"/>
            <a:ext cx="7531232" cy="4233672"/>
          </a:xfrm>
          <a:prstGeom prst="rect">
            <a:avLst/>
          </a:prstGeom>
        </p:spPr>
      </p:pic>
      <p:sp>
        <p:nvSpPr>
          <p:cNvPr id="42" name="Shape 39"/>
          <p:cNvSpPr/>
          <p:nvPr/>
        </p:nvSpPr>
        <p:spPr>
          <a:xfrm>
            <a:off x="768096" y="1307592"/>
            <a:ext cx="54864" cy="54864"/>
          </a:xfrm>
          <a:prstGeom prst="ellipse">
            <a:avLst/>
          </a:prstGeom>
          <a:solidFill>
            <a:srgbClr val="FF6B70"/>
          </a:solidFill>
          <a:ln w="12700">
            <a:solidFill>
              <a:srgbClr val="333333">
                <a:alpha val="0"/>
              </a:srgbClr>
            </a:solidFill>
            <a:prstDash val="solid"/>
          </a:ln>
        </p:spPr>
      </p:sp>
      <p:sp>
        <p:nvSpPr>
          <p:cNvPr id="43" name="Shape 40"/>
          <p:cNvSpPr/>
          <p:nvPr/>
        </p:nvSpPr>
        <p:spPr>
          <a:xfrm>
            <a:off x="896112" y="1307592"/>
            <a:ext cx="54864" cy="54864"/>
          </a:xfrm>
          <a:prstGeom prst="ellipse">
            <a:avLst/>
          </a:prstGeom>
          <a:solidFill>
            <a:srgbClr val="FFBF45"/>
          </a:solidFill>
          <a:ln w="12700">
            <a:solidFill>
              <a:srgbClr val="333333">
                <a:alpha val="0"/>
              </a:srgbClr>
            </a:solidFill>
            <a:prstDash val="solid"/>
          </a:ln>
        </p:spPr>
      </p:sp>
      <p:sp>
        <p:nvSpPr>
          <p:cNvPr id="44" name="Shape 41"/>
          <p:cNvSpPr/>
          <p:nvPr/>
        </p:nvSpPr>
        <p:spPr>
          <a:xfrm>
            <a:off x="1024128" y="1307592"/>
            <a:ext cx="54864" cy="54864"/>
          </a:xfrm>
          <a:prstGeom prst="ellipse">
            <a:avLst/>
          </a:prstGeom>
          <a:solidFill>
            <a:srgbClr val="3FE0B5"/>
          </a:solidFill>
          <a:ln w="12700">
            <a:solidFill>
              <a:srgbClr val="333333">
                <a:alpha val="0"/>
              </a:srgbClr>
            </a:solidFill>
            <a:prstDash val="solid"/>
          </a:ln>
        </p:spPr>
      </p:sp>
      <p:sp>
        <p:nvSpPr>
          <p:cNvPr id="45" name="Shape 42">
            <a:hlinkClick r:id="rId4"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46" name="Text 43">
            <a:hlinkClick r:id="rId4"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4" action="ppaction://hlinksldjump">
                  <a:extLst>
                    <a:ext uri="{A12FA001-AC4F-418D-AE19-62706E023703}">
                      <ahyp:hlinkClr xmlns:ahyp="http://schemas.microsoft.com/office/drawing/2018/hyperlinkcolor" val="tx"/>
                    </a:ext>
                  </a:extLst>
                </a:hlinkClick>
              </a:rPr>
              <a:t>‹</a:t>
            </a:r>
            <a:endParaRPr lang="en-US" sz="1700" dirty="0"/>
          </a:p>
        </p:txBody>
      </p:sp>
      <p:sp>
        <p:nvSpPr>
          <p:cNvPr id="47" name="Shape 44">
            <a:hlinkClick r:id="rId5"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48" name="Shape 45">
            <a:hlinkClick r:id="rId5" action="ppaction://hlinksldjump"/>
          </p:cNvPr>
          <p:cNvSpPr/>
          <p:nvPr/>
        </p:nvSpPr>
        <p:spPr>
          <a:xfrm rot="16200000">
            <a:off x="11018520" y="6181344"/>
            <a:ext cx="146304" cy="146304"/>
          </a:xfrm>
          <a:prstGeom prst="chevron">
            <a:avLst/>
          </a:prstGeom>
          <a:solidFill>
            <a:srgbClr val="16DFF7"/>
          </a:solidFill>
          <a:ln w="12700">
            <a:solidFill>
              <a:srgbClr val="16DFF7"/>
            </a:solidFill>
            <a:prstDash val="solid"/>
          </a:ln>
        </p:spPr>
      </p:sp>
      <p:sp>
        <p:nvSpPr>
          <p:cNvPr id="49" name="Shape 46">
            <a:hlinkClick r:id="rId6" action="ppaction://hlinksldjump"/>
          </p:cNvPr>
          <p:cNvSpPr/>
          <p:nvPr/>
        </p:nvSpPr>
        <p:spPr>
          <a:xfrm>
            <a:off x="11338560" y="6099048"/>
            <a:ext cx="347472" cy="347472"/>
          </a:xfrm>
          <a:prstGeom prst="ellipse">
            <a:avLst/>
          </a:prstGeom>
          <a:solidFill>
            <a:srgbClr val="0B2940"/>
          </a:solidFill>
          <a:ln w="10160">
            <a:solidFill>
              <a:srgbClr val="16718B"/>
            </a:solidFill>
            <a:prstDash val="solid"/>
          </a:ln>
        </p:spPr>
      </p:sp>
      <p:sp>
        <p:nvSpPr>
          <p:cNvPr id="50" name="Text 47">
            <a:hlinkClick r:id="rId6" action="ppaction://hlinksldjump"/>
          </p:cNvPr>
          <p:cNvSpPr/>
          <p:nvPr/>
        </p:nvSpPr>
        <p:spPr>
          <a:xfrm>
            <a:off x="11356848"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6" action="ppaction://hlinksldjump">
                  <a:extLst>
                    <a:ext uri="{A12FA001-AC4F-418D-AE19-62706E023703}">
                      <ahyp:hlinkClr xmlns:ahyp="http://schemas.microsoft.com/office/drawing/2018/hyperlinkcolor" val="tx"/>
                    </a:ext>
                  </a:extLst>
                </a:hlinkClick>
              </a:rPr>
              <a:t>›</a:t>
            </a:r>
            <a:endParaRPr lang="en-US" sz="1700" dirty="0"/>
          </a:p>
        </p:txBody>
      </p:sp>
      <p:sp>
        <p:nvSpPr>
          <p:cNvPr id="51"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mnt/data/a_cinematic_high_resolution_futuristic_aviation.png"/>
          <p:cNvPicPr>
            <a:picLocks noChangeAspect="1"/>
          </p:cNvPicPr>
          <p:nvPr/>
        </p:nvPicPr>
        <p:blipFill>
          <a:blip r:embed="rId3"/>
          <a:srcRect t="2557" b="2557"/>
          <a:stretch/>
        </p:blipFill>
        <p:spPr>
          <a:xfrm>
            <a:off x="0" y="0"/>
            <a:ext cx="12191695" cy="6510528"/>
          </a:xfrm>
          <a:prstGeom prst="rect">
            <a:avLst/>
          </a:prstGeom>
        </p:spPr>
      </p:pic>
      <p:sp>
        <p:nvSpPr>
          <p:cNvPr id="3" name="Shape 0"/>
          <p:cNvSpPr/>
          <p:nvPr/>
        </p:nvSpPr>
        <p:spPr>
          <a:xfrm>
            <a:off x="0" y="0"/>
            <a:ext cx="12191695" cy="6510528"/>
          </a:xfrm>
          <a:prstGeom prst="rect">
            <a:avLst/>
          </a:prstGeom>
          <a:solidFill>
            <a:srgbClr val="03111E">
              <a:alpha val="76000"/>
            </a:srgbClr>
          </a:solidFill>
          <a:ln w="12700">
            <a:solidFill>
              <a:srgbClr val="333333">
                <a:alpha val="0"/>
              </a:srgbClr>
            </a:solidFill>
            <a:prstDash val="solid"/>
          </a:ln>
        </p:spPr>
      </p:sp>
      <p:sp>
        <p:nvSpPr>
          <p:cNvPr id="4" name="Shape 1"/>
          <p:cNvSpPr/>
          <p:nvPr/>
        </p:nvSpPr>
        <p:spPr>
          <a:xfrm>
            <a:off x="0" y="0"/>
            <a:ext cx="5715000" cy="6510528"/>
          </a:xfrm>
          <a:prstGeom prst="rect">
            <a:avLst/>
          </a:prstGeom>
          <a:solidFill>
            <a:srgbClr val="061525">
              <a:alpha val="97000"/>
            </a:srgbClr>
          </a:solidFill>
          <a:ln w="12700">
            <a:solidFill>
              <a:srgbClr val="333333">
                <a:alpha val="0"/>
              </a:srgbClr>
            </a:solidFill>
            <a:prstDash val="solid"/>
          </a:ln>
        </p:spPr>
      </p:sp>
      <p:sp>
        <p:nvSpPr>
          <p:cNvPr id="5" name="Shape 2"/>
          <p:cNvSpPr/>
          <p:nvPr/>
        </p:nvSpPr>
        <p:spPr>
          <a:xfrm>
            <a:off x="3931920" y="914400"/>
            <a:ext cx="2926080" cy="4389120"/>
          </a:xfrm>
          <a:prstGeom prst="ellipse">
            <a:avLst/>
          </a:prstGeom>
          <a:solidFill>
            <a:srgbClr val="16DFF7">
              <a:alpha val="8000"/>
            </a:srgbClr>
          </a:solidFill>
          <a:ln w="12700">
            <a:solidFill>
              <a:srgbClr val="16DFF7">
                <a:alpha val="0"/>
              </a:srgbClr>
            </a:solidFill>
            <a:prstDash val="solid"/>
          </a:ln>
        </p:spPr>
      </p:sp>
      <p:sp>
        <p:nvSpPr>
          <p:cNvPr id="6" name="Shape 3"/>
          <p:cNvSpPr/>
          <p:nvPr/>
        </p:nvSpPr>
        <p:spPr>
          <a:xfrm>
            <a:off x="676656" y="658368"/>
            <a:ext cx="1005840" cy="256032"/>
          </a:xfrm>
          <a:prstGeom prst="roundRect">
            <a:avLst>
              <a:gd name="adj" fmla="val 17857"/>
            </a:avLst>
          </a:prstGeom>
          <a:solidFill>
            <a:srgbClr val="09273D"/>
          </a:solidFill>
          <a:ln w="10160">
            <a:solidFill>
              <a:srgbClr val="16DFF7">
                <a:alpha val="65000"/>
              </a:srgbClr>
            </a:solidFill>
            <a:prstDash val="solid"/>
          </a:ln>
        </p:spPr>
      </p:sp>
      <p:sp>
        <p:nvSpPr>
          <p:cNvPr id="7" name="Text 4"/>
          <p:cNvSpPr/>
          <p:nvPr/>
        </p:nvSpPr>
        <p:spPr>
          <a:xfrm>
            <a:off x="749808" y="708660"/>
            <a:ext cx="859536" cy="118872"/>
          </a:xfrm>
          <a:prstGeom prst="rect">
            <a:avLst/>
          </a:prstGeom>
          <a:noFill/>
          <a:ln/>
        </p:spPr>
        <p:txBody>
          <a:bodyPr wrap="square" lIns="0" tIns="0" rIns="0" bIns="0" rtlCol="0" anchor="ctr">
            <a:normAutofit/>
          </a:bodyPr>
          <a:lstStyle/>
          <a:p>
            <a:pPr marL="0" indent="0" algn="ctr">
              <a:buNone/>
            </a:pPr>
            <a:r>
              <a:rPr lang="en-US" sz="560" b="1" kern="0" spc="140" dirty="0">
                <a:solidFill>
                  <a:srgbClr val="16DFF7"/>
                </a:solidFill>
                <a:latin typeface="Aptos" pitchFamily="34" charset="0"/>
                <a:ea typeface="Aptos" pitchFamily="34" charset="-122"/>
                <a:cs typeface="Aptos" pitchFamily="34" charset="-120"/>
              </a:rPr>
              <a:t>FINAL</a:t>
            </a:r>
            <a:endParaRPr lang="en-US" sz="560" dirty="0"/>
          </a:p>
        </p:txBody>
      </p:sp>
      <p:sp>
        <p:nvSpPr>
          <p:cNvPr id="8" name="Text 5"/>
          <p:cNvSpPr/>
          <p:nvPr/>
        </p:nvSpPr>
        <p:spPr>
          <a:xfrm>
            <a:off x="676656" y="2176272"/>
            <a:ext cx="4389120" cy="841248"/>
          </a:xfrm>
          <a:prstGeom prst="rect">
            <a:avLst/>
          </a:prstGeom>
          <a:noFill/>
          <a:ln/>
        </p:spPr>
        <p:txBody>
          <a:bodyPr wrap="square" lIns="0" tIns="0" rIns="0" bIns="0" rtlCol="0" anchor="ctr">
            <a:normAutofit/>
          </a:bodyPr>
          <a:lstStyle/>
          <a:p>
            <a:pPr marL="0" indent="0">
              <a:buNone/>
            </a:pPr>
            <a:r>
              <a:rPr lang="en-US" sz="4500" b="1" dirty="0">
                <a:solidFill>
                  <a:srgbClr val="F5FAFE"/>
                </a:solidFill>
                <a:latin typeface="Aptos Display" pitchFamily="34" charset="0"/>
                <a:ea typeface="Aptos Display" pitchFamily="34" charset="-122"/>
                <a:cs typeface="Aptos Display" pitchFamily="34" charset="-120"/>
              </a:rPr>
              <a:t>Thank you!</a:t>
            </a:r>
            <a:endParaRPr lang="en-US" sz="4500" dirty="0"/>
          </a:p>
        </p:txBody>
      </p:sp>
      <p:sp>
        <p:nvSpPr>
          <p:cNvPr id="9" name="Shape 6"/>
          <p:cNvSpPr/>
          <p:nvPr/>
        </p:nvSpPr>
        <p:spPr>
          <a:xfrm>
            <a:off x="694944" y="3264408"/>
            <a:ext cx="3429000" cy="0"/>
          </a:xfrm>
          <a:prstGeom prst="line">
            <a:avLst/>
          </a:prstGeom>
          <a:noFill/>
          <a:ln w="19050">
            <a:solidFill>
              <a:srgbClr val="16DFF7"/>
            </a:solidFill>
            <a:prstDash val="solid"/>
          </a:ln>
        </p:spPr>
      </p:sp>
      <p:pic>
        <p:nvPicPr>
          <p:cNvPr id="10" name="Image 1" descr="/mnt/data/radar_sweep.gif"/>
          <p:cNvPicPr>
            <a:picLocks noChangeAspect="1"/>
          </p:cNvPicPr>
          <p:nvPr/>
        </p:nvPicPr>
        <p:blipFill>
          <a:blip r:embed="rId4"/>
          <a:stretch>
            <a:fillRect/>
          </a:stretch>
        </p:blipFill>
        <p:spPr>
          <a:xfrm>
            <a:off x="4407408" y="4005072"/>
            <a:ext cx="685800" cy="685800"/>
          </a:xfrm>
          <a:prstGeom prst="rect">
            <a:avLst/>
          </a:prstGeom>
        </p:spPr>
      </p:pic>
      <p:sp>
        <p:nvSpPr>
          <p:cNvPr id="11" name="Shape 7">
            <a:hlinkClick r:id="rId5" action="ppaction://hlinksldjump"/>
          </p:cNvPr>
          <p:cNvSpPr/>
          <p:nvPr/>
        </p:nvSpPr>
        <p:spPr>
          <a:xfrm>
            <a:off x="10497312" y="6099048"/>
            <a:ext cx="347472" cy="347472"/>
          </a:xfrm>
          <a:prstGeom prst="ellipse">
            <a:avLst/>
          </a:prstGeom>
          <a:solidFill>
            <a:srgbClr val="0B2940"/>
          </a:solidFill>
          <a:ln w="10160">
            <a:solidFill>
              <a:srgbClr val="16718B"/>
            </a:solidFill>
            <a:prstDash val="solid"/>
          </a:ln>
        </p:spPr>
      </p:sp>
      <p:sp>
        <p:nvSpPr>
          <p:cNvPr id="12" name="Text 8">
            <a:hlinkClick r:id="rId5" action="ppaction://hlinksldjump"/>
          </p:cNvPr>
          <p:cNvSpPr/>
          <p:nvPr/>
        </p:nvSpPr>
        <p:spPr>
          <a:xfrm>
            <a:off x="10515600" y="6106363"/>
            <a:ext cx="292608" cy="228600"/>
          </a:xfrm>
          <a:prstGeom prst="rect">
            <a:avLst/>
          </a:prstGeom>
          <a:noFill/>
          <a:ln/>
        </p:spPr>
        <p:txBody>
          <a:bodyPr wrap="square" lIns="0" tIns="0" rIns="0" bIns="0" rtlCol="0" anchor="ctr"/>
          <a:lstStyle/>
          <a:p>
            <a:pPr marL="0" indent="0" algn="ctr">
              <a:buNone/>
            </a:pPr>
            <a:r>
              <a:rPr lang="en-US" sz="1700" b="1" u="sng" dirty="0">
                <a:solidFill>
                  <a:srgbClr val="16DFF7"/>
                </a:solidFill>
                <a:hlinkClick r:id="rId5" action="ppaction://hlinksldjump">
                  <a:extLst>
                    <a:ext uri="{A12FA001-AC4F-418D-AE19-62706E023703}">
                      <ahyp:hlinkClr xmlns:ahyp="http://schemas.microsoft.com/office/drawing/2018/hyperlinkcolor" val="tx"/>
                    </a:ext>
                  </a:extLst>
                </a:hlinkClick>
              </a:rPr>
              <a:t>‹</a:t>
            </a:r>
            <a:endParaRPr lang="en-US" sz="1700" dirty="0"/>
          </a:p>
        </p:txBody>
      </p:sp>
      <p:sp>
        <p:nvSpPr>
          <p:cNvPr id="13" name="Shape 9">
            <a:hlinkClick r:id="rId6" action="ppaction://hlinksldjump"/>
          </p:cNvPr>
          <p:cNvSpPr/>
          <p:nvPr/>
        </p:nvSpPr>
        <p:spPr>
          <a:xfrm>
            <a:off x="10917936" y="6099048"/>
            <a:ext cx="347472" cy="347472"/>
          </a:xfrm>
          <a:prstGeom prst="ellipse">
            <a:avLst/>
          </a:prstGeom>
          <a:solidFill>
            <a:srgbClr val="0B2940"/>
          </a:solidFill>
          <a:ln w="10160">
            <a:solidFill>
              <a:srgbClr val="16718B"/>
            </a:solidFill>
            <a:prstDash val="solid"/>
          </a:ln>
        </p:spPr>
      </p:sp>
      <p:sp>
        <p:nvSpPr>
          <p:cNvPr id="14" name="Shape 10">
            <a:hlinkClick r:id="rId6" action="ppaction://hlinksldjump"/>
          </p:cNvPr>
          <p:cNvSpPr/>
          <p:nvPr/>
        </p:nvSpPr>
        <p:spPr>
          <a:xfrm rot="16200000">
            <a:off x="11018520" y="6181344"/>
            <a:ext cx="146304" cy="146304"/>
          </a:xfrm>
          <a:prstGeom prst="chevron">
            <a:avLst/>
          </a:prstGeom>
          <a:solidFill>
            <a:srgbClr val="16DFF7"/>
          </a:solidFill>
          <a:ln w="12700">
            <a:solidFill>
              <a:srgbClr val="16DFF7"/>
            </a:solidFill>
            <a:prstDash val="solid"/>
          </a:ln>
        </p:spPr>
      </p:sp>
      <p:sp>
        <p:nvSpPr>
          <p:cNvPr id="25" name="Slide Number Placeholder 0"/>
          <p:cNvSpPr>
            <a:spLocks noGrp="1"/>
          </p:cNvSpPr>
          <p:nvPr>
            <p:ph type="sldNum" sz="quarter" idx="4294967295"/>
          </p:nvPr>
        </p:nvSpPr>
        <p:spPr>
          <a:xfrm>
            <a:off x="11457432" y="6537960"/>
            <a:ext cx="274320" cy="146304"/>
          </a:xfrm>
          <a:prstGeom prst="rect">
            <a:avLst/>
          </a:prstGeom>
          <a:extLst>
            <a:ext uri="{C572A759-6A51-4108-AA02-DFA0A04FC94B}">
              <ma14:wrappingTextBoxFlag xmlns:ma14="http://schemas.microsoft.com/office/mac/drawingml/2011/main" xmlns="" val="0"/>
            </a:ext>
          </a:extLst>
        </p:spPr>
        <p:txBody>
          <a:bodyPr lIns="0" tIns="0" rIns="0" bIns="0"/>
          <a:lstStyle>
            <a:lvl1pPr>
              <a:defRPr sz="600">
                <a:solidFill>
                  <a:srgbClr val="557589"/>
                </a:solidFill>
                <a:latin typeface="Aptos"/>
                <a:ea typeface="Aptos"/>
                <a:cs typeface="Aptos"/>
              </a:defRPr>
            </a:lvl1pPr>
          </a:lstStyle>
          <a:p>
            <a:pPr algn="r"/>
            <a:fld id="{F7021451-1387-4CA6-816F-3879F97B5CBC}" type="slidenum">
              <a:rPr lang="en-US" b="0"/>
              <a:t>22</a:t>
            </a:fld>
            <a:endParaRPr lang="en-US"/>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2027</Words>
  <Application>Microsoft Office PowerPoint</Application>
  <PresentationFormat>Widescreen</PresentationFormat>
  <Paragraphs>337</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Aviation Accidents &amp; incidents — NTSB, FAA</dc:title>
  <dc:subject>Aviation Accidents &amp; incidents — NTSB, FAA</dc:subject>
  <dc:creator>OpenAI</dc:creator>
  <cp:lastModifiedBy>M</cp:lastModifiedBy>
  <cp:revision>2</cp:revision>
  <dcterms:created xsi:type="dcterms:W3CDTF">2026-09-19T02:12:46Z</dcterms:created>
  <dcterms:modified xsi:type="dcterms:W3CDTF">2026-09-19T03:03:01Z</dcterms:modified>
</cp:coreProperties>
</file>